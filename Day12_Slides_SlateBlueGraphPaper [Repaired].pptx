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32" y="-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56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D5F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&amp; PCA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743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5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 this course: no labels, no answer key. The algorithm finds structure on its own.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8229600" cy="1051560"/>
          </a:xfrm>
          <a:prstGeom prst="rect">
            <a:avLst/>
          </a:prstGeom>
          <a:solidFill>
            <a:srgbClr val="24406B"/>
          </a:solidFill>
          <a:ln w="12700">
            <a:solidFill>
              <a:srgbClr val="0E7C9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356616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real mall customers, four clustering algorithms, and PCA to compress it all down to something you can see.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theory, 75 minutes hands-on, plus optional stretch and a daily challenge.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325880"/>
            <a:ext cx="54864" cy="78638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1709928"/>
            <a:ext cx="59436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17053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651760" y="14356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vs supervised · K-Means · elbow + silhouette · limitations · hierarchical · DBSCAN · PCA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2221992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2221992"/>
            <a:ext cx="54864" cy="786384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2606040"/>
            <a:ext cx="59436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6014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651760" y="2331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Customers: elbow/silhouette · K-Means + business naming · dendrogram · DBSCAN outliers · PCA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" y="3118104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3118104"/>
            <a:ext cx="54864" cy="78638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2095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(optional)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48640" y="3502152"/>
            <a:ext cx="80010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3497580"/>
            <a:ext cx="800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651760" y="322783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NABIL's trading days into market regimes — calm, up-day, down-day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4014216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65760" y="4014216"/>
            <a:ext cx="54864" cy="786384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105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48640" y="4398264"/>
            <a:ext cx="80010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4393692"/>
            <a:ext cx="800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651760" y="412394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on Breast Cancer — do malignant/benign separate with zero label knowledge?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"Unsupervised" Actually Means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shift in mental model since Day 8.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118872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898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before today had a y column: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48640" y="166420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Next_Close, Direction, Survived, malignant/benign — always something to check the answer against. Today there is NO y. You give the algorithm only features and ask it to find structure on its own.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65760" y="2697480"/>
            <a:ext cx="2651760" cy="365760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2734056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017520" y="2697480"/>
            <a:ext cx="2926080" cy="365760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0672" y="273405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(Days 8-11)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943600" y="2697480"/>
            <a:ext cx="2834640" cy="365760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16752" y="273405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(today)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3099816"/>
            <a:ext cx="2651760" cy="365760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313639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labels?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017520" y="3099816"/>
            <a:ext cx="2926080" cy="365760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90672" y="313639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43600" y="3099816"/>
            <a:ext cx="2834640" cy="365760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16752" y="313639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3502152"/>
            <a:ext cx="2651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" y="353872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against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017520" y="350215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90672" y="353872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correct answer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43600" y="3502152"/>
            <a:ext cx="2834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16752" y="353872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metrics + human judgement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5760" y="3904488"/>
            <a:ext cx="2651760" cy="365760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" y="394106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cousin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017520" y="3904488"/>
            <a:ext cx="2926080" cy="365760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90672" y="394106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Direction (Logistic Reg.)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43600" y="3904488"/>
            <a:ext cx="2834640" cy="365760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16752" y="3941064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trading-day regimes (stretch)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65760" y="4343400"/>
            <a:ext cx="54864" cy="59436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there's no correct answer, how do you know if clustering worked? Today you use internal metrics PLUS human business judgement. Both matter; neither is enough alone."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The Algorithm, Step by Step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this live with 8-10 points — students should see centroids 'walk' toward real centers.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1298448"/>
            <a:ext cx="274320" cy="274320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1289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1248" y="12801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(number of clusters) upfront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1755648"/>
            <a:ext cx="274320" cy="274320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1746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41248" y="17373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place K centroids among the data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11480" y="2212848"/>
            <a:ext cx="274320" cy="274320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2203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41248" y="21945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ASSIGN: each point joins its nearest centroid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11480" y="2670048"/>
            <a:ext cx="274320" cy="274320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2660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41248" y="26517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move each centroid to the average of its assigned points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11480" y="3127248"/>
            <a:ext cx="274320" cy="274320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41248" y="31089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3-4 until centroids stop moving (convergence)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65760" y="36576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65760" y="3657600"/>
            <a:ext cx="54864" cy="59436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373075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K-Means optimises: INERTIA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48640" y="39684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squared distance from every point to its assigned centroid. Lower = tighter clusters.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65760" y="4343400"/>
            <a:ext cx="54864" cy="59436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i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"Inertia ALWAYS decreases as K increases — at K=200 it's literally zero. Minimising inertia alone can't tell you the best K."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K: Elbow + Silhouette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— both signals agree, and that agreement is what gives real confidence.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1161288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135331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554480" y="1325880"/>
            <a:ext cx="100584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54480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87752" y="1325880"/>
            <a:ext cx="100584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87752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21024" y="1325880"/>
            <a:ext cx="100584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21024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54296" y="1325880"/>
            <a:ext cx="100584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54296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87568" y="1325880"/>
            <a:ext cx="100584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87568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720840" y="1325880"/>
            <a:ext cx="100584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0840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4112" y="1325880"/>
            <a:ext cx="100584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4112" y="1353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1691640"/>
            <a:ext cx="1161288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171907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Inertia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554480" y="169164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54480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400.0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587752" y="169164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87752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269.7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21024" y="169164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21024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157.7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54296" y="169164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54296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108.9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687568" y="169164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87568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65.6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720840" y="169164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20840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55.1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754112" y="169164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54112" y="1719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44.9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65760" y="2057400"/>
            <a:ext cx="1161288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2084832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Silhouette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554480" y="20574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5448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87752" y="20574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87752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0.321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621024" y="20574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21024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0.467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654296" y="20574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54296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0.494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687568" y="2057400"/>
            <a:ext cx="1005840" cy="329184"/>
          </a:xfrm>
          <a:prstGeom prst="rect">
            <a:avLst/>
          </a:prstGeom>
          <a:solidFill>
            <a:srgbClr val="E9F8F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687568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8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0.555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720840" y="20574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20840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0.540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7754112" y="20574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754112" y="2084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0.528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65760" y="260604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365760" y="2606040"/>
            <a:ext cx="54864" cy="7772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48640" y="269748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— look at the SIZE of the drops: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130, 112, 49, 43, then it flattens: 10, 10. The elbow is around K=4-5, where big improvements stop.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365760" y="352044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365760" y="3520440"/>
            <a:ext cx="54864" cy="77724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8640" y="361188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— the sharper signal: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cleanly at K=5 (0.555), then declines. When elbow and silhouette roughly agree, that's real confidence.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365760" y="4434840"/>
            <a:ext cx="54864" cy="50292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4864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elbow plots are rarely as clean as a textbook picture — that's exactly why silhouette exists as a second check.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K-Means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limits — each one motivates DBSCAN, coming up in the practical.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82296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716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spherical clusters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16459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draw straight-line boundaries. Elongated, crescent, or ring-shaped groups get cut incorrectly.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224028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2240280"/>
            <a:ext cx="54864" cy="82296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23317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260604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extreme point can drag a centroid noticeably, distorting the whole cluster.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20040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3200400"/>
            <a:ext cx="54864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2918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choose K upfront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8640" y="356616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DBSCAN, K-Means can't discover the number of groups on its own.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4206240"/>
            <a:ext cx="54864" cy="73152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4206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i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one of these three limitations is exactly what motivates DBSCAN. Density-based clustering doesn't assume round clusters, handles outliers by design, and doesn't require pre-choosing K."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&amp; Dendrograms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merging — build the tree once, choose where to cut afterward.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(bottom-up): start with every point as its own cluster. Repeatedly merge the two closest clusters. Keep going until everything is one cluster.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1828800"/>
            <a:ext cx="5486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0" y="320040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45920" y="320040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0" y="320040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0" y="320040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0" y="320040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577840" y="320040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200" y="320040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0" y="320040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80160" y="283464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80560" y="283464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46520" y="283464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80360" y="2560320"/>
            <a:ext cx="0" cy="0"/>
          </a:xfrm>
          <a:prstGeom prst="line">
            <a:avLst/>
          </a:prstGeom>
          <a:noFill/>
          <a:ln w="19050">
            <a:solidFill>
              <a:srgbClr val="2C487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65760" y="356616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65760" y="3566160"/>
            <a:ext cx="54864" cy="13716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36576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reassuring cross-check — real result: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48640" y="3913632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(cut at 5) vs K-Means (K=5) — two completely different algorithms — agree on the same groups 94.2% of the time (Adjusted Rand Index). When two very different methods land on almost the same answer, that's strong evidence of real structure, not an artifact of one algorithm's assumptions.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850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8C3BD2E4-088C-B0B7-D36B-C905B266F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079" y="1666131"/>
            <a:ext cx="3213522" cy="1717149"/>
          </a:xfrm>
          <a:prstGeom prst="rect">
            <a:avLst/>
          </a:prstGeom>
        </p:spPr>
      </p:pic>
      <p:sp>
        <p:nvSpPr>
          <p:cNvPr id="74" name="Shape 31">
            <a:extLst>
              <a:ext uri="{FF2B5EF4-FFF2-40B4-BE49-F238E27FC236}">
                <a16:creationId xmlns:a16="http://schemas.microsoft.com/office/drawing/2014/main" id="{C7D3605F-7790-FFAD-4711-DE2F836C0F15}"/>
              </a:ext>
            </a:extLst>
          </p:cNvPr>
          <p:cNvSpPr/>
          <p:nvPr/>
        </p:nvSpPr>
        <p:spPr>
          <a:xfrm>
            <a:off x="152400" y="30784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E22AEF9E-47AE-3CC5-57A3-6F7E3A594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23" y="1680981"/>
            <a:ext cx="2108307" cy="17022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Density-Based Clustering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by density, and honestly flags what doesn't fit as noise.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16002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48640" y="16276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distance for two points to be neighbours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" y="2148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2404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neighbours needed to be a "core point"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1280160"/>
            <a:ext cx="54864" cy="1600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result: eps=0.4, min_samples=5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46320" y="1691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clusters found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4846320" y="2103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customers (7.5%) flagged as noise — don't densely belong to any group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3063240"/>
            <a:ext cx="2926080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309067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91840" y="3063240"/>
            <a:ext cx="2926080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64992" y="309067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17920" y="3063240"/>
            <a:ext cx="2194560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91072" y="309067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" y="3429000"/>
            <a:ext cx="292608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" y="345643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upfront?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91840" y="3429000"/>
            <a:ext cx="292608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64992" y="345643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217920" y="3429000"/>
            <a:ext cx="219456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91072" y="345643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" y="3794760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38912" y="382219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shape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91840" y="3794760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64992" y="382219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217920" y="3794760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91072" y="382219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shape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65760" y="4160520"/>
            <a:ext cx="292608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" y="418795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outliers?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291840" y="4160520"/>
            <a:ext cx="292608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64992" y="418795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217920" y="4160520"/>
            <a:ext cx="219456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91072" y="4187952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labels noise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365760" y="4526280"/>
            <a:ext cx="54864" cy="41148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fraud/anomaly detection, DBSCAN's noise label is often the ENTIRE point of running the algorithm."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1.7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Dimensionality Reduction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compression — like a JPEG, for numeric data.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1234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finds new axes — principal components — combinations of original features, ordered by how much variance they capture. First component: most variance. Second: most REMAINING variance, at right angles to the first.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201168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2011680"/>
            <a:ext cx="54864" cy="123444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212140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 — PCA on Age, Income, Spending Score (3 → 2 dimensions):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2423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Explained variance ratio: [0.443, 0.333]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27249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variance kept: 77.6%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365760" y="34290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3429000"/>
            <a:ext cx="54864" cy="9144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520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went from 3 dimensions to 2 and kept 77.6% of the original information. That trade-off is always EXPLICIT with PCA — you can SEE exactly how much you gave up, unlike most compression."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5760" y="4480560"/>
            <a:ext cx="54864" cy="45720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plot: same visual 'elbow' pattern as the K-Means elbow — keep components while returns are big, stop once it flattens.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Mall Customer Segmentation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REAL CUSTOMERS — NO TARGET COLUMN, THAT'S THE POINT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24406B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38988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 we don't have a target to predict — we have 200 real mall customers and a question: are there natural groups here, and what would you call them if you were running the marketing team?"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441448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4231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+ silhouette score to choose 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898648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0120" y="28803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K-Means clustering + business naming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355848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" y="33375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+ dendrogram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813048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0120" y="37947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— find the outliers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270248"/>
            <a:ext cx="310896" cy="310896"/>
          </a:xfrm>
          <a:prstGeom prst="ellipse">
            <a:avLst/>
          </a:prstGeom>
          <a:solidFill>
            <a:srgbClr val="2440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0120" y="425196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compress to 2D and visualise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 &amp; Import sklearn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real (anonymised) customers: age, income, and a spending score.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KMeans, DBSCAN, AgglomerativeClustering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sklearn.decomposition import PCA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silhouette_score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scipy.cluster.hierarchy import dendrogram, linkage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"https://raw.githubusercontent.com/erkansirin78/datasets/master/Mall_Customers.csv"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pd.read_csv(url)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df['AnnualIncome_k'] = df['AnnualIncome'] / 1000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(200, 5) — CustomerID, Gender, Age, AnnualIncome, SpendingScore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480560"/>
            <a:ext cx="54864" cy="5029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 column — that's the whole point of today.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&amp; Silhouette Score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scale before distance-based clustering — same reasoning as KNN/SVM.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59" y="1248157"/>
            <a:ext cx="8412480" cy="187452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4444" y="1097280"/>
            <a:ext cx="81198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X = df[['AnnualIncome_k', 'SpendingScore']].values</a:t>
            </a:r>
            <a:endParaRPr lang="en-US" sz="800" dirty="0">
              <a:latin typeface="Calibri 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800" dirty="0">
              <a:latin typeface="Calibri 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X_scaled = scaler.fit_transform(X)</a:t>
            </a:r>
            <a:endParaRPr lang="en-US" sz="800" dirty="0">
              <a:latin typeface="Calibri "/>
            </a:endParaRPr>
          </a:p>
          <a:p>
            <a:pPr marL="0" indent="0">
              <a:buNone/>
            </a:pPr>
            <a:endParaRPr lang="en-US" sz="800" dirty="0">
              <a:latin typeface="Calibri 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inertias, silhouettes = [], []</a:t>
            </a:r>
            <a:endParaRPr lang="en-US" sz="800" dirty="0">
              <a:latin typeface="Calibri 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for k in range(1, 11):</a:t>
            </a:r>
            <a:endParaRPr lang="en-US" sz="800" dirty="0">
              <a:latin typeface="Calibri 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    km = KMeans(n_clusters=k, random_state=42, n_init=10)</a:t>
            </a:r>
            <a:endParaRPr lang="en-US" sz="800" dirty="0">
              <a:latin typeface="Calibri 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    labels = km.fit_predict(X_scaled)</a:t>
            </a:r>
            <a:endParaRPr lang="en-US" sz="800" dirty="0">
              <a:latin typeface="Calibri 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    inertias.append(km.inertia_)</a:t>
            </a:r>
            <a:endParaRPr lang="en-US" sz="800" dirty="0">
              <a:latin typeface="Calibri 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    if k &gt; 1:</a:t>
            </a:r>
            <a:endParaRPr lang="en-US" sz="800" dirty="0">
              <a:latin typeface="Calibri 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        silhouettes.append(</a:t>
            </a:r>
            <a:r>
              <a:rPr lang="en-US" sz="800" dirty="0" err="1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silhouette_score</a:t>
            </a: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(X_scaled, labels))</a:t>
            </a:r>
          </a:p>
          <a:p>
            <a:pPr marL="0" indent="0">
              <a:buNone/>
            </a:pPr>
            <a:r>
              <a:rPr lang="en-US" sz="800" dirty="0">
                <a:latin typeface="Calibri "/>
              </a:rPr>
              <a:t>fig, axes = </a:t>
            </a:r>
            <a:r>
              <a:rPr lang="en-US" sz="800" dirty="0" err="1">
                <a:latin typeface="Calibri "/>
              </a:rPr>
              <a:t>plt.subplots</a:t>
            </a:r>
            <a:r>
              <a:rPr lang="en-US" sz="800" dirty="0">
                <a:latin typeface="Calibri "/>
              </a:rPr>
              <a:t>(1, 2, </a:t>
            </a:r>
            <a:r>
              <a:rPr lang="en-US" sz="800" dirty="0" err="1">
                <a:latin typeface="Calibri "/>
              </a:rPr>
              <a:t>figsize</a:t>
            </a:r>
            <a:r>
              <a:rPr lang="en-US" sz="800" dirty="0">
                <a:latin typeface="Calibri "/>
              </a:rPr>
              <a:t>=(14, 5))</a:t>
            </a:r>
          </a:p>
          <a:p>
            <a:pPr marL="0" indent="0">
              <a:buNone/>
            </a:pPr>
            <a:r>
              <a:rPr lang="en-US" sz="800" dirty="0">
                <a:latin typeface="Calibri "/>
              </a:rPr>
              <a:t>axes[0].plot(</a:t>
            </a:r>
            <a:r>
              <a:rPr lang="en-US" sz="800" dirty="0" err="1">
                <a:latin typeface="Calibri "/>
              </a:rPr>
              <a:t>K_range</a:t>
            </a:r>
            <a:r>
              <a:rPr lang="en-US" sz="800" dirty="0">
                <a:latin typeface="Calibri "/>
              </a:rPr>
              <a:t>, inertias, marker='o')</a:t>
            </a:r>
          </a:p>
          <a:p>
            <a:pPr marL="0" indent="0">
              <a:buNone/>
            </a:pPr>
            <a:r>
              <a:rPr lang="en-US" sz="800" dirty="0">
                <a:latin typeface="Calibri "/>
              </a:rPr>
              <a:t>axes[0].</a:t>
            </a:r>
            <a:r>
              <a:rPr lang="en-US" sz="800" dirty="0" err="1">
                <a:latin typeface="Calibri "/>
              </a:rPr>
              <a:t>set_xlabel</a:t>
            </a:r>
            <a:r>
              <a:rPr lang="en-US" sz="800" dirty="0">
                <a:latin typeface="Calibri "/>
              </a:rPr>
              <a:t>("K"); axes[0].</a:t>
            </a:r>
            <a:r>
              <a:rPr lang="en-US" sz="800" dirty="0" err="1">
                <a:latin typeface="Calibri "/>
              </a:rPr>
              <a:t>set_ylabel</a:t>
            </a:r>
            <a:r>
              <a:rPr lang="en-US" sz="800" dirty="0">
                <a:latin typeface="Calibri "/>
              </a:rPr>
              <a:t>("Inertia"); axes[0].</a:t>
            </a:r>
            <a:r>
              <a:rPr lang="en-US" sz="800" dirty="0" err="1">
                <a:latin typeface="Calibri "/>
              </a:rPr>
              <a:t>set_title</a:t>
            </a:r>
            <a:r>
              <a:rPr lang="en-US" sz="800" dirty="0">
                <a:latin typeface="Calibri "/>
              </a:rPr>
              <a:t>("Elbow Method")</a:t>
            </a:r>
          </a:p>
          <a:p>
            <a:pPr marL="0" indent="0">
              <a:buNone/>
            </a:pPr>
            <a:r>
              <a:rPr lang="en-US" sz="800" dirty="0">
                <a:latin typeface="Calibri "/>
              </a:rPr>
              <a:t>axes[1].plot(range(2, 11), silhouettes, marker='o', color='#1A8A5F')</a:t>
            </a:r>
          </a:p>
          <a:p>
            <a:pPr marL="0" indent="0">
              <a:buNone/>
            </a:pPr>
            <a:r>
              <a:rPr lang="en-US" sz="800" dirty="0">
                <a:latin typeface="Calibri "/>
              </a:rPr>
              <a:t>axes[1].</a:t>
            </a:r>
            <a:r>
              <a:rPr lang="en-US" sz="800" dirty="0" err="1">
                <a:latin typeface="Calibri "/>
              </a:rPr>
              <a:t>set_xlabel</a:t>
            </a:r>
            <a:r>
              <a:rPr lang="en-US" sz="800" dirty="0">
                <a:latin typeface="Calibri "/>
              </a:rPr>
              <a:t>("K"); axes[1].</a:t>
            </a:r>
            <a:r>
              <a:rPr lang="en-US" sz="800" dirty="0" err="1">
                <a:latin typeface="Calibri "/>
              </a:rPr>
              <a:t>set_ylabel</a:t>
            </a:r>
            <a:r>
              <a:rPr lang="en-US" sz="800" dirty="0">
                <a:latin typeface="Calibri "/>
              </a:rPr>
              <a:t>("Silhouette Score"); axes[1].</a:t>
            </a:r>
            <a:r>
              <a:rPr lang="en-US" sz="800" dirty="0" err="1">
                <a:latin typeface="Calibri "/>
              </a:rPr>
              <a:t>set_title</a:t>
            </a:r>
            <a:r>
              <a:rPr lang="en-US" sz="800" dirty="0">
                <a:latin typeface="Calibri "/>
              </a:rPr>
              <a:t>("Silhouette Score by K")</a:t>
            </a:r>
          </a:p>
          <a:p>
            <a:pPr marL="0" indent="0">
              <a:buNone/>
            </a:pPr>
            <a:r>
              <a:rPr lang="en-US" sz="800" dirty="0" err="1">
                <a:latin typeface="Calibri "/>
              </a:rPr>
              <a:t>plt.show</a:t>
            </a:r>
            <a:r>
              <a:rPr lang="en-US" sz="800" dirty="0">
                <a:latin typeface="Calibri "/>
              </a:rPr>
              <a:t>()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 "/>
                <a:ea typeface="Consolas" pitchFamily="34" charset="-122"/>
                <a:cs typeface="Consolas" pitchFamily="34" charset="-120"/>
              </a:rPr>
              <a:t># Both signals agree: K=5</a:t>
            </a:r>
            <a:endParaRPr lang="en-US" sz="800" dirty="0">
              <a:latin typeface="Calibri 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65760" y="32918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291840"/>
            <a:ext cx="54864" cy="91440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38328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scale?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36393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is in tens of thousands, Spending Score is 1-100. Without scaling, K-Means treats a $1,000 income gap as 'closer' than a 10-point spending gap, purely from units — not real similarity.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4343400"/>
            <a:ext cx="54864" cy="59436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silhouette peaks sharply at K=5 (0.555). Elbow shows biggest drops through K=4-5. Both agree.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Clustering &amp; Business Interpretation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moment of the day — name the clusters before the reveal.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6984" y="1078992"/>
            <a:ext cx="8119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 = KMeans(n_clusters=5, random_state=42, n_init=10)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df['Cluster'] = kmeans.fit_predict(X_scaled)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df.groupby('Cluster')[['AnnualIncome_k','SpendingScore']].agg(['</a:t>
            </a:r>
            <a:r>
              <a:rPr lang="en-US" sz="80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mean','count</a:t>
            </a: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’])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</a:rPr>
              <a:t>Print(summary)</a:t>
            </a:r>
          </a:p>
          <a:p>
            <a:pPr marL="0" indent="0">
              <a:buNone/>
            </a:pPr>
            <a:endParaRPr lang="en-US" sz="800" dirty="0">
              <a:solidFill>
                <a:srgbClr val="1A2233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800" dirty="0" err="1"/>
              <a:t>plt.figure</a:t>
            </a:r>
            <a:r>
              <a:rPr lang="en-US" sz="800" dirty="0"/>
              <a:t>(</a:t>
            </a:r>
            <a:r>
              <a:rPr lang="en-US" sz="800" dirty="0" err="1"/>
              <a:t>figsize</a:t>
            </a:r>
            <a:r>
              <a:rPr lang="en-US" sz="800" dirty="0"/>
              <a:t>=(10, 7))</a:t>
            </a:r>
          </a:p>
          <a:p>
            <a:pPr marL="0" indent="0">
              <a:buNone/>
            </a:pPr>
            <a:r>
              <a:rPr lang="en-US" sz="800" dirty="0" err="1"/>
              <a:t>sns.scatterplot</a:t>
            </a:r>
            <a:r>
              <a:rPr lang="en-US" sz="800" dirty="0"/>
              <a:t>(data=</a:t>
            </a:r>
            <a:r>
              <a:rPr lang="en-US" sz="800" dirty="0" err="1"/>
              <a:t>df</a:t>
            </a:r>
            <a:r>
              <a:rPr lang="en-US" sz="800" dirty="0"/>
              <a:t>, x='</a:t>
            </a:r>
            <a:r>
              <a:rPr lang="en-US" sz="800" dirty="0" err="1"/>
              <a:t>AnnualIncome_k</a:t>
            </a:r>
            <a:r>
              <a:rPr lang="en-US" sz="800" dirty="0"/>
              <a:t>', y='</a:t>
            </a:r>
            <a:r>
              <a:rPr lang="en-US" sz="800" dirty="0" err="1"/>
              <a:t>SpendingScore</a:t>
            </a:r>
            <a:r>
              <a:rPr lang="en-US" sz="800" dirty="0"/>
              <a:t>', hue='Cluster', palette='deep', s=80)</a:t>
            </a:r>
          </a:p>
          <a:p>
            <a:pPr marL="0" indent="0">
              <a:buNone/>
            </a:pPr>
            <a:r>
              <a:rPr lang="en-US" sz="800" dirty="0" err="1"/>
              <a:t>plt.xlabel</a:t>
            </a:r>
            <a:r>
              <a:rPr lang="en-US" sz="800" dirty="0"/>
              <a:t>("Annual Income (k$)"); </a:t>
            </a:r>
            <a:r>
              <a:rPr lang="en-US" sz="800" dirty="0" err="1"/>
              <a:t>plt.ylabel</a:t>
            </a:r>
            <a:r>
              <a:rPr lang="en-US" sz="800" dirty="0"/>
              <a:t>("Spending Score (1-100)")</a:t>
            </a:r>
          </a:p>
          <a:p>
            <a:pPr marL="0" indent="0">
              <a:buNone/>
            </a:pPr>
            <a:r>
              <a:rPr lang="en-US" sz="800" dirty="0" err="1"/>
              <a:t>plt.title</a:t>
            </a:r>
            <a:r>
              <a:rPr lang="en-US" sz="800" dirty="0"/>
              <a:t>("Mall Customer Segments")</a:t>
            </a:r>
          </a:p>
          <a:p>
            <a:pPr marL="0" indent="0">
              <a:buNone/>
            </a:pPr>
            <a:r>
              <a:rPr lang="en-US" sz="800" dirty="0" err="1"/>
              <a:t>plt.show</a:t>
            </a:r>
            <a:r>
              <a:rPr lang="en-US" sz="800" dirty="0"/>
              <a:t>()</a:t>
            </a:r>
          </a:p>
        </p:txBody>
      </p:sp>
      <p:sp>
        <p:nvSpPr>
          <p:cNvPr id="46" name="Shape 44"/>
          <p:cNvSpPr/>
          <p:nvPr/>
        </p:nvSpPr>
        <p:spPr>
          <a:xfrm>
            <a:off x="365760" y="2331720"/>
            <a:ext cx="1188720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23591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554480" y="2331720"/>
            <a:ext cx="1188720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27632" y="23591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0" y="2331720"/>
            <a:ext cx="1188720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16352" y="23591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931920" y="2331720"/>
            <a:ext cx="1188720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05072" y="23591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120640" y="2331720"/>
            <a:ext cx="3291840" cy="32918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93792" y="235915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269748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554480" y="269748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627632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$55k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743200" y="269748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16352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931920" y="269748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05072" y="272491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120640" y="2697480"/>
            <a:ext cx="329184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93792" y="272491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65760" y="306324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" y="309067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554480" y="306324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627632" y="309067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$87k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743200" y="306324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816352" y="309067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931920" y="306324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05072" y="309067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120640" y="3063240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93792" y="309067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65760" y="342900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" y="345643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554480" y="342900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627632" y="345643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$26k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743200" y="342900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816352" y="345643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931920" y="342900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05072" y="345643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120640" y="3429000"/>
            <a:ext cx="329184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93792" y="345643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Careless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365760" y="379476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8912" y="382219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554480" y="379476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27632" y="382219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$88k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743200" y="379476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816352" y="382219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931920" y="379476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005072" y="382219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5120640" y="3794760"/>
            <a:ext cx="3291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193792" y="382219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65760" y="416052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38912" y="41879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554480" y="416052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627632" y="41879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$26k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743200" y="416052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816352" y="41879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931920" y="4160520"/>
            <a:ext cx="118872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005072" y="41879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120640" y="4160520"/>
            <a:ext cx="329184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193792" y="418795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365760" y="4526280"/>
            <a:ext cx="54864" cy="45720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4864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"Cluster 3 — high income, low spending — is arguably the most commercially interesting group. Nobody told the algorithm to find that."</a:t>
            </a:r>
            <a:endParaRPr lang="en-US" sz="950" dirty="0"/>
          </a:p>
        </p:txBody>
      </p:sp>
      <p:sp>
        <p:nvSpPr>
          <p:cNvPr id="109" name="Text 10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&amp; Dendrogram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K-Means against a completely different algorithm.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20116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linkage(X_scaled, method='ward')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plt.figure(figsize=(14, 6))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dendrogram(Z, truncate_mode='lastp', p=30)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plt.axhline(y=7, color='r', linestyle='--', label='Cut at 5 clusters')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plt.title("Dendrogram — Mall Customers (Ward linkage)")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scipy.cluster.hierarchy import fcluster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hier_labels = fcluster(Z, t=5, criterion='maxclust')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42900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429000"/>
            <a:ext cx="54864" cy="5486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linkage: merges the pair resulting in smallest increase in within-cluster variance — closest in spirit to K-Means.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65760" y="40690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4069080"/>
            <a:ext cx="54864" cy="9144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87952"/>
            <a:ext cx="256032" cy="256032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914400" y="4187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 agreement with K-Means (Adjusted Rand Index)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548640" y="44622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structurally different algorithms, run independently, land on almost the same answer — real evidence of genuine structure.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Finding Outliers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forces everyone in. DBSCAN says some people don't fit anywhere.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6002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1134365"/>
            <a:ext cx="81198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dbscan = DBSCAN(eps=0.4, min_samples=5)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df['DBSCAN_Cluster'] = dbscan.fit_predict(X_scaled)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n_clusters = len(set(df['DBSCAN_Cluster'])) - (1 if -1 in df['DBSCAN_Cluster'].values else 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n_noise = (df['DBSCAN_Cluster'] == -1).sum()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print(f"Clusters: {n_clusters}   Noise: {n_noise} ({n_noise/len(df)*100:.1f}%)")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Clusters: 4   Noise: 15 (7.5%)</a:t>
            </a:r>
          </a:p>
          <a:p>
            <a:pPr marL="0" indent="0">
              <a:buNone/>
            </a:pPr>
            <a:endParaRPr lang="en-US" sz="950" dirty="0">
              <a:solidFill>
                <a:srgbClr val="1A2233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50" dirty="0" err="1"/>
              <a:t>plt.figure</a:t>
            </a:r>
            <a:r>
              <a:rPr lang="en-US" sz="950" dirty="0"/>
              <a:t>(</a:t>
            </a:r>
            <a:r>
              <a:rPr lang="en-US" sz="950" dirty="0" err="1"/>
              <a:t>figsize</a:t>
            </a:r>
            <a:r>
              <a:rPr lang="en-US" sz="950" dirty="0"/>
              <a:t>=(10, 7))</a:t>
            </a:r>
          </a:p>
          <a:p>
            <a:pPr marL="0" indent="0">
              <a:buNone/>
            </a:pPr>
            <a:r>
              <a:rPr lang="en-US" sz="950" dirty="0" err="1"/>
              <a:t>sns.scatterplot</a:t>
            </a:r>
            <a:r>
              <a:rPr lang="en-US" sz="950" dirty="0"/>
              <a:t>(data=</a:t>
            </a:r>
            <a:r>
              <a:rPr lang="en-US" sz="950" dirty="0" err="1"/>
              <a:t>df</a:t>
            </a:r>
            <a:r>
              <a:rPr lang="en-US" sz="950" dirty="0"/>
              <a:t>, x='</a:t>
            </a:r>
            <a:r>
              <a:rPr lang="en-US" sz="950" dirty="0" err="1"/>
              <a:t>AnnualIncome_k</a:t>
            </a:r>
            <a:r>
              <a:rPr lang="en-US" sz="950" dirty="0"/>
              <a:t>', y='</a:t>
            </a:r>
            <a:r>
              <a:rPr lang="en-US" sz="950" dirty="0" err="1"/>
              <a:t>SpendingScore</a:t>
            </a:r>
            <a:r>
              <a:rPr lang="en-US" sz="950" dirty="0"/>
              <a:t>', hue='</a:t>
            </a:r>
            <a:r>
              <a:rPr lang="en-US" sz="950" dirty="0" err="1"/>
              <a:t>DBSCAN_Cluster</a:t>
            </a:r>
            <a:r>
              <a:rPr lang="en-US" sz="950" dirty="0"/>
              <a:t>', palette='deep', s=80)</a:t>
            </a:r>
          </a:p>
          <a:p>
            <a:pPr marL="0" indent="0">
              <a:buNone/>
            </a:pPr>
            <a:r>
              <a:rPr lang="en-US" sz="950" dirty="0" err="1"/>
              <a:t>plt.title</a:t>
            </a:r>
            <a:r>
              <a:rPr lang="en-US" sz="950" dirty="0"/>
              <a:t>(</a:t>
            </a:r>
            <a:r>
              <a:rPr lang="en-US" sz="950" dirty="0" err="1"/>
              <a:t>f"DBSCAN</a:t>
            </a:r>
            <a:r>
              <a:rPr lang="en-US" sz="950" dirty="0"/>
              <a:t> — {</a:t>
            </a:r>
            <a:r>
              <a:rPr lang="en-US" sz="950" dirty="0" err="1"/>
              <a:t>n_clusters</a:t>
            </a:r>
            <a:r>
              <a:rPr lang="en-US" sz="950" dirty="0"/>
              <a:t>} clusters, {</a:t>
            </a:r>
            <a:r>
              <a:rPr lang="en-US" sz="950" dirty="0" err="1"/>
              <a:t>n_noise</a:t>
            </a:r>
            <a:r>
              <a:rPr lang="en-US" sz="950" dirty="0"/>
              <a:t>} noise points")</a:t>
            </a:r>
          </a:p>
          <a:p>
            <a:pPr marL="0" indent="0">
              <a:buNone/>
            </a:pPr>
            <a:r>
              <a:rPr lang="en-US" sz="950" dirty="0" err="1"/>
              <a:t>plt.show</a:t>
            </a:r>
            <a:r>
              <a:rPr lang="en-US" sz="950" dirty="0"/>
              <a:t>()</a:t>
            </a:r>
          </a:p>
        </p:txBody>
      </p:sp>
      <p:sp>
        <p:nvSpPr>
          <p:cNvPr id="46" name="Shape 44"/>
          <p:cNvSpPr/>
          <p:nvPr/>
        </p:nvSpPr>
        <p:spPr>
          <a:xfrm>
            <a:off x="365760" y="301752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017520"/>
            <a:ext cx="54864" cy="16916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1272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run it as a genuine question: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3401568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"K-Means forced every customer into one of 5 groups. DBSCAN looked at the same data and said 15 people don't cleanly belong anywhere. Which is more honest?" There's a real, defensible answer either way — depends whether you need EVERY customer assigned for a campaign (K-Means) or identifying atypical customers IS the goal (DBSCAN, closer to anomaly detection).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Compress &amp; Visualise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features down to 2 — colour by the K-Means clusters to cross-check.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7830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2064" y="1162050"/>
            <a:ext cx="81198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X3 = df[['Age', 'AnnualIncome_k', 'SpendingScore']].values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X3_scaled = StandardScaler().fit_transform(X3)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= PCA(n_components=2)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X_pca = pca.fit_transform(X3_scaled)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print(pca.explained_variance_ratio_)   # [0.443, 0.333]  Total: 77.6%</a:t>
            </a:r>
          </a:p>
          <a:p>
            <a:pPr marL="0" indent="0">
              <a:buNone/>
            </a:pPr>
            <a:r>
              <a:rPr lang="en-US" sz="950" dirty="0"/>
              <a:t>print(</a:t>
            </a:r>
            <a:r>
              <a:rPr lang="en-US" sz="950" dirty="0" err="1"/>
              <a:t>f"Total</a:t>
            </a:r>
            <a:r>
              <a:rPr lang="en-US" sz="950" dirty="0"/>
              <a:t>: {</a:t>
            </a:r>
            <a:r>
              <a:rPr lang="en-US" sz="950" dirty="0" err="1"/>
              <a:t>pca.explained_variance_ratio_.sum</a:t>
            </a:r>
            <a:r>
              <a:rPr lang="en-US" sz="950" dirty="0"/>
              <a:t>():.3f}")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 err="1"/>
              <a:t>plt.figure</a:t>
            </a:r>
            <a:r>
              <a:rPr lang="en-US" sz="950" dirty="0"/>
              <a:t>(</a:t>
            </a:r>
            <a:r>
              <a:rPr lang="en-US" sz="950" dirty="0" err="1"/>
              <a:t>figsize</a:t>
            </a:r>
            <a:r>
              <a:rPr lang="en-US" sz="950" dirty="0"/>
              <a:t>=(10, 7))</a:t>
            </a:r>
          </a:p>
          <a:p>
            <a:pPr marL="0" indent="0">
              <a:buNone/>
            </a:pPr>
            <a:r>
              <a:rPr lang="en-US" sz="950" dirty="0" err="1"/>
              <a:t>sns.scatterplot</a:t>
            </a:r>
            <a:r>
              <a:rPr lang="en-US" sz="950" dirty="0"/>
              <a:t>(x=</a:t>
            </a:r>
            <a:r>
              <a:rPr lang="en-US" sz="950" dirty="0" err="1"/>
              <a:t>X_pca</a:t>
            </a:r>
            <a:r>
              <a:rPr lang="en-US" sz="950" dirty="0"/>
              <a:t>[:,0], y=</a:t>
            </a:r>
            <a:r>
              <a:rPr lang="en-US" sz="950" dirty="0" err="1"/>
              <a:t>X_pca</a:t>
            </a:r>
            <a:r>
              <a:rPr lang="en-US" sz="950" dirty="0"/>
              <a:t>[:,1], hue=</a:t>
            </a:r>
            <a:r>
              <a:rPr lang="en-US" sz="950" dirty="0" err="1"/>
              <a:t>df</a:t>
            </a:r>
            <a:r>
              <a:rPr lang="en-US" sz="950" dirty="0"/>
              <a:t>['Cluster'], palette='deep', s=80)</a:t>
            </a:r>
          </a:p>
          <a:p>
            <a:pPr marL="0" indent="0">
              <a:buNone/>
            </a:pPr>
            <a:r>
              <a:rPr lang="en-US" sz="950" dirty="0" err="1"/>
              <a:t>plt.xlabel</a:t>
            </a:r>
            <a:r>
              <a:rPr lang="en-US" sz="950" dirty="0"/>
              <a:t>("Principal Component 1")</a:t>
            </a:r>
          </a:p>
          <a:p>
            <a:pPr marL="0" indent="0">
              <a:buNone/>
            </a:pPr>
            <a:r>
              <a:rPr lang="en-US" sz="950" dirty="0" err="1"/>
              <a:t>plt.ylabel</a:t>
            </a:r>
            <a:r>
              <a:rPr lang="en-US" sz="950" dirty="0"/>
              <a:t>("Principal Component 2")</a:t>
            </a:r>
          </a:p>
          <a:p>
            <a:pPr marL="0" indent="0">
              <a:buNone/>
            </a:pPr>
            <a:r>
              <a:rPr lang="en-US" sz="950" dirty="0" err="1"/>
              <a:t>plt.title</a:t>
            </a:r>
            <a:r>
              <a:rPr lang="en-US" sz="950" dirty="0"/>
              <a:t>("Customers in PCA Space, </a:t>
            </a:r>
            <a:r>
              <a:rPr lang="en-US" sz="950" dirty="0" err="1"/>
              <a:t>coloured</a:t>
            </a:r>
            <a:r>
              <a:rPr lang="en-US" sz="950" dirty="0"/>
              <a:t> by K-Means Cluster")</a:t>
            </a:r>
          </a:p>
          <a:p>
            <a:pPr marL="0" indent="0">
              <a:buNone/>
            </a:pPr>
            <a:r>
              <a:rPr lang="en-US" sz="950" dirty="0" err="1"/>
              <a:t>plt.show</a:t>
            </a:r>
            <a:r>
              <a:rPr lang="en-US" sz="950" dirty="0"/>
              <a:t>()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200400"/>
            <a:ext cx="8412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200400"/>
            <a:ext cx="54864" cy="141732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2918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356616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K-Means clusters still look visually separated in this compressed 2D space, that's more evidence the clusters reflect real structure — not just an artifact of the 2 features we happened to pick originally (Income, Spending). Now we've confirmed it a THIRD way, adding Age into the mix.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B4F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E3980"/>
          </a:solidFill>
          <a:ln w="12700">
            <a:solidFill>
              <a:srgbClr val="4E398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Stretch: NABIL Market Regimes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D9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NEW KIND OF QUESTION ABOUT FAMILIAR DATA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8412480" cy="1188720"/>
          </a:xfrm>
          <a:prstGeom prst="rect">
            <a:avLst/>
          </a:prstGeom>
          <a:solidFill>
            <a:srgbClr val="4E3980"/>
          </a:solidFill>
          <a:ln w="12700">
            <a:solidFill>
              <a:srgbClr val="D9C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"We've asked whether NABIL goes up or down. Today's different question: are there different KINDS of trading days? Calm days, volatile up-days, volatile down-days? Let's cluster the days themselves and find out."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65760" y="2651760"/>
            <a:ext cx="8412480" cy="1005840"/>
          </a:xfrm>
          <a:prstGeom prst="rect">
            <a:avLst/>
          </a:prstGeom>
          <a:solidFill>
            <a:srgbClr val="3A2A5C"/>
          </a:solidFill>
          <a:ln w="12700">
            <a:solidFill>
              <a:srgbClr val="D9C9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nabil['Return'] = nabil['Close'].pct_change() * 100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nabil['Range'] = (nabil['High'] - nabil['Low']) / nabil['Close'] * 100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 = nabil[['Return', 'Range', 'Volume']].dropna()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X_n = StandardScaler().fit_transform(feat)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km_n = KMeans(n_clusters=3, random_state=42, n_init=10)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5D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feat['Regime'] = km_n.fit_predict(X_n)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3840480"/>
            <a:ext cx="54864" cy="594360"/>
          </a:xfrm>
          <a:prstGeom prst="rect">
            <a:avLst/>
          </a:prstGeom>
          <a:solidFill>
            <a:srgbClr val="D9C9F5"/>
          </a:solidFill>
          <a:ln w="12700">
            <a:solidFill>
              <a:srgbClr val="D9C9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features chosen deliberately: Return (direction+magnitude), Range (volatility), Volume (activity level).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THE RESULT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Real, Interpretable Regimes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the actual NABIL trading year.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1554480" cy="347472"/>
          </a:xfrm>
          <a:prstGeom prst="rect">
            <a:avLst/>
          </a:prstGeom>
          <a:solidFill>
            <a:srgbClr val="6B4FA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131673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920240" y="1280160"/>
            <a:ext cx="1828800" cy="347472"/>
          </a:xfrm>
          <a:prstGeom prst="rect">
            <a:avLst/>
          </a:prstGeom>
          <a:solidFill>
            <a:srgbClr val="6B4FA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93392" y="131673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Return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49040" y="1280160"/>
            <a:ext cx="1737360" cy="347472"/>
          </a:xfrm>
          <a:prstGeom prst="rect">
            <a:avLst/>
          </a:prstGeom>
          <a:solidFill>
            <a:srgbClr val="6B4FA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22192" y="1316736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Range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0" y="1280160"/>
            <a:ext cx="2011680" cy="347472"/>
          </a:xfrm>
          <a:prstGeom prst="rect">
            <a:avLst/>
          </a:prstGeom>
          <a:solidFill>
            <a:srgbClr val="6B4FA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59552" y="131673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Volume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98080" y="1280160"/>
            <a:ext cx="914400" cy="347472"/>
          </a:xfrm>
          <a:prstGeom prst="rect">
            <a:avLst/>
          </a:prstGeom>
          <a:solidFill>
            <a:srgbClr val="6B4FA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1232" y="1316736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1664208"/>
            <a:ext cx="155448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170078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920240" y="1664208"/>
            <a:ext cx="182880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93392" y="17007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749040" y="1664208"/>
            <a:ext cx="173736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22192" y="170078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486400" y="1664208"/>
            <a:ext cx="201168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59552" y="170078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49,816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498080" y="1664208"/>
            <a:ext cx="91440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71232" y="1700784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2048256"/>
            <a:ext cx="1554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208483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day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920240" y="2048256"/>
            <a:ext cx="1828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993392" y="208483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-1.25%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749040" y="2048256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22192" y="208483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3.61%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86400" y="2048256"/>
            <a:ext cx="2011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59552" y="208483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95,625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498080" y="204825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71232" y="208483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2432304"/>
            <a:ext cx="155448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day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920240" y="2432304"/>
            <a:ext cx="182880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993392" y="246888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+2.45%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749040" y="2432304"/>
            <a:ext cx="173736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22192" y="24688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486400" y="2432304"/>
            <a:ext cx="201168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59552" y="246888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148,969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498080" y="2432304"/>
            <a:ext cx="914400" cy="347472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71232" y="246888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65760" y="301752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365760" y="3017520"/>
            <a:ext cx="54864" cy="16916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48640" y="31272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this explicitly:</a:t>
            </a:r>
            <a:endParaRPr lang="en-US" sz="1150" dirty="0"/>
          </a:p>
        </p:txBody>
      </p:sp>
      <p:sp>
        <p:nvSpPr>
          <p:cNvPr id="87" name="Text 85"/>
          <p:cNvSpPr/>
          <p:nvPr/>
        </p:nvSpPr>
        <p:spPr>
          <a:xfrm>
            <a:off x="548640" y="3383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"Without ever telling the algorithm what 'volatile' means, it separated NABIL's trading year into three interpretable regimes: 177 of 222 days are calm, near-zero-return days — the interesting minority are high-volume, strongly one-directional days. Notice 'Up day' has the HIGHEST volume of all three — big up-moves come with heavy trading, a real pattern that fell straight out of clustering."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FOR YOUR CLASS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Finishers &amp; Extra Support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adjustments, not vague suggestions.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173736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898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fast finishers: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1664208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Try AgglomerativeClustering directly with different linkage options — do they all agree on 5 clusters?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Re-run DBSCAN with eps = 0.3, 0.4, 0.5 — plot how cluster count and noise changes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Gender (encoded) as a third clustering feature — does it change the 5 segments?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3101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 who need more support: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358444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Step 2 (K-Means + business naming) is the non-negotiable core — prioritise every student completing THIS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naming exercise (guess before reveal) is a discussion, not code — let it be the equaliser moment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DBSCAN and PCA can be walked through together as a class demo if the room is behind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habits that quietly undermine unsupervised results.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1307592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2960" y="12801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scaling before K-Means/DBSCAN/PCA — all three are distance or variance based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1837944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2960" y="181051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K purely from the elbow — it's often ambiguous, cross-check with silhouette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2368296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2960" y="234086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higher K = better — inertia trivially hits zero at K=n, that's not 'better'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1480" y="2898648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22960" y="287121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DBSCAN noise as errors to fix, not the useful output it often is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1480" y="3429000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22960" y="34015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PCA components as if they were the original features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11480" y="3959352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3950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22960" y="3931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one clustering method without cross-checking against a second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clustering and PCA show up in production.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658368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01752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today's dataset — retail, banking, telecom all segment customers this way to target marketing spend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20574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2057400"/>
            <a:ext cx="54864" cy="658368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Fraud/anomaly detection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017520" y="21488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DBSCAN's 'noise' output is often the entire point — a fraud is, by definition, a point that fits no normal cluster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28346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2834640"/>
            <a:ext cx="54864" cy="658368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in genomics &amp; finance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3017520" y="29260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studies use PCA on tens of thousands of features. Finance uses it to find the few 'factors' driving stock returns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" y="36118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3611880"/>
            <a:ext cx="54864" cy="658368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 detection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3017520" y="37033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NABIL stretch is a real, active technique in quant finance — clustering trading conditions to adjust strategy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THESE WITH YOU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habits worth making permanent.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219456" cy="219456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1440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scale features before any distance-based unsupervised method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365760" y="1810512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365760" y="1810512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219456" cy="219456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914400" y="18105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least two signals to choose K — elbow plus silhouette, never either alone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365760" y="2340864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49"/>
          <p:cNvSpPr/>
          <p:nvPr/>
        </p:nvSpPr>
        <p:spPr>
          <a:xfrm>
            <a:off x="365760" y="2340864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50592"/>
            <a:ext cx="219456" cy="219456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914400" y="23408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 clustering result with a second, different algorithm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365760" y="2871216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365760" y="2871216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5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80944"/>
            <a:ext cx="219456" cy="219456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914400" y="2871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translate cluster numbers into business language before presenting</a:t>
            </a:r>
            <a:endParaRPr lang="en-US" sz="1050" dirty="0"/>
          </a:p>
        </p:txBody>
      </p:sp>
      <p:sp>
        <p:nvSpPr>
          <p:cNvPr id="60" name="Shape 54"/>
          <p:cNvSpPr/>
          <p:nvPr/>
        </p:nvSpPr>
        <p:spPr>
          <a:xfrm>
            <a:off x="365760" y="340156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1" name="Shape 55"/>
          <p:cNvSpPr/>
          <p:nvPr/>
        </p:nvSpPr>
        <p:spPr>
          <a:xfrm>
            <a:off x="365760" y="3401568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11296"/>
            <a:ext cx="219456" cy="219456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914400" y="34015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DBSCAN's noise points as a feature, not a bug</a:t>
            </a:r>
            <a:endParaRPr lang="en-US" sz="1050" dirty="0"/>
          </a:p>
        </p:txBody>
      </p:sp>
      <p:sp>
        <p:nvSpPr>
          <p:cNvPr id="64" name="Shape 57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5" name="Shape 58"/>
          <p:cNvSpPr/>
          <p:nvPr/>
        </p:nvSpPr>
        <p:spPr>
          <a:xfrm>
            <a:off x="365760" y="3931920"/>
            <a:ext cx="54864" cy="4572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6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41648"/>
            <a:ext cx="219456" cy="219456"/>
          </a:xfrm>
          <a:prstGeom prst="rect">
            <a:avLst/>
          </a:prstGeom>
        </p:spPr>
      </p:pic>
      <p:sp>
        <p:nvSpPr>
          <p:cNvPr id="67" name="Text 59"/>
          <p:cNvSpPr/>
          <p:nvPr/>
        </p:nvSpPr>
        <p:spPr>
          <a:xfrm>
            <a:off x="91440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how much variance PCA keeps, always — say the number out loud</a:t>
            </a:r>
            <a:endParaRPr lang="en-US" sz="1050" dirty="0"/>
          </a:p>
        </p:txBody>
      </p:sp>
      <p:sp>
        <p:nvSpPr>
          <p:cNvPr id="68" name="Text 6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t-SNE Visualisation</a:t>
            </a:r>
            <a:endParaRPr lang="en-US" sz="2200" dirty="0"/>
          </a:p>
        </p:txBody>
      </p:sp>
      <p:sp>
        <p:nvSpPr>
          <p:cNvPr id="43" name="Shape 40"/>
          <p:cNvSpPr/>
          <p:nvPr/>
        </p:nvSpPr>
        <p:spPr>
          <a:xfrm>
            <a:off x="365760" y="960120"/>
            <a:ext cx="8412480" cy="16916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2064" y="1051560"/>
            <a:ext cx="81198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sklearn.datasets import load_breast_cancer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sklearn.manifold import TSNE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load_breast_cancer()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StandardScaler().fit_transform(data.data)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tsne = TSNE(n_components=2, random_state=42, perplexity=30)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X_tsne = tsne.fit_transform(X_scaled)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sns.scatterplot(x=X_tsne[:,0], y=X_tsne[:,1], hue=data.target, palette='deep')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plt.title("Breast Cancer — t-SNE Projection")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65760" y="278892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65760" y="2788920"/>
            <a:ext cx="54864" cy="13716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640" y="28803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result: clean separation, with zero label knowledge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548640" y="3136392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"Remember this is where SVM scored 98.2% on Day 11 — a problem with genuinely strong signal. t-SNE, running with ZERO knowledge of the labels, still finds almost the same two groups on its own. Independent confirmation, from a completely different angle, that malignant and benign really are distinguishable."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65760" y="4251960"/>
            <a:ext cx="54864" cy="6400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" y="4251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t-SNE preserves LOCAL structure for visualisation — unlike PCA, don't feed its output into further modelling.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Feeds Into Week 2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business-naming skill is exactly what graders look for.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1600"/>
            <a:ext cx="8412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371600"/>
            <a:ext cx="54864" cy="164592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10896" cy="310896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60120" y="1508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Mini-Project — 15% of final grade (Day 14)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48640" y="18745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clustering and PCA work is a direct precursor to the model interpretation and communication skills graded then. The business-naming exercise in Step 2 mirrors what graders look for: not just running an algorithm, but translating its output into something a non-technical stakeholder could act on.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65760" y="3200400"/>
            <a:ext cx="54864" cy="13716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" y="33101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line for tomorrow, worth saying today: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548640" y="358444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clustering model you built today could become a real 'which customer segment am I?' tool with a form and a button — that's exactly what we build tomorrow."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Full Picture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algorithms, one dataset, one consistent story.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2560320" cy="402336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1325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926080" y="1280160"/>
            <a:ext cx="2743200" cy="402336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1325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found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0" y="1280160"/>
            <a:ext cx="3108960" cy="402336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13258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1719072"/>
            <a:ext cx="256032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1764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(K=5)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926080" y="1719072"/>
            <a:ext cx="274320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0" y="17647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segments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69280" y="1719072"/>
            <a:ext cx="310896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60720" y="17647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0.555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2157984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220370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926080" y="215798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2203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groups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69280" y="2157984"/>
            <a:ext cx="3108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22037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 agreement w/ K-Means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2596896"/>
            <a:ext cx="256032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26426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926080" y="2596896"/>
            <a:ext cx="274320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0" y="26426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groups + 15 outliers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669280" y="2596896"/>
            <a:ext cx="310896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60720" y="264261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flagged as noise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3035808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3081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(2 components)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926080" y="3035808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17520" y="30815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3→2 dims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035808"/>
            <a:ext cx="3108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60720" y="30815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77.6% variance kept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65760" y="3611880"/>
            <a:ext cx="54864" cy="109728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" y="3703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that runs through all four: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method, run independently, points to the same underlying structure. That convergence — not any single algorithm's output — is what makes you trust a clustering result.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Today's Work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notebook, five business-named segments, and an optional regime discovery.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371600"/>
            <a:ext cx="54864" cy="64008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12: mall customer clustering (K-Means/hierarchical/DBSCAN/PCA) + t-SNE challenge"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2194560"/>
            <a:ext cx="8412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2194560"/>
            <a:ext cx="54864" cy="22860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3042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before pushing:</a:t>
            </a:r>
            <a:endParaRPr lang="en-US" sz="1200" dirty="0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24328"/>
            <a:ext cx="182880" cy="182880"/>
          </a:xfrm>
          <a:prstGeom prst="rect">
            <a:avLst/>
          </a:prstGeom>
        </p:spPr>
      </p:pic>
      <p:sp>
        <p:nvSpPr>
          <p:cNvPr id="51" name="Text 48"/>
          <p:cNvSpPr/>
          <p:nvPr/>
        </p:nvSpPr>
        <p:spPr>
          <a:xfrm>
            <a:off x="841248" y="2606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plots, with K=5 justified in a markdown cell</a:t>
            </a:r>
            <a:endParaRPr lang="en-US" sz="950" dirty="0"/>
          </a:p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16936"/>
            <a:ext cx="182880" cy="182880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841248" y="2898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K-Means clusters with the 5 business names written out</a:t>
            </a:r>
            <a:endParaRPr lang="en-US" sz="950" dirty="0"/>
          </a:p>
        </p:txBody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9544"/>
            <a:ext cx="182880" cy="182880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841248" y="31912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+ the 94.2% agreement number</a:t>
            </a:r>
            <a:endParaRPr lang="en-US" sz="950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02152"/>
            <a:ext cx="182880" cy="182880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841248" y="348386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cluster count + noise percentage</a:t>
            </a:r>
            <a:endParaRPr lang="en-US" sz="950" dirty="0"/>
          </a:p>
        </p:txBody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94760"/>
            <a:ext cx="182880" cy="182880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841248" y="3776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explained variance stated explicitly</a:t>
            </a:r>
            <a:endParaRPr lang="en-US" sz="950" dirty="0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87368"/>
            <a:ext cx="182880" cy="182880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841248" y="4069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NABIL regime table if attempted</a:t>
            </a:r>
            <a:endParaRPr lang="en-US" sz="950" dirty="0"/>
          </a:p>
        </p:txBody>
      </p:sp>
      <p:sp>
        <p:nvSpPr>
          <p:cNvPr id="62" name="Text 5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D5F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Wins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600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your first models with zero labels — and evaluated them without an answer key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055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103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raw cluster numbers into 5 real business segments — Standard, Target, Careless, Careful, Sensible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33472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606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K-Means against hierarchical clustering — 94.2% agreement, real confidence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3639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108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DBSCAN to find the 15 customers that don't fit anywhere, and PCA to compress 3 features into 2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457200" y="379476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40080" y="39044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13: Shipping Your First Model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model with joblib, wrap it in a FastAPI backend, and build a Streamlit frontend. Model → API → UI — the standard shape of nearly every deployed ML product.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4013</Words>
  <Application>Microsoft Office PowerPoint</Application>
  <PresentationFormat>On-screen Show (16:9)</PresentationFormat>
  <Paragraphs>482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12 — Unsupervised Learning: Clustering &amp; PCA</dc:title>
  <dc:subject>PptxGenJS Presentation</dc:subject>
  <dc:creator>PptxGenJS</dc:creator>
  <cp:lastModifiedBy>Gagan Pradhan</cp:lastModifiedBy>
  <cp:revision>3</cp:revision>
  <dcterms:created xsi:type="dcterms:W3CDTF">2026-07-15T05:50:42Z</dcterms:created>
  <dcterms:modified xsi:type="dcterms:W3CDTF">2026-07-16T08:43:09Z</dcterms:modified>
</cp:coreProperties>
</file>