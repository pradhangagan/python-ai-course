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73" r:id="rId8"/>
    <p:sldId id="262" r:id="rId9"/>
    <p:sldId id="263" r:id="rId10"/>
    <p:sldId id="264" r:id="rId11"/>
    <p:sldId id="265" r:id="rId12"/>
    <p:sldId id="266" r:id="rId13"/>
    <p:sldId id="268" r:id="rId14"/>
    <p:sldId id="274" r:id="rId15"/>
    <p:sldId id="267" r:id="rId16"/>
    <p:sldId id="269" r:id="rId17"/>
    <p:sldId id="270" r:id="rId18"/>
    <p:sldId id="271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9927" autoAdjust="0"/>
    <p:restoredTop sz="94610"/>
  </p:normalViewPr>
  <p:slideViewPr>
    <p:cSldViewPr snapToGrid="0" snapToObjects="1">
      <p:cViewPr>
        <p:scale>
          <a:sx n="98" d="100"/>
          <a:sy n="98" d="100"/>
        </p:scale>
        <p:origin x="62" y="19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31488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1116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548640"/>
            <a:ext cx="914400" cy="329184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54864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9326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DA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Python · AI · ML Curriculum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261872"/>
            <a:ext cx="5943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56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Types,</a:t>
            </a:r>
            <a:endParaRPr lang="en-US" sz="5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56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&amp;</a:t>
            </a:r>
            <a:endParaRPr lang="en-US" sz="5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56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594360" y="3913632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Python's 6 core types · write f-strings · build your first calculator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903720" y="1371600"/>
            <a:ext cx="1005840" cy="749808"/>
          </a:xfrm>
          <a:prstGeom prst="roundRect">
            <a:avLst>
              <a:gd name="adj" fmla="val 9756"/>
            </a:avLst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03720" y="155448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982712" y="1371600"/>
            <a:ext cx="1005840" cy="749808"/>
          </a:xfrm>
          <a:prstGeom prst="roundRect">
            <a:avLst>
              <a:gd name="adj" fmla="val 9756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82712" y="155448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903720" y="2377440"/>
            <a:ext cx="1005840" cy="749808"/>
          </a:xfrm>
          <a:prstGeom prst="roundRect">
            <a:avLst>
              <a:gd name="adj" fmla="val 9756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03720" y="256032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982712" y="2377440"/>
            <a:ext cx="1005840" cy="749808"/>
          </a:xfrm>
          <a:prstGeom prst="roundRect">
            <a:avLst>
              <a:gd name="adj" fmla="val 9756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82712" y="256032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903720" y="3383280"/>
            <a:ext cx="1005840" cy="749808"/>
          </a:xfrm>
          <a:prstGeom prst="roundRect">
            <a:avLst>
              <a:gd name="adj" fmla="val 9756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03720" y="356616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982712" y="3383280"/>
            <a:ext cx="1005840" cy="749808"/>
          </a:xfrm>
          <a:prstGeom prst="roundRect">
            <a:avLst>
              <a:gd name="adj" fmla="val 9756"/>
            </a:avLst>
          </a:prstGeom>
          <a:solidFill>
            <a:srgbClr val="F4F4F0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82712" y="356616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complex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94360" y="468172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hours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691640" y="4754880"/>
            <a:ext cx="73152" cy="73152"/>
          </a:xfrm>
          <a:prstGeom prst="ellipse">
            <a:avLst/>
          </a:prstGeom>
          <a:solidFill>
            <a:srgbClr val="E8E8E4"/>
          </a:solidFill>
          <a:ln w="12700">
            <a:solidFill>
              <a:srgbClr val="E8E8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28800" y="468172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926080" y="4754880"/>
            <a:ext cx="73152" cy="73152"/>
          </a:xfrm>
          <a:prstGeom prst="ellipse">
            <a:avLst/>
          </a:prstGeom>
          <a:solidFill>
            <a:srgbClr val="E8E8E4"/>
          </a:solidFill>
          <a:ln w="12700">
            <a:solidFill>
              <a:srgbClr val="E8E8E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63240" y="46817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→ Demo → Quiz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046720" y="482803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DA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Plan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0"/>
          </a:xfrm>
          <a:prstGeom prst="line">
            <a:avLst/>
          </a:prstGeom>
          <a:noFill/>
          <a:ln w="12700">
            <a:solidFill>
              <a:srgbClr val="E8E8E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051560"/>
            <a:ext cx="8321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051560"/>
            <a:ext cx="45720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20700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DAD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0:00–0:15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64208" y="1216152"/>
            <a:ext cx="749808" cy="201168"/>
          </a:xfrm>
          <a:prstGeom prst="roundRect">
            <a:avLst>
              <a:gd name="adj" fmla="val 36364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64208" y="121615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514600" y="11430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Python's 6 Data Types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14600" y="1389888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type is, when to use it, type() and isinstance()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" y="1709928"/>
            <a:ext cx="8321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" y="1709928"/>
            <a:ext cx="45720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186537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DAD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0:15–0:25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664208" y="1874520"/>
            <a:ext cx="749808" cy="201168"/>
          </a:xfrm>
          <a:prstGeom prst="roundRect">
            <a:avLst>
              <a:gd name="adj" fmla="val 36364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64208" y="1874520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514600" y="18013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&amp; Naming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14600" y="2048256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snake_case, constants, multiple assignment, the swap trick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2368296"/>
            <a:ext cx="8321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1480" y="2368296"/>
            <a:ext cx="45720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252374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DAD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0:25–0:40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664208" y="2532888"/>
            <a:ext cx="749808" cy="201168"/>
          </a:xfrm>
          <a:prstGeom prst="roundRect">
            <a:avLst>
              <a:gd name="adj" fmla="val 36364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664208" y="2532888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514600" y="245973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514600" y="2706624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· comparison · logical · assignment — with gotchas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11480" y="3026664"/>
            <a:ext cx="8321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11480" y="3026664"/>
            <a:ext cx="45720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318211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DAD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0:40–0:45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664208" y="3191256"/>
            <a:ext cx="749808" cy="201168"/>
          </a:xfrm>
          <a:prstGeom prst="roundRect">
            <a:avLst>
              <a:gd name="adj" fmla="val 36364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664208" y="3191256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514600" y="311810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Casting &amp; F-Strings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514600" y="3364992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int(), float(), str() · the #1 beginner bug · f-string formats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11480" y="3685032"/>
            <a:ext cx="8321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11480" y="3685032"/>
            <a:ext cx="45720" cy="5669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384048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DAD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0:45–1:45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664208" y="3849624"/>
            <a:ext cx="749808" cy="201168"/>
          </a:xfrm>
          <a:prstGeom prst="roundRect">
            <a:avLst>
              <a:gd name="adj" fmla="val 36364"/>
            </a:avLst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664208" y="3849624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2514600" y="37764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Exercises + Intentional Bugs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2514600" y="4023360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 Calculator · Currency Converter · Reading Tracebacks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11480" y="4343400"/>
            <a:ext cx="8321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11480" y="4343400"/>
            <a:ext cx="45720" cy="56692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6928" y="449884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DAD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1:45–2:00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1664208" y="4507992"/>
            <a:ext cx="749808" cy="201168"/>
          </a:xfrm>
          <a:prstGeom prst="roundRect">
            <a:avLst>
              <a:gd name="adj" fmla="val 36364"/>
            </a:avLst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664208" y="450799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2514600" y="44348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5-Question Class Quiz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2514600" y="4681728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coding — first to run the correct answer wins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8046720" y="482803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DA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Python's 6 Built-in Data Types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value has a type — Python uses it to decide what operations are allowed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8138160" cy="0"/>
          </a:xfrm>
          <a:prstGeom prst="line">
            <a:avLst/>
          </a:prstGeom>
          <a:noFill/>
          <a:ln w="12700">
            <a:solidFill>
              <a:srgbClr val="E8E8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1188720"/>
            <a:ext cx="274320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1188720"/>
            <a:ext cx="2743200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316736"/>
            <a:ext cx="658368" cy="274320"/>
          </a:xfrm>
          <a:prstGeom prst="roundRect">
            <a:avLst>
              <a:gd name="adj" fmla="val 33333"/>
            </a:avLst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31673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80160" y="1344168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DA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wrapped in quotes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664208"/>
            <a:ext cx="2414016" cy="347472"/>
          </a:xfrm>
          <a:prstGeom prst="rect">
            <a:avLst/>
          </a:prstGeom>
          <a:solidFill>
            <a:srgbClr val="F4F4F0"/>
          </a:solidFill>
          <a:ln w="12700">
            <a:solidFill>
              <a:srgbClr val="E0E0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16916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"Hello"  ·  "Ali"  ·  "123"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2121408"/>
            <a:ext cx="24140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Text, names, messages, URLs, file paths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55264" y="1188720"/>
            <a:ext cx="274320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55264" y="1188720"/>
            <a:ext cx="27432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19856" y="1316736"/>
            <a:ext cx="658368" cy="274320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19856" y="131673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51376" y="1344168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DA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decimal point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419856" y="1664208"/>
            <a:ext cx="2414016" cy="347472"/>
          </a:xfrm>
          <a:prstGeom prst="rect">
            <a:avLst/>
          </a:prstGeom>
          <a:solidFill>
            <a:srgbClr val="F4F4F0"/>
          </a:solidFill>
          <a:ln w="12700">
            <a:solidFill>
              <a:srgbClr val="E0E0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93008" y="16916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  ·  -7  ·  1_000_000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19856" y="2121408"/>
            <a:ext cx="24140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Counting, indexing, IDs, whole numbers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26480" y="1188720"/>
            <a:ext cx="274320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26480" y="1188720"/>
            <a:ext cx="2743200" cy="3657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91072" y="1316736"/>
            <a:ext cx="658368" cy="274320"/>
          </a:xfrm>
          <a:prstGeom prst="roundRect">
            <a:avLst>
              <a:gd name="adj" fmla="val 33333"/>
            </a:avLst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91072" y="131673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022592" y="1344168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DA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a decimal point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291072" y="1664208"/>
            <a:ext cx="2414016" cy="347472"/>
          </a:xfrm>
          <a:prstGeom prst="rect">
            <a:avLst/>
          </a:prstGeom>
          <a:solidFill>
            <a:srgbClr val="F4F4F0"/>
          </a:solidFill>
          <a:ln w="12700">
            <a:solidFill>
              <a:srgbClr val="E0E0D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64224" y="16916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3.14  ·  -0.5  ·  1.0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91072" y="2121408"/>
            <a:ext cx="24140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Prices, measurements, coordinates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84048" y="3108960"/>
            <a:ext cx="274320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84048" y="3108960"/>
            <a:ext cx="27432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3236976"/>
            <a:ext cx="658368" cy="274320"/>
          </a:xfrm>
          <a:prstGeom prst="roundRect">
            <a:avLst>
              <a:gd name="adj" fmla="val 33333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323697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280160" y="3264408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DA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T and F — always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48640" y="3584448"/>
            <a:ext cx="2414016" cy="347472"/>
          </a:xfrm>
          <a:prstGeom prst="rect">
            <a:avLst/>
          </a:prstGeom>
          <a:solidFill>
            <a:srgbClr val="F4F4F0"/>
          </a:solidFill>
          <a:ln w="12700">
            <a:solidFill>
              <a:srgbClr val="E0E0D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1792" y="36118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  ·  False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48640" y="4041648"/>
            <a:ext cx="24140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Conditions, flags, on/off switches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255264" y="3108960"/>
            <a:ext cx="274320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255264" y="3108960"/>
            <a:ext cx="2743200" cy="3657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419856" y="3236976"/>
            <a:ext cx="658368" cy="274320"/>
          </a:xfrm>
          <a:prstGeom prst="roundRect">
            <a:avLst>
              <a:gd name="adj" fmla="val 33333"/>
            </a:avLst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19856" y="323697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151376" y="3264408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DA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null in other languages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419856" y="3584448"/>
            <a:ext cx="2414016" cy="347472"/>
          </a:xfrm>
          <a:prstGeom prst="rect">
            <a:avLst/>
          </a:prstGeom>
          <a:solidFill>
            <a:srgbClr val="F4F4F0"/>
          </a:solidFill>
          <a:ln w="12700">
            <a:solidFill>
              <a:srgbClr val="E0E0D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93008" y="36118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419856" y="4041648"/>
            <a:ext cx="24140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data, empty returns, defaults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126480" y="3108960"/>
            <a:ext cx="274320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126480" y="3108960"/>
            <a:ext cx="2743200" cy="36576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291072" y="3236976"/>
            <a:ext cx="658368" cy="274320"/>
          </a:xfrm>
          <a:prstGeom prst="roundRect">
            <a:avLst>
              <a:gd name="adj" fmla="val 33333"/>
            </a:avLst>
          </a:prstGeom>
          <a:solidFill>
            <a:srgbClr val="F4F4F0"/>
          </a:solidFill>
          <a:ln w="12700">
            <a:solidFill>
              <a:srgbClr val="F4F4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91072" y="323697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complex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7022592" y="3264408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DA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 for imaginary part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291072" y="3584448"/>
            <a:ext cx="2414016" cy="347472"/>
          </a:xfrm>
          <a:prstGeom prst="rect">
            <a:avLst/>
          </a:prstGeom>
          <a:solidFill>
            <a:srgbClr val="F4F4F0"/>
          </a:solidFill>
          <a:ln w="12700">
            <a:solidFill>
              <a:srgbClr val="E0E0D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64224" y="36118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3+4j  ·  2j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291072" y="4041648"/>
            <a:ext cx="24140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processing, engineering math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8046720" y="482803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DA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Types in Code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type()  and  isinstance()  — your flashlight when code breaks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4389120" cy="1874520"/>
          </a:xfrm>
          <a:prstGeom prst="rect">
            <a:avLst/>
          </a:prstGeom>
          <a:solidFill>
            <a:srgbClr val="F4F4F0"/>
          </a:solidFill>
          <a:ln w="12700">
            <a:solidFill>
              <a:srgbClr val="E0E0DA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097280"/>
            <a:ext cx="4389120" cy="256032"/>
          </a:xfrm>
          <a:prstGeom prst="rect">
            <a:avLst/>
          </a:prstGeom>
          <a:solidFill>
            <a:srgbClr val="E0E0DA"/>
          </a:solidFill>
          <a:ln w="12700">
            <a:solidFill>
              <a:srgbClr val="E0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3385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type() — what type is this value?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4023360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5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print(type('hello'))   </a:t>
            </a:r>
            <a:r>
              <a:rPr lang="en-US" sz="105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&lt;class 'str'&gt;</a:t>
            </a:r>
            <a:endParaRPr lang="en-US" sz="10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05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print(type(42))        </a:t>
            </a:r>
            <a:r>
              <a:rPr lang="en-US" sz="105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&lt;class 'int'&gt;</a:t>
            </a:r>
            <a:endParaRPr lang="en-US" sz="10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05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print(type(3.14))      </a:t>
            </a:r>
            <a:r>
              <a:rPr lang="en-US" sz="105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&lt;class 'float'&gt;</a:t>
            </a:r>
            <a:endParaRPr lang="en-US" sz="10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05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print(type(True))      </a:t>
            </a:r>
            <a:r>
              <a:rPr lang="en-US" sz="105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&lt;class 'bool'&gt;</a:t>
            </a:r>
            <a:endParaRPr lang="en-US" sz="10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05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print(type(None))      </a:t>
            </a:r>
            <a:r>
              <a:rPr lang="en-US" sz="105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&lt;class 'NoneType'&gt;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11480" y="3063240"/>
            <a:ext cx="4389120" cy="1261872"/>
          </a:xfrm>
          <a:prstGeom prst="rect">
            <a:avLst/>
          </a:prstGeom>
          <a:solidFill>
            <a:srgbClr val="F4F4F0"/>
          </a:solidFill>
          <a:ln w="12700">
            <a:solidFill>
              <a:srgbClr val="E0E0DA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3063240"/>
            <a:ext cx="4389120" cy="256032"/>
          </a:xfrm>
          <a:prstGeom prst="rect">
            <a:avLst/>
          </a:prstGeom>
          <a:solidFill>
            <a:srgbClr val="E0E0DA"/>
          </a:solidFill>
          <a:ln w="12700">
            <a:solidFill>
              <a:srgbClr val="E0E0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09981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isinstance() — is this value a specific type?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338328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5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isinstance(42, int)    </a:t>
            </a:r>
            <a:r>
              <a:rPr lang="en-US" sz="105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True</a:t>
            </a:r>
            <a:endParaRPr lang="en-US" sz="10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05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isinstance(42, float)  </a:t>
            </a:r>
            <a:r>
              <a:rPr lang="en-US" sz="10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False</a:t>
            </a:r>
            <a:endParaRPr lang="en-US" sz="10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05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isinstance(True, int)  </a:t>
            </a:r>
            <a:r>
              <a:rPr lang="en-US" sz="1050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True  (!)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0" y="1097280"/>
            <a:ext cx="37033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0" y="1097280"/>
            <a:ext cx="45720" cy="1417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3792" y="1261872"/>
            <a:ext cx="320040" cy="32004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596128" y="1225296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isinstance() in real code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193792" y="1572768"/>
            <a:ext cx="3401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type() does an exact match. isinstance() understands inheritance. In professional code you'll see isinstance() 9 times for every type().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029200" y="2633472"/>
            <a:ext cx="37033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029200" y="2633472"/>
            <a:ext cx="45720" cy="1234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3792" y="2601468"/>
            <a:ext cx="320040" cy="32004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577840" y="2665476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 is a subtype of int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5303520" y="3017520"/>
            <a:ext cx="30083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b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== 1  and  False == 0 in Python. So True + True == 2. Weird but real!</a:t>
            </a:r>
          </a:p>
          <a:p>
            <a:pPr marL="0" indent="0">
              <a:lnSpc>
                <a:spcPct val="140000"/>
              </a:lnSpc>
              <a:buNone/>
            </a:pP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5029200" y="3950208"/>
            <a:ext cx="3703320" cy="804672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5504" y="4096512"/>
            <a:ext cx="292608" cy="29260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559552" y="400507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5559552" y="4261104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does  type(True).__name__  print?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8046720" y="482803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DA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&amp; Naming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named box that holds a value — and Python naming is not optional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8138160" cy="0"/>
          </a:xfrm>
          <a:prstGeom prst="line">
            <a:avLst/>
          </a:prstGeom>
          <a:noFill/>
          <a:ln w="12700">
            <a:solidFill>
              <a:srgbClr val="E8E8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17043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920240" y="11704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657600" y="1170432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11480" y="1444752"/>
            <a:ext cx="8321040" cy="0"/>
          </a:xfrm>
          <a:prstGeom prst="line">
            <a:avLst/>
          </a:prstGeom>
          <a:noFill/>
          <a:ln w="12700">
            <a:solidFill>
              <a:srgbClr val="E8E8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536192"/>
            <a:ext cx="8321040" cy="420624"/>
          </a:xfrm>
          <a:prstGeom prst="rect">
            <a:avLst/>
          </a:prstGeom>
          <a:solidFill>
            <a:srgbClr val="F7F7F5"/>
          </a:solidFill>
          <a:ln w="12700">
            <a:solidFill>
              <a:srgbClr val="E8E8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62763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user_name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965960" y="1627632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UserName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703320" y="1627632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snake_case is the Python standard (PEP 8) — not CamelCase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206654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total_price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965960" y="2066544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703320" y="2066544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descriptive — future you will thank present you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2414016"/>
            <a:ext cx="8321040" cy="420624"/>
          </a:xfrm>
          <a:prstGeom prst="rect">
            <a:avLst/>
          </a:prstGeom>
          <a:solidFill>
            <a:srgbClr val="F7F7F5"/>
          </a:solidFill>
          <a:ln w="12700">
            <a:solidFill>
              <a:srgbClr val="E8E8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50545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is_logged_in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965960" y="2505456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loggedin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703320" y="2505456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variables often start with is_ or has_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294436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MAX_RETRIES = 3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965960" y="2944368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maxretries = 3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703320" y="2944368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ALL_CAPS signals a constant — convention, not enforced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11480" y="3337560"/>
            <a:ext cx="8321040" cy="0"/>
          </a:xfrm>
          <a:prstGeom prst="line">
            <a:avLst/>
          </a:prstGeom>
          <a:noFill/>
          <a:ln w="12700">
            <a:solidFill>
              <a:srgbClr val="E8E8E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" y="3465576"/>
            <a:ext cx="45720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42900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Swap Trick — Python magic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11480" y="3840480"/>
            <a:ext cx="4114800" cy="1078992"/>
          </a:xfrm>
          <a:prstGeom prst="rect">
            <a:avLst/>
          </a:prstGeom>
          <a:solidFill>
            <a:srgbClr val="F4F4F0"/>
          </a:solidFill>
          <a:ln w="12700">
            <a:solidFill>
              <a:srgbClr val="E0E0DA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94360" y="4005072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5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a, b = 10, 20</a:t>
            </a:r>
            <a:endParaRPr lang="en-US" sz="10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05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a, b = b, a  </a:t>
            </a:r>
            <a:r>
              <a:rPr lang="en-US" sz="105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No temp variable needed!</a:t>
            </a:r>
            <a:endParaRPr lang="en-US" sz="10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05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print(a, b)  </a:t>
            </a:r>
            <a:r>
              <a:rPr lang="en-US" sz="105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20, 10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54880" y="3465576"/>
            <a:ext cx="45720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3429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Assignment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754880" y="3840480"/>
            <a:ext cx="3977640" cy="1078992"/>
          </a:xfrm>
          <a:prstGeom prst="rect">
            <a:avLst/>
          </a:prstGeom>
          <a:solidFill>
            <a:srgbClr val="F4F4F0"/>
          </a:solidFill>
          <a:ln w="12700">
            <a:solidFill>
              <a:srgbClr val="E0E0DA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937760" y="4005072"/>
            <a:ext cx="3611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5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x, y, z = 1, 2, 3</a:t>
            </a:r>
            <a:endParaRPr lang="en-US" sz="10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x=1  y=2  z=3</a:t>
            </a:r>
            <a:endParaRPr lang="en-US" sz="10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What happens here?</a:t>
            </a:r>
            <a:endParaRPr lang="en-US" sz="10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0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x, y = 1, 2, 3  # ValueError!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046720" y="482803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DA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080760" y="258318"/>
            <a:ext cx="3063240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buSzPct val="100000"/>
            </a:pPr>
            <a:r>
              <a:rPr lang="en-US" sz="1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Rules:</a:t>
            </a:r>
            <a:endParaRPr lang="en-US" sz="950" dirty="0">
              <a:solidFill>
                <a:srgbClr val="8B949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start with letter or underscore</a:t>
            </a:r>
            <a:endParaRPr lang="en-US" sz="9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50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start with a number</a:t>
            </a:r>
            <a:endParaRPr lang="en-US" sz="9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50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use reserved words (if, for, while…)</a:t>
            </a:r>
            <a:endParaRPr lang="en-US" sz="9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Case-sensitive: name ≠ Name ≠ NAME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categories — every Python program uses all of them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1115568"/>
            <a:ext cx="45720" cy="29260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7899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371600"/>
            <a:ext cx="411480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4475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44475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+ 3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377440" y="144475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13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1801368"/>
            <a:ext cx="4114800" cy="393192"/>
          </a:xfrm>
          <a:prstGeom prst="rect">
            <a:avLst/>
          </a:prstGeom>
          <a:solidFill>
            <a:srgbClr val="F7F7F5"/>
          </a:solidFill>
          <a:ln w="12700">
            <a:solidFill>
              <a:srgbClr val="E8E8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87452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187452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10 - 3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377440" y="187452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7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1480" y="2231136"/>
            <a:ext cx="411480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30428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230428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* 3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377440" y="230428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30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11480" y="2660904"/>
            <a:ext cx="4114800" cy="393192"/>
          </a:xfrm>
          <a:prstGeom prst="rect">
            <a:avLst/>
          </a:prstGeom>
          <a:solidFill>
            <a:srgbClr val="F7F7F5"/>
          </a:solidFill>
          <a:ln w="12700">
            <a:solidFill>
              <a:srgbClr val="E8E8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73405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273405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3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377440" y="273405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3.333...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273552" y="2734056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float!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1480" y="3090672"/>
            <a:ext cx="411480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16382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05840" y="316382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// 3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377440" y="316382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3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273552" y="3163824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division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11480" y="3520440"/>
            <a:ext cx="4114800" cy="393192"/>
          </a:xfrm>
          <a:prstGeom prst="rect">
            <a:avLst/>
          </a:prstGeom>
          <a:solidFill>
            <a:srgbClr val="F7F7F5"/>
          </a:solidFill>
          <a:ln w="12700">
            <a:solidFill>
              <a:srgbClr val="E8E8E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35935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05840" y="359359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10 % 3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377440" y="359359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1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273552" y="3593592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remainder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11480" y="3950208"/>
            <a:ext cx="411480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402336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05840" y="402336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** 8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377440" y="402336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256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273552" y="402336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^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663440" y="1115568"/>
            <a:ext cx="45720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00600" y="107899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+ Logical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663440" y="1371600"/>
            <a:ext cx="411480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143560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86400" y="1435608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to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663440" y="1764792"/>
            <a:ext cx="4114800" cy="356616"/>
          </a:xfrm>
          <a:prstGeom prst="rect">
            <a:avLst/>
          </a:prstGeom>
          <a:solidFill>
            <a:srgbClr val="F7F7F5"/>
          </a:solidFill>
          <a:ln w="12700">
            <a:solidFill>
              <a:srgbClr val="E8E8E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54880" y="182880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!=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486400" y="1828800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equal to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663440" y="2157984"/>
            <a:ext cx="411480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54880" y="222199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486400" y="2221992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than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663440" y="2551176"/>
            <a:ext cx="4114800" cy="356616"/>
          </a:xfrm>
          <a:prstGeom prst="rect">
            <a:avLst/>
          </a:prstGeom>
          <a:solidFill>
            <a:srgbClr val="F7F7F5"/>
          </a:solidFill>
          <a:ln w="12700">
            <a:solidFill>
              <a:srgbClr val="E8E8E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54880" y="2615184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486400" y="2615184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than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4663440" y="2944368"/>
            <a:ext cx="411480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54880" y="3008376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486400" y="3008376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or equal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4663440" y="3337560"/>
            <a:ext cx="4114800" cy="356616"/>
          </a:xfrm>
          <a:prstGeom prst="rect">
            <a:avLst/>
          </a:prstGeom>
          <a:solidFill>
            <a:srgbClr val="F7F7F5"/>
          </a:solidFill>
          <a:ln w="12700">
            <a:solidFill>
              <a:srgbClr val="E8E8E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754880" y="340156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5486400" y="3401568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must be True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4663440" y="3730752"/>
            <a:ext cx="411480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54880" y="379476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5486400" y="3794760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 can be True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4663440" y="4123944"/>
            <a:ext cx="4114800" cy="356616"/>
          </a:xfrm>
          <a:prstGeom prst="rect">
            <a:avLst/>
          </a:prstGeom>
          <a:solidFill>
            <a:srgbClr val="F7F7F5"/>
          </a:solidFill>
          <a:ln w="12700">
            <a:solidFill>
              <a:srgbClr val="E8E8E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754880" y="418795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5486400" y="4187952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flips True/False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4663440" y="4517136"/>
            <a:ext cx="411480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54880" y="4581144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+=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5486400" y="4581144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and assign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411480" y="4572000"/>
            <a:ext cx="8321040" cy="347472"/>
          </a:xfrm>
          <a:prstGeom prst="rect">
            <a:avLst/>
          </a:prstGeom>
          <a:solidFill>
            <a:srgbClr val="FEFCE8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66928" y="463600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Precedence: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1719072" y="4636008"/>
            <a:ext cx="6812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 )  →  **  →  * / // %  →  + -  →  comparisons  →  not  →  and  →  or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8046720" y="482803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DA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Precedence — PEMDAS in Python</a:t>
            </a:r>
            <a:endParaRPr lang="en-US" sz="27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evaluates expressions in this order — just like math class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4160520" cy="841248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78992"/>
            <a:ext cx="594360" cy="841248"/>
          </a:xfrm>
          <a:prstGeom prst="rect">
            <a:avLst/>
          </a:prstGeom>
          <a:solidFill>
            <a:srgbClr val="3FB950">
              <a:alpha val="20000"/>
            </a:srgbClr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316736"/>
            <a:ext cx="530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1st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113385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  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1426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Parentheses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944368" y="1261872"/>
            <a:ext cx="1463040" cy="475488"/>
          </a:xfrm>
          <a:prstGeom prst="rect">
            <a:avLst/>
          </a:prstGeom>
          <a:solidFill>
            <a:srgbClr val="1E1E2E"/>
          </a:solidFill>
          <a:ln w="12700">
            <a:solidFill>
              <a:srgbClr val="3132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90088" y="128016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9D3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 + 3) * 4 = 20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54880" y="1078992"/>
            <a:ext cx="4160520" cy="841248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078992"/>
            <a:ext cx="594360" cy="841248"/>
          </a:xfrm>
          <a:prstGeom prst="rect">
            <a:avLst/>
          </a:prstGeom>
          <a:solidFill>
            <a:srgbClr val="58A6FF">
              <a:alpha val="20000"/>
            </a:srgbClr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316736"/>
            <a:ext cx="530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2nd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40680" y="113385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40680" y="1426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33488" y="1261872"/>
            <a:ext cx="1463040" cy="475488"/>
          </a:xfrm>
          <a:prstGeom prst="rect">
            <a:avLst/>
          </a:prstGeom>
          <a:solidFill>
            <a:srgbClr val="1E1E2E"/>
          </a:solidFill>
          <a:ln w="12700">
            <a:solidFill>
              <a:srgbClr val="3132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79208" y="128016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9D3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** 3 ** 2 = 512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2066544"/>
            <a:ext cx="4160520" cy="841248"/>
          </a:xfrm>
          <a:prstGeom prst="rect">
            <a:avLst/>
          </a:prstGeom>
          <a:solidFill>
            <a:srgbClr val="161B22"/>
          </a:solidFill>
          <a:ln w="12700">
            <a:solidFill>
              <a:srgbClr val="FFA657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066544"/>
            <a:ext cx="594360" cy="841248"/>
          </a:xfrm>
          <a:prstGeom prst="rect">
            <a:avLst/>
          </a:prstGeom>
          <a:solidFill>
            <a:srgbClr val="FFA657">
              <a:alpha val="20000"/>
            </a:srgbClr>
          </a:solidFill>
          <a:ln w="12700">
            <a:solidFill>
              <a:srgbClr val="FFA6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2304288"/>
            <a:ext cx="530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3rd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51560" y="21214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/ // %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51560" y="241401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 / Div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944368" y="2249424"/>
            <a:ext cx="1463040" cy="475488"/>
          </a:xfrm>
          <a:prstGeom prst="rect">
            <a:avLst/>
          </a:prstGeom>
          <a:solidFill>
            <a:srgbClr val="1E1E2E"/>
          </a:solidFill>
          <a:ln w="12700">
            <a:solidFill>
              <a:srgbClr val="3132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90088" y="226771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9D3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2 * 5 = 25.0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54880" y="2066544"/>
            <a:ext cx="4160520" cy="841248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066544"/>
            <a:ext cx="594360" cy="841248"/>
          </a:xfrm>
          <a:prstGeom prst="rect">
            <a:avLst/>
          </a:prstGeom>
          <a:solidFill>
            <a:srgbClr val="E3B341">
              <a:alpha val="20000"/>
            </a:srgbClr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2304288"/>
            <a:ext cx="530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4th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40680" y="21214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-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40680" y="241401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/ Subtract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333488" y="2249424"/>
            <a:ext cx="1463040" cy="475488"/>
          </a:xfrm>
          <a:prstGeom prst="rect">
            <a:avLst/>
          </a:prstGeom>
          <a:solidFill>
            <a:srgbClr val="1E1E2E"/>
          </a:solidFill>
          <a:ln w="12700">
            <a:solidFill>
              <a:srgbClr val="3132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79208" y="226771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9D3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10 - 2 + 5 = 13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65760" y="3054096"/>
            <a:ext cx="4160520" cy="841248"/>
          </a:xfrm>
          <a:prstGeom prst="rect">
            <a:avLst/>
          </a:prstGeom>
          <a:solidFill>
            <a:srgbClr val="161B22"/>
          </a:solidFill>
          <a:ln w="12700">
            <a:solidFill>
              <a:srgbClr val="BC8C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65760" y="3054096"/>
            <a:ext cx="594360" cy="841248"/>
          </a:xfrm>
          <a:prstGeom prst="rect">
            <a:avLst/>
          </a:prstGeom>
          <a:solidFill>
            <a:srgbClr val="BC8CFF">
              <a:alpha val="20000"/>
            </a:srgbClr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3291840"/>
            <a:ext cx="530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5th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51560" y="3108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&gt; &lt;= &gt;= == !=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051560" y="34015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944368" y="3236976"/>
            <a:ext cx="1463040" cy="475488"/>
          </a:xfrm>
          <a:prstGeom prst="rect">
            <a:avLst/>
          </a:prstGeom>
          <a:solidFill>
            <a:srgbClr val="1E1E2E"/>
          </a:solidFill>
          <a:ln w="12700">
            <a:solidFill>
              <a:srgbClr val="31324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990088" y="325526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9D3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+ 2 &gt; 4 = True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54880" y="3054096"/>
            <a:ext cx="4160520" cy="841248"/>
          </a:xfrm>
          <a:prstGeom prst="rect">
            <a:avLst/>
          </a:prstGeom>
          <a:solidFill>
            <a:srgbClr val="161B22"/>
          </a:solidFill>
          <a:ln w="12700">
            <a:solidFill>
              <a:srgbClr val="FF7B72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54880" y="3054096"/>
            <a:ext cx="594360" cy="841248"/>
          </a:xfrm>
          <a:prstGeom prst="rect">
            <a:avLst/>
          </a:prstGeom>
          <a:solidFill>
            <a:srgbClr val="FF7B72">
              <a:alpha val="20000"/>
            </a:srgbClr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0600" y="3291840"/>
            <a:ext cx="530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6th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440680" y="3108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440680" y="34015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NOT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333488" y="3236976"/>
            <a:ext cx="1463040" cy="475488"/>
          </a:xfrm>
          <a:prstGeom prst="rect">
            <a:avLst/>
          </a:prstGeom>
          <a:solidFill>
            <a:srgbClr val="1E1E2E"/>
          </a:solidFill>
          <a:ln w="12700">
            <a:solidFill>
              <a:srgbClr val="31324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79208" y="325526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9D3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True = False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65760" y="4041648"/>
            <a:ext cx="4160520" cy="841248"/>
          </a:xfrm>
          <a:prstGeom prst="rect">
            <a:avLst/>
          </a:prstGeom>
          <a:solidFill>
            <a:srgbClr val="161B22"/>
          </a:solidFill>
          <a:ln w="12700">
            <a:solidFill>
              <a:srgbClr val="FF7B72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65760" y="4041648"/>
            <a:ext cx="594360" cy="841248"/>
          </a:xfrm>
          <a:prstGeom prst="rect">
            <a:avLst/>
          </a:prstGeom>
          <a:solidFill>
            <a:srgbClr val="FF7B72">
              <a:alpha val="20000"/>
            </a:srgbClr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1480" y="4279392"/>
            <a:ext cx="530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7th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051560" y="40965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1051560" y="43891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AND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944368" y="4224528"/>
            <a:ext cx="1463040" cy="475488"/>
          </a:xfrm>
          <a:prstGeom prst="rect">
            <a:avLst/>
          </a:prstGeom>
          <a:solidFill>
            <a:srgbClr val="1E1E2E"/>
          </a:solidFill>
          <a:ln w="12700">
            <a:solidFill>
              <a:srgbClr val="31324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990088" y="424281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9D3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 and False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754880" y="4041648"/>
            <a:ext cx="4160520" cy="841248"/>
          </a:xfrm>
          <a:prstGeom prst="rect">
            <a:avLst/>
          </a:prstGeom>
          <a:solidFill>
            <a:srgbClr val="161B22"/>
          </a:solidFill>
          <a:ln w="12700">
            <a:solidFill>
              <a:srgbClr val="FF7B72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4754880" y="4041648"/>
            <a:ext cx="594360" cy="841248"/>
          </a:xfrm>
          <a:prstGeom prst="rect">
            <a:avLst/>
          </a:prstGeom>
          <a:solidFill>
            <a:srgbClr val="FF7B72">
              <a:alpha val="20000"/>
            </a:srgbClr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00600" y="4279392"/>
            <a:ext cx="530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8th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5440680" y="40965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5440680" y="43891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OR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7333488" y="4224528"/>
            <a:ext cx="1463040" cy="475488"/>
          </a:xfrm>
          <a:prstGeom prst="rect">
            <a:avLst/>
          </a:prstGeom>
          <a:solidFill>
            <a:srgbClr val="1E1E2E"/>
          </a:solidFill>
          <a:ln w="12700">
            <a:solidFill>
              <a:srgbClr val="31324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379208" y="424281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9D3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 or False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Casting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Converting between types — you must be explicit. Python won't guess.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1078992"/>
            <a:ext cx="4572000" cy="2084832"/>
          </a:xfrm>
          <a:prstGeom prst="rect">
            <a:avLst/>
          </a:prstGeom>
          <a:solidFill>
            <a:srgbClr val="F4F4F0"/>
          </a:solidFill>
          <a:ln w="12700">
            <a:solidFill>
              <a:srgbClr val="E0E0DA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078992"/>
            <a:ext cx="4572000" cy="256032"/>
          </a:xfrm>
          <a:prstGeom prst="rect">
            <a:avLst/>
          </a:prstGeom>
          <a:solidFill>
            <a:srgbClr val="E0E0DA"/>
          </a:solidFill>
          <a:ln w="12700">
            <a:solidFill>
              <a:srgbClr val="E0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1556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type conversion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1399032"/>
            <a:ext cx="4206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5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int("42")         </a:t>
            </a:r>
            <a:r>
              <a:rPr lang="en-US" sz="105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str  → int:    42</a:t>
            </a:r>
            <a:endParaRPr lang="en-US" sz="10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05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float("3.14")     </a:t>
            </a:r>
            <a:r>
              <a:rPr lang="en-US" sz="105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str  → float:  3.14</a:t>
            </a:r>
            <a:endParaRPr lang="en-US" sz="10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05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str(100)          </a:t>
            </a:r>
            <a:r>
              <a:rPr lang="en-US" sz="105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int  → str:   '100'</a:t>
            </a:r>
            <a:endParaRPr lang="en-US" sz="10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05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bool(0)           </a:t>
            </a:r>
            <a:r>
              <a:rPr lang="en-US" sz="105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int  → bool:  False</a:t>
            </a:r>
            <a:endParaRPr lang="en-US" sz="10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05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int(3.9)          </a:t>
            </a:r>
            <a:r>
              <a:rPr lang="en-US" sz="10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float→ int:    3  (truncates, not rounds!)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11480" y="3246120"/>
            <a:ext cx="4572000" cy="1572768"/>
          </a:xfrm>
          <a:prstGeom prst="rect">
            <a:avLst/>
          </a:prstGeom>
          <a:solidFill>
            <a:srgbClr val="FEF2F2"/>
          </a:solidFill>
          <a:ln w="19050">
            <a:solidFill>
              <a:srgbClr val="DC2626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383280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05840" y="33649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#1 beginner bug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66928" y="3675888"/>
            <a:ext cx="4251960" cy="1078992"/>
          </a:xfrm>
          <a:prstGeom prst="rect">
            <a:avLst/>
          </a:prstGeom>
          <a:solidFill>
            <a:srgbClr val="F4F4F0"/>
          </a:solidFill>
          <a:ln w="12700">
            <a:solidFill>
              <a:srgbClr val="E0E0DA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49808" y="3840480"/>
            <a:ext cx="3886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5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= input('Age: ')  </a:t>
            </a:r>
            <a:r>
              <a:rPr lang="en-US" sz="10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age is a STRING</a:t>
            </a:r>
            <a:endParaRPr lang="en-US" sz="10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05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print(age + 1)        </a:t>
            </a:r>
            <a:r>
              <a:rPr lang="en-US" sz="10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CRASH: TypeError</a:t>
            </a:r>
            <a:endParaRPr lang="en-US" sz="1050" dirty="0"/>
          </a:p>
          <a:p>
            <a:pPr marL="0" indent="0" algn="l">
              <a:lnSpc>
                <a:spcPct val="155000"/>
              </a:lnSpc>
              <a:buNone/>
            </a:pPr>
            <a:endParaRPr lang="en-US" sz="10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05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Fix: cast immediately</a:t>
            </a:r>
            <a:endParaRPr lang="en-US" sz="10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05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= int(input('Age: '))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120640" y="1115568"/>
            <a:ext cx="45720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257800" y="107899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all evaluate to False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166360" y="1481328"/>
            <a:ext cx="1600200" cy="365760"/>
          </a:xfrm>
          <a:prstGeom prst="roundRect">
            <a:avLst>
              <a:gd name="adj" fmla="val 20000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166360" y="148132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903720" y="1481328"/>
            <a:ext cx="1600200" cy="365760"/>
          </a:xfrm>
          <a:prstGeom prst="roundRect">
            <a:avLst>
              <a:gd name="adj" fmla="val 20000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903720" y="148132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166360" y="1956816"/>
            <a:ext cx="1600200" cy="365760"/>
          </a:xfrm>
          <a:prstGeom prst="roundRect">
            <a:avLst>
              <a:gd name="adj" fmla="val 20000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166360" y="1956816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903720" y="1956816"/>
            <a:ext cx="1600200" cy="365760"/>
          </a:xfrm>
          <a:prstGeom prst="roundRect">
            <a:avLst>
              <a:gd name="adj" fmla="val 20000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903720" y="1956816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166360" y="2432304"/>
            <a:ext cx="1600200" cy="365760"/>
          </a:xfrm>
          <a:prstGeom prst="roundRect">
            <a:avLst>
              <a:gd name="adj" fmla="val 20000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166360" y="2432304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903720" y="2432304"/>
            <a:ext cx="1600200" cy="365760"/>
          </a:xfrm>
          <a:prstGeom prst="roundRect">
            <a:avLst>
              <a:gd name="adj" fmla="val 20000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903720" y="2432304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{}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5166360" y="2907792"/>
            <a:ext cx="1600200" cy="365760"/>
          </a:xfrm>
          <a:prstGeom prst="roundRect">
            <a:avLst>
              <a:gd name="adj" fmla="val 20000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166360" y="290779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set()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6903720" y="2907792"/>
            <a:ext cx="1600200" cy="365760"/>
          </a:xfrm>
          <a:prstGeom prst="roundRect">
            <a:avLst>
              <a:gd name="adj" fmla="val 20000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903720" y="290779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5120640" y="3438144"/>
            <a:ext cx="45720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257800" y="340156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casting pattern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5120640" y="3803904"/>
            <a:ext cx="3611880" cy="1078992"/>
          </a:xfrm>
          <a:prstGeom prst="rect">
            <a:avLst/>
          </a:prstGeom>
          <a:solidFill>
            <a:srgbClr val="F4F4F0"/>
          </a:solidFill>
          <a:ln w="12700">
            <a:solidFill>
              <a:srgbClr val="E0E0DA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5303520" y="3968496"/>
            <a:ext cx="3246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5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try:</a:t>
            </a:r>
            <a:endParaRPr lang="en-US" sz="10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05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age = int(input('Age: '))</a:t>
            </a:r>
            <a:endParaRPr lang="en-US" sz="10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05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 ValueError:</a:t>
            </a:r>
            <a:endParaRPr lang="en-US" sz="10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05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print('Numbers only!')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8046720" y="482803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DA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900" dirty="0"/>
          </a:p>
        </p:txBody>
      </p:sp>
      <p:sp>
        <p:nvSpPr>
          <p:cNvPr id="36" name="Text 29">
            <a:extLst>
              <a:ext uri="{FF2B5EF4-FFF2-40B4-BE49-F238E27FC236}">
                <a16:creationId xmlns:a16="http://schemas.microsoft.com/office/drawing/2014/main" id="{D6C5DFA4-2682-67EA-4169-C406C49BE036}"/>
              </a:ext>
            </a:extLst>
          </p:cNvPr>
          <p:cNvSpPr/>
          <p:nvPr/>
        </p:nvSpPr>
        <p:spPr>
          <a:xfrm>
            <a:off x="5372100" y="7620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 Conversion</a:t>
            </a:r>
            <a:endParaRPr lang="en-US" sz="1100" dirty="0"/>
          </a:p>
        </p:txBody>
      </p:sp>
      <p:sp>
        <p:nvSpPr>
          <p:cNvPr id="42" name="Text 30"/>
          <p:cNvSpPr/>
          <p:nvPr/>
        </p:nvSpPr>
        <p:spPr>
          <a:xfrm>
            <a:off x="5372100" y="374904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auto-converts when it's safe: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+ 1.5 → 2.5 (int auto becomes float)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+ 1 → 2 (bool auto becomes int)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Input, Output &amp; F-Strings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Python talks to the user — and how to format output like a pro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1078992"/>
            <a:ext cx="5029200" cy="1261872"/>
          </a:xfrm>
          <a:prstGeom prst="rect">
            <a:avLst/>
          </a:prstGeom>
          <a:solidFill>
            <a:srgbClr val="F4F4F0"/>
          </a:solidFill>
          <a:ln w="12700">
            <a:solidFill>
              <a:srgbClr val="E0E0DA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078992"/>
            <a:ext cx="5029200" cy="256032"/>
          </a:xfrm>
          <a:prstGeom prst="rect">
            <a:avLst/>
          </a:prstGeom>
          <a:solidFill>
            <a:srgbClr val="E0E0DA"/>
          </a:solidFill>
          <a:ln w="12700">
            <a:solidFill>
              <a:srgbClr val="E0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1556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input() — always returns a string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1399032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5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 = input('Your name: ')          </a:t>
            </a:r>
            <a:r>
              <a:rPr lang="en-US" sz="105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always str</a:t>
            </a:r>
            <a:endParaRPr lang="en-US" sz="10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05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  = int(input('Your age: '))       </a:t>
            </a:r>
            <a:r>
              <a:rPr lang="en-US" sz="105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cast it</a:t>
            </a:r>
            <a:endParaRPr lang="en-US" sz="10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05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 = float(input('Price: '))        </a:t>
            </a:r>
            <a:r>
              <a:rPr lang="en-US" sz="105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decimals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11480" y="2487168"/>
            <a:ext cx="45720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45059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ways to format strings — only use one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2834640"/>
            <a:ext cx="5029200" cy="2057400"/>
          </a:xfrm>
          <a:prstGeom prst="rect">
            <a:avLst/>
          </a:prstGeom>
          <a:solidFill>
            <a:srgbClr val="F4F4F0"/>
          </a:solidFill>
          <a:ln w="12700">
            <a:solidFill>
              <a:srgbClr val="E0E0DA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999232"/>
            <a:ext cx="46634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50" dirty="0">
                <a:solidFill>
                  <a:srgbClr val="ADAD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Old (Python 2) — don't use</a:t>
            </a:r>
            <a:endParaRPr lang="en-US" sz="10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 %s" % name</a:t>
            </a:r>
            <a:endParaRPr lang="en-US" sz="1050" dirty="0"/>
          </a:p>
          <a:p>
            <a:pPr marL="0" indent="0" algn="l">
              <a:lnSpc>
                <a:spcPct val="155000"/>
              </a:lnSpc>
              <a:buNone/>
            </a:pPr>
            <a:endParaRPr lang="en-US" sz="10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050" dirty="0">
                <a:solidFill>
                  <a:srgbClr val="ADAD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.format() (outdated) — don't use</a:t>
            </a:r>
            <a:endParaRPr lang="en-US" sz="10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 {}".format(name)</a:t>
            </a:r>
            <a:endParaRPr lang="en-US" sz="1050" dirty="0"/>
          </a:p>
          <a:p>
            <a:pPr marL="0" indent="0" algn="l">
              <a:lnSpc>
                <a:spcPct val="155000"/>
              </a:lnSpc>
              <a:buNone/>
            </a:pPr>
            <a:endParaRPr lang="en-US" sz="10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05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f-string (Python 3.6+) — always use this</a:t>
            </a:r>
            <a:endParaRPr lang="en-US" sz="10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05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f"Hello {name}, you are {age} years old"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577840" y="1115568"/>
            <a:ext cx="45720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15000" y="107899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F-string format codes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577840" y="1463040"/>
            <a:ext cx="31546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715000" y="151790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{price:.2f}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150608" y="1517904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$9.50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715000" y="1737360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decimal places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577840" y="2029968"/>
            <a:ext cx="31546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715000" y="208483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{n:,}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150608" y="2084832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1,000,000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715000" y="2304288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comma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577840" y="2596896"/>
            <a:ext cx="31546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715000" y="265176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{n:05d}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150608" y="2651760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00042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715000" y="2871216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zero-pad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577840" y="3163824"/>
            <a:ext cx="31546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715000" y="321868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{s:&lt;10}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150608" y="3218688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'left      '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715000" y="3438144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left-align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577840" y="3730752"/>
            <a:ext cx="31546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715000" y="378561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{s:&gt;10}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150608" y="3785616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'     right'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715000" y="4005072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right-align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577840" y="4297680"/>
            <a:ext cx="31546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715000" y="435254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{v!r}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150608" y="4352544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'hello'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715000" y="4572000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repr (quotes)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8046720" y="482803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DA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09728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91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1 — BMI Calculator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320040" y="713232"/>
            <a:ext cx="1111910" cy="237744"/>
          </a:xfrm>
          <a:prstGeom prst="roundRect">
            <a:avLst>
              <a:gd name="adj" fmla="val 50000"/>
            </a:avLst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29184" y="731520"/>
            <a:ext cx="109362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casting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389888" y="713232"/>
            <a:ext cx="969264" cy="237744"/>
          </a:xfrm>
          <a:prstGeom prst="roundRect">
            <a:avLst>
              <a:gd name="adj" fmla="val 50000"/>
            </a:avLst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399032" y="731520"/>
            <a:ext cx="950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2304288" y="713232"/>
            <a:ext cx="1397203" cy="237744"/>
          </a:xfrm>
          <a:prstGeom prst="roundRect">
            <a:avLst>
              <a:gd name="adj" fmla="val 50000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313432" y="731520"/>
            <a:ext cx="13789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/ elif / else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401568" y="713232"/>
            <a:ext cx="897941" cy="237744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410712" y="731520"/>
            <a:ext cx="87965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F-strings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11480" y="960120"/>
            <a:ext cx="4754880" cy="3950208"/>
          </a:xfrm>
          <a:prstGeom prst="rect">
            <a:avLst/>
          </a:prstGeom>
          <a:solidFill>
            <a:srgbClr val="F4F4F0"/>
          </a:solidFill>
          <a:ln w="12700">
            <a:solidFill>
              <a:srgbClr val="E0E0DA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94360" y="1124712"/>
            <a:ext cx="4389120" cy="3675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5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weight = float(input('Weight in kg: '))</a:t>
            </a:r>
            <a:endParaRPr lang="en-US" sz="10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05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height = float(input('Height in m:  '))</a:t>
            </a:r>
            <a:endParaRPr lang="en-US" sz="1050" dirty="0"/>
          </a:p>
          <a:p>
            <a:pPr marL="0" indent="0" algn="l">
              <a:lnSpc>
                <a:spcPct val="155000"/>
              </a:lnSpc>
              <a:buNone/>
            </a:pPr>
            <a:endParaRPr lang="en-US" sz="10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05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bmi = weight / (height ** 2)</a:t>
            </a:r>
            <a:endParaRPr lang="en-US" sz="1050" dirty="0"/>
          </a:p>
          <a:p>
            <a:pPr marL="0" indent="0" algn="l">
              <a:lnSpc>
                <a:spcPct val="155000"/>
              </a:lnSpc>
              <a:buNone/>
            </a:pPr>
            <a:endParaRPr lang="en-US" sz="10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05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bmi &lt; 18.5:</a:t>
            </a:r>
            <a:endParaRPr lang="en-US" sz="10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05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verdict = "Underweight"</a:t>
            </a:r>
            <a:endParaRPr lang="en-US" sz="10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05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bmi &lt; 25:</a:t>
            </a:r>
            <a:endParaRPr lang="en-US" sz="10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05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verdict = "Normal"</a:t>
            </a:r>
            <a:endParaRPr lang="en-US" sz="10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05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bmi &lt; 30:</a:t>
            </a:r>
            <a:endParaRPr lang="en-US" sz="10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05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verdict = "Overweight"</a:t>
            </a:r>
            <a:endParaRPr lang="en-US" sz="10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05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10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05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verdict = "Obese"</a:t>
            </a:r>
            <a:endParaRPr lang="en-US" sz="1050" dirty="0"/>
          </a:p>
          <a:p>
            <a:pPr marL="0" indent="0" algn="l">
              <a:lnSpc>
                <a:spcPct val="155000"/>
              </a:lnSpc>
              <a:buNone/>
            </a:pPr>
            <a:endParaRPr lang="en-US" sz="10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05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print(f'BMI: {bmi:.1f} — {verdict}')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349240" y="996696"/>
            <a:ext cx="45720" cy="29260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0" y="96012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moments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349240" y="1353312"/>
            <a:ext cx="33832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349240" y="1353312"/>
            <a:ext cx="45720" cy="7772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504688" y="1444752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float() not int()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504688" y="1700784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 can be 1.75 — not just whole metres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349240" y="2249424"/>
            <a:ext cx="33832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349240" y="2249424"/>
            <a:ext cx="45720" cy="7772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504688" y="2340864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 for powers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504688" y="2596896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^ (that's bitwise XOR in Python)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349240" y="3145536"/>
            <a:ext cx="33832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5349240" y="3145536"/>
            <a:ext cx="45720" cy="777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504688" y="3236976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elif logic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504688" y="349300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&lt; 18.5 is handled, elif only sees &gt;= 18.5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349240" y="4041648"/>
            <a:ext cx="33832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5349240" y="4041648"/>
            <a:ext cx="45720" cy="7772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504688" y="4133088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:.1f in f-string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5532120" y="42748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decimal place — try :.2f and see the difference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5417820" y="4672584"/>
            <a:ext cx="3383280" cy="384048"/>
          </a:xfrm>
          <a:prstGeom prst="rect">
            <a:avLst/>
          </a:prstGeom>
          <a:solidFill>
            <a:srgbClr val="F4F4F0"/>
          </a:solidFill>
          <a:ln w="12700">
            <a:solidFill>
              <a:srgbClr val="E0E0DA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486400" y="464515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70kg, 1.75m  →  BMI: 22.9 — Normal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8046720" y="482803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DA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09728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91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2 — Currency Converter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320040" y="713232"/>
            <a:ext cx="897941" cy="237744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29184" y="731520"/>
            <a:ext cx="87965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Constants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207008" y="713232"/>
            <a:ext cx="1539850" cy="237744"/>
          </a:xfrm>
          <a:prstGeom prst="roundRect">
            <a:avLst>
              <a:gd name="adj" fmla="val 50000"/>
            </a:avLst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216152" y="731520"/>
            <a:ext cx="152156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F-string alignment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2578608" y="713232"/>
            <a:ext cx="1397203" cy="237744"/>
          </a:xfrm>
          <a:prstGeom prst="roundRect">
            <a:avLst>
              <a:gd name="adj" fmla="val 50000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587752" y="731520"/>
            <a:ext cx="13789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outputs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4846320" cy="4069080"/>
          </a:xfrm>
          <a:prstGeom prst="rect">
            <a:avLst/>
          </a:prstGeom>
          <a:solidFill>
            <a:srgbClr val="F4F4F0"/>
          </a:solidFill>
          <a:ln w="12700">
            <a:solidFill>
              <a:srgbClr val="E0E0DA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94360" y="1124712"/>
            <a:ext cx="44805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Constants — ALL_CAPS by convention</a:t>
            </a:r>
            <a:endParaRPr lang="en-US" sz="10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05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PKR_RATE = 278.50</a:t>
            </a:r>
            <a:endParaRPr lang="en-US" sz="10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05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EUR_RATE = 0.92</a:t>
            </a:r>
            <a:endParaRPr lang="en-US" sz="10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05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GBP_RATE = 0.79</a:t>
            </a:r>
            <a:endParaRPr lang="en-US" sz="1050" dirty="0"/>
          </a:p>
          <a:p>
            <a:pPr marL="0" indent="0" algn="l">
              <a:lnSpc>
                <a:spcPct val="155000"/>
              </a:lnSpc>
              <a:buNone/>
            </a:pPr>
            <a:endParaRPr lang="en-US" sz="10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05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usd = float(input('Enter USD: $'))</a:t>
            </a:r>
            <a:endParaRPr lang="en-US" sz="1050" dirty="0"/>
          </a:p>
          <a:p>
            <a:pPr marL="0" indent="0" algn="l">
              <a:lnSpc>
                <a:spcPct val="155000"/>
              </a:lnSpc>
              <a:buNone/>
            </a:pPr>
            <a:endParaRPr lang="en-US" sz="10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Calculate all three</a:t>
            </a:r>
            <a:endParaRPr lang="en-US" sz="10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05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pkr, eur, gbp = usd * PKR_RATE, usd * EUR_RATE, usd * GBP_RATE</a:t>
            </a:r>
            <a:endParaRPr lang="en-US" sz="1050" dirty="0"/>
          </a:p>
          <a:p>
            <a:pPr marL="0" indent="0" algn="l">
              <a:lnSpc>
                <a:spcPct val="155000"/>
              </a:lnSpc>
              <a:buNone/>
            </a:pPr>
            <a:endParaRPr lang="en-US" sz="10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Formatted receipt-style output</a:t>
            </a:r>
            <a:endParaRPr lang="en-US" sz="10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05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print(f"{'Currency':&lt;12} {'Amount':&gt;14}")</a:t>
            </a:r>
            <a:endParaRPr lang="en-US" sz="10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05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print("-" * 27)</a:t>
            </a:r>
            <a:endParaRPr lang="en-US" sz="10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05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print(f"{'PKR':&lt;12} {pkr:&gt;14,.2f}")</a:t>
            </a:r>
            <a:endParaRPr lang="en-US" sz="10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05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print(f"{'EUR':&lt;12} {eur:&gt;14,.2f}")</a:t>
            </a:r>
            <a:endParaRPr lang="en-US" sz="10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05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print(f"{'GBP':&lt;12} {gbp:&gt;14,.2f}")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394960" y="996696"/>
            <a:ext cx="45720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532120" y="960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teaches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394960" y="1353312"/>
            <a:ext cx="33375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394960" y="1353312"/>
            <a:ext cx="45720" cy="777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550408" y="144475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ALL_CAPS constants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550408" y="170078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dev reading your code instantly knows: don't change this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394960" y="2249424"/>
            <a:ext cx="33375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394960" y="2249424"/>
            <a:ext cx="45720" cy="7772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550408" y="234086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:,  format code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550408" y="259689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pkr = 27850 prints as 27,850.00 — much more readable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394960" y="3145536"/>
            <a:ext cx="33375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5394960" y="3145536"/>
            <a:ext cx="45720" cy="7772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550408" y="323697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:&lt;12  and  :&gt;14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550408" y="349300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Left/right align in fixed-width columns — professional CLI output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394960" y="4041648"/>
            <a:ext cx="33375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5394960" y="4041648"/>
            <a:ext cx="45720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550408" y="413308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context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5550408" y="43891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production: get these rates from a currency API in real-time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394960" y="4590288"/>
            <a:ext cx="3337560" cy="384048"/>
          </a:xfrm>
          <a:prstGeom prst="rect">
            <a:avLst/>
          </a:prstGeom>
          <a:solidFill>
            <a:srgbClr val="F4F4F0"/>
          </a:solidFill>
          <a:ln w="12700">
            <a:solidFill>
              <a:srgbClr val="E0E0D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486400" y="4713732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Currency        Amount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-------------------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PKR         27,850.00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8046720" y="482803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DA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09728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91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3 — Intentionally Break Your Code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41148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each snippet. Predict the error first. Then read the traceback.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11480" y="10789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TypeError — wrong types in operation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11480" y="1371600"/>
            <a:ext cx="4206240" cy="868680"/>
          </a:xfrm>
          <a:prstGeom prst="rect">
            <a:avLst/>
          </a:prstGeom>
          <a:solidFill>
            <a:srgbClr val="F4F4F0"/>
          </a:solidFill>
          <a:ln w="12700">
            <a:solidFill>
              <a:srgbClr val="E0E0DA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94360" y="153619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5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= input("Age: ")</a:t>
            </a:r>
            <a:endParaRPr lang="en-US" sz="10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05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print("Next year:", age + 1)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754880" y="1371600"/>
            <a:ext cx="3977640" cy="86868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92040" y="1426464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TypeError: can only concatenate str (not 'int') to str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892040" y="190195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age = int(input("Age: "))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11480" y="24048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ValueError — right type, wrong value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11480" y="2697480"/>
            <a:ext cx="4206240" cy="868680"/>
          </a:xfrm>
          <a:prstGeom prst="rect">
            <a:avLst/>
          </a:prstGeom>
          <a:solidFill>
            <a:srgbClr val="F4F4F0"/>
          </a:solidFill>
          <a:ln w="12700">
            <a:solidFill>
              <a:srgbClr val="E0E0DA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94360" y="286207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5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 = int("hello")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754880" y="2697480"/>
            <a:ext cx="3977640" cy="868680"/>
          </a:xfrm>
          <a:prstGeom prst="rect">
            <a:avLst/>
          </a:prstGeom>
          <a:solidFill>
            <a:srgbClr val="FEF2F2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92040" y="2752344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ValueError: invalid literal for int() with base 10: 'hello'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4892040" y="322783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Only cast strings that look like numbers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11480" y="37307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silent bug — NO error, wrong result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11480" y="4023360"/>
            <a:ext cx="4206240" cy="868680"/>
          </a:xfrm>
          <a:prstGeom prst="rect">
            <a:avLst/>
          </a:prstGeom>
          <a:solidFill>
            <a:srgbClr val="F4F4F0"/>
          </a:solidFill>
          <a:ln w="12700">
            <a:solidFill>
              <a:srgbClr val="E0E0DA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594360" y="409651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5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"5"</a:t>
            </a:r>
            <a:endParaRPr lang="en-US" sz="10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05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"3"</a:t>
            </a:r>
            <a:endParaRPr lang="en-US" sz="10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05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 + b)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754880" y="4023360"/>
            <a:ext cx="3977640" cy="868680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892040" y="4078224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error! But prints 53 not 8 — string + string concatenates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4892040" y="455371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a = int('5')  →  then 5 + 3 = 8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457200" y="4815840"/>
            <a:ext cx="8321040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48640" y="480060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tip:  Always read the LAST line of a traceback first — that's where the actual error lives.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8046720" y="482803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DA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String Methods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 are everywhere — these methods will save you every day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8138160" cy="0"/>
          </a:xfrm>
          <a:prstGeom prst="line">
            <a:avLst/>
          </a:prstGeom>
          <a:noFill/>
          <a:ln w="12700">
            <a:solidFill>
              <a:srgbClr val="E8E8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170432"/>
            <a:ext cx="4160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170432"/>
            <a:ext cx="45720" cy="6583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1243584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s.upper()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148840" y="1243584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"hello".upper()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703320" y="1243584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"HELLO"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76072" y="1517904"/>
            <a:ext cx="3840480" cy="0"/>
          </a:xfrm>
          <a:prstGeom prst="line">
            <a:avLst/>
          </a:prstGeom>
          <a:noFill/>
          <a:ln w="12700">
            <a:solidFill>
              <a:srgbClr val="E8E8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00600" y="1170432"/>
            <a:ext cx="4160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00600" y="1170432"/>
            <a:ext cx="45720" cy="6583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65192" y="1243584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s.lower()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537960" y="1243584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"HELLO".lower()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92440" y="1243584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"hello"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65192" y="1517904"/>
            <a:ext cx="3840480" cy="0"/>
          </a:xfrm>
          <a:prstGeom prst="line">
            <a:avLst/>
          </a:prstGeom>
          <a:noFill/>
          <a:ln w="12700">
            <a:solidFill>
              <a:srgbClr val="E8E8E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1920240"/>
            <a:ext cx="4160520" cy="658368"/>
          </a:xfrm>
          <a:prstGeom prst="rect">
            <a:avLst/>
          </a:prstGeom>
          <a:solidFill>
            <a:srgbClr val="F7F7F5"/>
          </a:solidFill>
          <a:ln w="12700">
            <a:solidFill>
              <a:srgbClr val="E8E8E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1920240"/>
            <a:ext cx="45720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" y="1993392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s.strip()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148840" y="1993392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hi ".strip()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703320" y="1993392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"hi"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76072" y="2267712"/>
            <a:ext cx="3840480" cy="0"/>
          </a:xfrm>
          <a:prstGeom prst="line">
            <a:avLst/>
          </a:prstGeom>
          <a:noFill/>
          <a:ln w="12700">
            <a:solidFill>
              <a:srgbClr val="E8E8E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00600" y="1920240"/>
            <a:ext cx="4160520" cy="658368"/>
          </a:xfrm>
          <a:prstGeom prst="rect">
            <a:avLst/>
          </a:prstGeom>
          <a:solidFill>
            <a:srgbClr val="F7F7F5"/>
          </a:solidFill>
          <a:ln w="12700">
            <a:solidFill>
              <a:srgbClr val="E8E8E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00600" y="1920240"/>
            <a:ext cx="45720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65192" y="1993392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s.replace(a, b)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537960" y="1993392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"hello".replace("l","r")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092440" y="1993392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"herro"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965192" y="2267712"/>
            <a:ext cx="3840480" cy="0"/>
          </a:xfrm>
          <a:prstGeom prst="line">
            <a:avLst/>
          </a:prstGeom>
          <a:noFill/>
          <a:ln w="12700">
            <a:solidFill>
              <a:srgbClr val="E8E8E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1480" y="2670048"/>
            <a:ext cx="4160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1480" y="2670048"/>
            <a:ext cx="45720" cy="65836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6072" y="2743200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s.split(",")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148840" y="2743200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"a,b,c".split(",")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703320" y="274320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["a","b","c"]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76072" y="3017520"/>
            <a:ext cx="3840480" cy="0"/>
          </a:xfrm>
          <a:prstGeom prst="line">
            <a:avLst/>
          </a:prstGeom>
          <a:noFill/>
          <a:ln w="12700">
            <a:solidFill>
              <a:srgbClr val="E8E8E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00600" y="2670048"/>
            <a:ext cx="4160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00600" y="2670048"/>
            <a:ext cx="45720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65192" y="2743200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s.startswith("H")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537960" y="2743200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"Hi".startswith("H")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092440" y="274320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True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965192" y="3017520"/>
            <a:ext cx="3840480" cy="0"/>
          </a:xfrm>
          <a:prstGeom prst="line">
            <a:avLst/>
          </a:prstGeom>
          <a:noFill/>
          <a:ln w="12700">
            <a:solidFill>
              <a:srgbClr val="E8E8E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11480" y="3419856"/>
            <a:ext cx="4160520" cy="658368"/>
          </a:xfrm>
          <a:prstGeom prst="rect">
            <a:avLst/>
          </a:prstGeom>
          <a:solidFill>
            <a:srgbClr val="F7F7F5"/>
          </a:solidFill>
          <a:ln w="12700">
            <a:solidFill>
              <a:srgbClr val="E8E8E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11480" y="3419856"/>
            <a:ext cx="45720" cy="658368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76072" y="3493008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len(s)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2148840" y="3493008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len("hello")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703320" y="3493008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5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76072" y="3767328"/>
            <a:ext cx="3840480" cy="0"/>
          </a:xfrm>
          <a:prstGeom prst="line">
            <a:avLst/>
          </a:prstGeom>
          <a:noFill/>
          <a:ln w="12700">
            <a:solidFill>
              <a:srgbClr val="E8E8E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800600" y="3419856"/>
            <a:ext cx="4160520" cy="658368"/>
          </a:xfrm>
          <a:prstGeom prst="rect">
            <a:avLst/>
          </a:prstGeom>
          <a:solidFill>
            <a:srgbClr val="F7F7F5"/>
          </a:solidFill>
          <a:ln w="12700">
            <a:solidFill>
              <a:srgbClr val="E8E8E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800600" y="3419856"/>
            <a:ext cx="45720" cy="658368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65192" y="3493008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s[0]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6537960" y="3493008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"hello"[0]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092440" y="3493008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"h"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965192" y="3767328"/>
            <a:ext cx="3840480" cy="0"/>
          </a:xfrm>
          <a:prstGeom prst="line">
            <a:avLst/>
          </a:prstGeom>
          <a:noFill/>
          <a:ln w="12700">
            <a:solidFill>
              <a:srgbClr val="E8E8E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11480" y="4169664"/>
            <a:ext cx="4160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11480" y="4169664"/>
            <a:ext cx="45720" cy="658368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76072" y="4242816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s[-1]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2148840" y="4242816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"hello"[-1]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3703320" y="4242816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"o"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576072" y="4517136"/>
            <a:ext cx="3840480" cy="0"/>
          </a:xfrm>
          <a:prstGeom prst="line">
            <a:avLst/>
          </a:prstGeom>
          <a:noFill/>
          <a:ln w="12700">
            <a:solidFill>
              <a:srgbClr val="E8E8E4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800600" y="4169664"/>
            <a:ext cx="4160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800600" y="4169664"/>
            <a:ext cx="45720" cy="6583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965192" y="4242816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"x" in s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6537960" y="4242816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"el" in "hello"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8092440" y="4242816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True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4965192" y="4517136"/>
            <a:ext cx="3840480" cy="0"/>
          </a:xfrm>
          <a:prstGeom prst="line">
            <a:avLst/>
          </a:prstGeom>
          <a:noFill/>
          <a:ln w="12700">
            <a:solidFill>
              <a:srgbClr val="E8E8E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046720" y="482803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DA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Escape Sequences &amp; String Tricks</a:t>
            </a:r>
            <a:endParaRPr lang="en-US" sz="27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string tools you'll use every single day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024128"/>
            <a:ext cx="4343400" cy="1901952"/>
          </a:xfrm>
          <a:prstGeom prst="rect">
            <a:avLst/>
          </a:prstGeom>
          <a:solidFill>
            <a:srgbClr val="1E1E2E"/>
          </a:solidFill>
          <a:ln w="12700">
            <a:solidFill>
              <a:srgbClr val="313244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33856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133856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133856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298448"/>
            <a:ext cx="4123944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Escape sequences</a:t>
            </a:r>
            <a:endParaRPr lang="en-US" sz="10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0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0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("Line 1\nLine 2")</a:t>
            </a:r>
            <a:r>
              <a:rPr lang="en-US" sz="10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# \n = newline</a:t>
            </a:r>
            <a:endParaRPr lang="en-US" sz="10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0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0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("Col1\tCol2")</a:t>
            </a:r>
            <a:r>
              <a:rPr lang="en-US" sz="10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\t = tab</a:t>
            </a:r>
            <a:endParaRPr lang="en-US" sz="10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0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0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("Say \"hello\"")</a:t>
            </a:r>
            <a:r>
              <a:rPr lang="en-US" sz="10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\" = quote</a:t>
            </a:r>
            <a:endParaRPr lang="en-US" sz="10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0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0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("C:\\Users")</a:t>
            </a:r>
            <a:r>
              <a:rPr lang="en-US" sz="10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\\ = backslash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2999232"/>
            <a:ext cx="4343400" cy="1755648"/>
          </a:xfrm>
          <a:prstGeom prst="rect">
            <a:avLst/>
          </a:prstGeom>
          <a:solidFill>
            <a:srgbClr val="1E1E2E"/>
          </a:solidFill>
          <a:ln w="12700">
            <a:solidFill>
              <a:srgbClr val="313244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3108960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3108960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3108960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3273552"/>
            <a:ext cx="41239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Multi-line strings with triple quotes</a:t>
            </a:r>
            <a:endParaRPr lang="en-US" sz="10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0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 = </a:t>
            </a: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</a:t>
            </a:r>
            <a:endParaRPr lang="en-US" sz="10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Ali</a:t>
            </a:r>
            <a:endParaRPr lang="en-US" sz="10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Age:  25</a:t>
            </a:r>
            <a:endParaRPr lang="en-US" sz="10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Goal: Build AI apps</a:t>
            </a:r>
            <a:endParaRPr lang="en-US" sz="10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</a:t>
            </a:r>
            <a:endParaRPr lang="en-US" sz="10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0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0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(bio)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846320" y="10241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str methods:</a:t>
            </a:r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846320" y="1371600"/>
            <a:ext cx="3931920" cy="33832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46320" y="1371600"/>
            <a:ext cx="45720" cy="33832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56048" y="142646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s.upper()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0" y="142646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1755648"/>
            <a:ext cx="3931920" cy="33832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1755648"/>
            <a:ext cx="45720" cy="33832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56048" y="181051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s.lower()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58000" y="181051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46320" y="2139696"/>
            <a:ext cx="3931920" cy="33832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46320" y="2139696"/>
            <a:ext cx="45720" cy="33832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56048" y="219456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s.strip()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58000" y="219456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whitespace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46320" y="2523744"/>
            <a:ext cx="3931920" cy="33832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46320" y="2523744"/>
            <a:ext cx="45720" cy="33832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56048" y="257860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s.replace(a,b)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858000" y="2578608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substitutes text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46320" y="2907792"/>
            <a:ext cx="3931920" cy="33832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46320" y="2907792"/>
            <a:ext cx="45720" cy="338328"/>
          </a:xfrm>
          <a:prstGeom prst="rect">
            <a:avLst/>
          </a:prstGeom>
          <a:solidFill>
            <a:srgbClr val="FFA657"/>
          </a:solidFill>
          <a:ln w="12700">
            <a:solidFill>
              <a:srgbClr val="FFA65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56048" y="296265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s.split(",")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858000" y="2962656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into a list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46320" y="3291840"/>
            <a:ext cx="3931920" cy="33832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46320" y="3291840"/>
            <a:ext cx="45720" cy="338328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56048" y="334670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s.startswith()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858000" y="334670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True/False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46320" y="3675888"/>
            <a:ext cx="3931920" cy="33832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46320" y="3675888"/>
            <a:ext cx="45720" cy="338328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56048" y="373075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len(s)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858000" y="373075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characters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846320" y="4059936"/>
            <a:ext cx="3931920" cy="33832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846320" y="4059936"/>
            <a:ext cx="45720" cy="338328"/>
          </a:xfrm>
          <a:prstGeom prst="rect">
            <a:avLst/>
          </a:prstGeom>
          <a:solidFill>
            <a:srgbClr val="39D3BB"/>
          </a:solidFill>
          <a:ln w="12700">
            <a:solidFill>
              <a:srgbClr val="39D3B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56048" y="41148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9D3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s[0]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858000" y="411480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character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846320" y="4443984"/>
            <a:ext cx="3931920" cy="33832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846320" y="4443984"/>
            <a:ext cx="45720" cy="338328"/>
          </a:xfrm>
          <a:prstGeom prst="rect">
            <a:avLst/>
          </a:prstGeom>
          <a:solidFill>
            <a:srgbClr val="39D3BB"/>
          </a:solidFill>
          <a:ln w="12700">
            <a:solidFill>
              <a:srgbClr val="39D3B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56048" y="449884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9D3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s[-1]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858000" y="4498848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character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91919"/>
          </a:solidFill>
          <a:ln w="12700">
            <a:solidFill>
              <a:srgbClr val="191919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09728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91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1 — Use All 6 Types in One Script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11480" y="804672"/>
            <a:ext cx="8500403" cy="4283964"/>
          </a:xfrm>
          <a:prstGeom prst="rect">
            <a:avLst/>
          </a:prstGeom>
          <a:solidFill>
            <a:srgbClr val="F4F4F0"/>
          </a:solidFill>
          <a:ln w="12700">
            <a:solidFill>
              <a:srgbClr val="E0E0DA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94360" y="969264"/>
            <a:ext cx="7955280" cy="3858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day02_types.py</a:t>
            </a:r>
            <a:endParaRPr lang="en-US" sz="10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05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       = </a:t>
            </a:r>
            <a:endParaRPr lang="en-US" sz="10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05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"Ali Hassan"</a:t>
            </a:r>
            <a:r>
              <a:rPr lang="en-US" sz="105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# str</a:t>
            </a:r>
            <a:endParaRPr lang="en-US" sz="10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05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        = </a:t>
            </a:r>
            <a:r>
              <a:rPr lang="en-US" sz="10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</a:t>
            </a:r>
            <a:r>
              <a:rPr lang="en-US" sz="105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# int</a:t>
            </a:r>
            <a:endParaRPr lang="en-US" sz="10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05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height      = </a:t>
            </a:r>
            <a:r>
              <a:rPr lang="en-US" sz="1050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5.9</a:t>
            </a:r>
            <a:r>
              <a:rPr lang="en-US" sz="105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# float</a:t>
            </a:r>
            <a:endParaRPr lang="en-US" sz="10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05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is_student  = </a:t>
            </a: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05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# bool</a:t>
            </a:r>
            <a:endParaRPr lang="en-US" sz="10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05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middle_name = </a:t>
            </a:r>
            <a:r>
              <a:rPr lang="en-US" sz="10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r>
              <a:rPr lang="en-US" sz="105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# NoneType</a:t>
            </a:r>
            <a:endParaRPr lang="en-US" sz="10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05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frequency   = </a:t>
            </a:r>
            <a:r>
              <a:rPr lang="en-US" sz="105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3+4j           # complex</a:t>
            </a:r>
            <a:endParaRPr lang="en-US" sz="1050" dirty="0"/>
          </a:p>
          <a:p>
            <a:pPr marL="0" indent="0" algn="l">
              <a:lnSpc>
                <a:spcPct val="155000"/>
              </a:lnSpc>
              <a:buNone/>
            </a:pPr>
            <a:endParaRPr lang="en-US" sz="10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05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variables = [name, age, height, is_student, middle_name, frequency]</a:t>
            </a:r>
            <a:endParaRPr lang="en-US" sz="10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05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v in variables:</a:t>
            </a:r>
            <a:endParaRPr lang="en-US" sz="10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05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print(f"{type(v).__name__:&lt;10} → {v!r}")</a:t>
            </a:r>
            <a:endParaRPr lang="en-US" sz="1050" dirty="0"/>
          </a:p>
          <a:p>
            <a:pPr marL="0" indent="0" algn="l">
              <a:lnSpc>
                <a:spcPct val="155000"/>
              </a:lnSpc>
              <a:buNone/>
            </a:pPr>
            <a:endParaRPr lang="en-US" sz="10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Then commit:</a:t>
            </a:r>
            <a:endParaRPr lang="en-US" sz="10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05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day02_types.py &amp;&amp; git commit -m "Day 2: all 6 types" &amp;&amp; git push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57200" y="486003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output: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600200" y="4816778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        → 'Ali Hassan'   |   int  → 25   |   float → 5.9   |   bool → True   |   NoneType → None   |   complex → (3+4j)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8046720" y="482803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DA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42559889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Quiz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DA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code in your notebook — first correct answer wins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813816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234440"/>
            <a:ext cx="2788920" cy="1572768"/>
          </a:xfrm>
          <a:prstGeom prst="rect">
            <a:avLst/>
          </a:prstGeom>
          <a:solidFill>
            <a:srgbClr val="1A1A1A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9496" y="1344168"/>
            <a:ext cx="438912" cy="256032"/>
          </a:xfrm>
          <a:prstGeom prst="roundRect">
            <a:avLst>
              <a:gd name="adj" fmla="val 35714"/>
            </a:avLst>
          </a:prstGeom>
          <a:solidFill>
            <a:srgbClr val="16A34A">
              <a:alpha val="20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9496" y="1344168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39496" y="1673352"/>
            <a:ext cx="2532888" cy="658368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" y="1709928"/>
            <a:ext cx="23865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"3"</a:t>
            </a:r>
            <a:endParaRPr lang="en-US" sz="10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print(x * 4)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39496" y="2404872"/>
            <a:ext cx="2532888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9496" y="2459736"/>
            <a:ext cx="253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"3333" — string * int repeats the string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91840" y="1234440"/>
            <a:ext cx="2788920" cy="1572768"/>
          </a:xfrm>
          <a:prstGeom prst="rect">
            <a:avLst/>
          </a:prstGeom>
          <a:solidFill>
            <a:srgbClr val="1A1A1A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19856" y="1344168"/>
            <a:ext cx="438912" cy="256032"/>
          </a:xfrm>
          <a:prstGeom prst="roundRect">
            <a:avLst>
              <a:gd name="adj" fmla="val 35714"/>
            </a:avLst>
          </a:prstGeom>
          <a:solidFill>
            <a:srgbClr val="2563EB">
              <a:alpha val="2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19856" y="1344168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419856" y="1673352"/>
            <a:ext cx="2532888" cy="658368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93008" y="1709928"/>
            <a:ext cx="23865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10 / 2</a:t>
            </a:r>
            <a:endParaRPr lang="en-US" sz="10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print(type(result))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19856" y="2404872"/>
            <a:ext cx="2532888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19856" y="2459736"/>
            <a:ext cx="253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&lt;class 'float'&gt; — division always returns float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72200" y="1234440"/>
            <a:ext cx="2834640" cy="1572768"/>
          </a:xfrm>
          <a:prstGeom prst="rect">
            <a:avLst/>
          </a:prstGeom>
          <a:solidFill>
            <a:srgbClr val="1A1A1A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00216" y="1344168"/>
            <a:ext cx="438912" cy="256032"/>
          </a:xfrm>
          <a:prstGeom prst="roundRect">
            <a:avLst>
              <a:gd name="adj" fmla="val 35714"/>
            </a:avLst>
          </a:prstGeom>
          <a:solidFill>
            <a:srgbClr val="EA580C">
              <a:alpha val="20000"/>
            </a:srgbClr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0216" y="1344168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300216" y="1673352"/>
            <a:ext cx="2578608" cy="658368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73368" y="1709928"/>
            <a:ext cx="24323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print(bool(0.0) == bool(""))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300216" y="2404872"/>
            <a:ext cx="2578608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0216" y="2459736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True — both are False, and False == False is True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11480" y="2971800"/>
            <a:ext cx="2788920" cy="1572768"/>
          </a:xfrm>
          <a:prstGeom prst="rect">
            <a:avLst/>
          </a:prstGeom>
          <a:solidFill>
            <a:srgbClr val="1A1A1A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9496" y="3081528"/>
            <a:ext cx="438912" cy="256032"/>
          </a:xfrm>
          <a:prstGeom prst="roundRect">
            <a:avLst>
              <a:gd name="adj" fmla="val 35714"/>
            </a:avLst>
          </a:prstGeom>
          <a:solidFill>
            <a:srgbClr val="7C3AED">
              <a:alpha val="2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9496" y="3081528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39496" y="3410712"/>
            <a:ext cx="2532888" cy="658368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2648" y="3447288"/>
            <a:ext cx="23865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Fix this:</a:t>
            </a:r>
            <a:endParaRPr lang="en-US" sz="10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= input("Age: ")</a:t>
            </a:r>
            <a:endParaRPr lang="en-US" sz="10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print(age + 1)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39496" y="4142232"/>
            <a:ext cx="2532888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9496" y="4197096"/>
            <a:ext cx="253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age = int(input("Age: "))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91840" y="2971800"/>
            <a:ext cx="2788920" cy="1572768"/>
          </a:xfrm>
          <a:prstGeom prst="rect">
            <a:avLst/>
          </a:prstGeom>
          <a:solidFill>
            <a:srgbClr val="1A1A1A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419856" y="3081528"/>
            <a:ext cx="438912" cy="256032"/>
          </a:xfrm>
          <a:prstGeom prst="roundRect">
            <a:avLst>
              <a:gd name="adj" fmla="val 35714"/>
            </a:avLst>
          </a:prstGeom>
          <a:solidFill>
            <a:srgbClr val="DC2626">
              <a:alpha val="20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19856" y="3081528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419856" y="3410712"/>
            <a:ext cx="2532888" cy="658368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93008" y="3447288"/>
            <a:ext cx="23865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print(not not not True)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419856" y="4142232"/>
            <a:ext cx="2532888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19856" y="4197096"/>
            <a:ext cx="253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False — three nots: True→False→True→False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046720" y="482803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DA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Challenges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all three files to GitHub before tomorrow's class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8138160" cy="0"/>
          </a:xfrm>
          <a:prstGeom prst="line">
            <a:avLst/>
          </a:prstGeom>
          <a:noFill/>
          <a:ln w="12700">
            <a:solidFill>
              <a:srgbClr val="E8E8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207008"/>
            <a:ext cx="83210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207008"/>
            <a:ext cx="45720" cy="8046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463040"/>
            <a:ext cx="384048" cy="274320"/>
          </a:xfrm>
          <a:prstGeom prst="roundRect">
            <a:avLst>
              <a:gd name="adj" fmla="val 33333"/>
            </a:avLst>
          </a:prstGeom>
          <a:solidFill>
            <a:srgbClr val="2563EB">
              <a:alpha val="15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46304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60704" y="1280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Converter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715000" y="1298448"/>
            <a:ext cx="1203350" cy="237744"/>
          </a:xfrm>
          <a:prstGeom prst="roundRect">
            <a:avLst>
              <a:gd name="adj" fmla="val 23077"/>
            </a:avLst>
          </a:prstGeom>
          <a:solidFill>
            <a:srgbClr val="F4F4F0"/>
          </a:solidFill>
          <a:ln w="12700">
            <a:solidFill>
              <a:srgbClr val="E0E0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0" y="131673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day02_temp.py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060704" y="1591056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enters a temperature and picks direction: C→F, F→C, or C→K. Apply the correct formula. Print result with 2 decimal places. Tip: C→F is (C × 9/5) + 32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" y="2121408"/>
            <a:ext cx="83210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" y="2121408"/>
            <a:ext cx="45720" cy="8046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" y="2377440"/>
            <a:ext cx="384048" cy="274320"/>
          </a:xfrm>
          <a:prstGeom prst="roundRect">
            <a:avLst>
              <a:gd name="adj" fmla="val 33333"/>
            </a:avLst>
          </a:prstGeom>
          <a:solidFill>
            <a:srgbClr val="16A34A">
              <a:alpha val="15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37744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60704" y="2194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Truthiness Explorer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715000" y="2212848"/>
            <a:ext cx="1278331" cy="237744"/>
          </a:xfrm>
          <a:prstGeom prst="roundRect">
            <a:avLst>
              <a:gd name="adj" fmla="val 23077"/>
            </a:avLst>
          </a:prstGeom>
          <a:solidFill>
            <a:srgbClr val="F4F4F0"/>
          </a:solidFill>
          <a:ln w="12700">
            <a:solidFill>
              <a:srgbClr val="E0E0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0" y="223113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day02_truth.py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060704" y="2505456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bool() of: 0, 1, -1, '', 'hello', [], None, 0.0, 3.14, ' ' (just a space). Write a comment explaining WHY each is truthy or falsy. The space one will surprise you.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1480" y="3035808"/>
            <a:ext cx="83210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11480" y="3035808"/>
            <a:ext cx="45720" cy="80467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928" y="3291840"/>
            <a:ext cx="384048" cy="274320"/>
          </a:xfrm>
          <a:prstGeom prst="roundRect">
            <a:avLst>
              <a:gd name="adj" fmla="val 33333"/>
            </a:avLst>
          </a:prstGeom>
          <a:solidFill>
            <a:srgbClr val="EA580C">
              <a:alpha val="15000"/>
            </a:srgbClr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329184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60704" y="3108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 Generator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715000" y="3127248"/>
            <a:ext cx="1428293" cy="237744"/>
          </a:xfrm>
          <a:prstGeom prst="roundRect">
            <a:avLst>
              <a:gd name="adj" fmla="val 23077"/>
            </a:avLst>
          </a:prstGeom>
          <a:solidFill>
            <a:srgbClr val="F4F4F0"/>
          </a:solidFill>
          <a:ln w="12700">
            <a:solidFill>
              <a:srgbClr val="E0E0D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60720" y="314553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day02_receipt.py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060704" y="3419856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enters 3 item names and prices. Calculate subtotal, 15% tax, and total. Print a receipt with aligned columns — name left-aligned, price right-aligned. Use :&lt;15 and :&gt;10 format codes.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11480" y="3950208"/>
            <a:ext cx="83210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11480" y="3950208"/>
            <a:ext cx="45720" cy="8046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66928" y="4206240"/>
            <a:ext cx="384048" cy="274320"/>
          </a:xfrm>
          <a:prstGeom prst="roundRect">
            <a:avLst>
              <a:gd name="adj" fmla="val 33333"/>
            </a:avLst>
          </a:prstGeom>
          <a:solidFill>
            <a:srgbClr val="7C3AED">
              <a:alpha val="1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" y="420624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★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60704" y="4023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Precedence Puzzle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715000" y="4041648"/>
            <a:ext cx="1278331" cy="237744"/>
          </a:xfrm>
          <a:prstGeom prst="roundRect">
            <a:avLst>
              <a:gd name="adj" fmla="val 23077"/>
            </a:avLst>
          </a:prstGeom>
          <a:solidFill>
            <a:srgbClr val="F4F4F0"/>
          </a:solidFill>
          <a:ln w="12700">
            <a:solidFill>
              <a:srgbClr val="E0E0D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60720" y="405993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day02_bonus.py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8046720" y="4041648"/>
            <a:ext cx="612648" cy="237744"/>
          </a:xfrm>
          <a:prstGeom prst="roundRect">
            <a:avLst>
              <a:gd name="adj" fmla="val 50000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55864" y="4059936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060704" y="4334256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output of 5 tricky expressions BEFORE running them. Write your prediction as a comment, then run and compare. Try: 2+3*4, 10//3+1, bool(0+0), 5&gt;3 and 2&lt;1, True+True+True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8046720" y="482803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DA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Recap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8138160" cy="0"/>
          </a:xfrm>
          <a:prstGeom prst="line">
            <a:avLst/>
          </a:prstGeom>
          <a:noFill/>
          <a:ln w="12700">
            <a:solidFill>
              <a:srgbClr val="E8E8E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960120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960120"/>
            <a:ext cx="45720" cy="7132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161288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05156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data types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60120" y="130759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 · int · float · bool · None · complex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800600" y="960120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00600" y="960120"/>
            <a:ext cx="45720" cy="7132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5192" y="1161288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49240" y="105156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type() &amp; isinstance()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5349240" y="130759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types at runtime — prefer isinstance() in real code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11480" y="1828800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11480" y="1828800"/>
            <a:ext cx="45720" cy="71323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2029968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60120" y="192024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snake_case naming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960120" y="217627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 8 standard · ALL_CAPS for constants · be descriptive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800600" y="1828800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800600" y="1828800"/>
            <a:ext cx="45720" cy="71323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5192" y="2029968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349240" y="192024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assignment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5349240" y="217627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x, y = 1, 2  and  a, b = b, a  (the swap trick)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11480" y="2697480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11480" y="2697480"/>
            <a:ext cx="45720" cy="7132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2898648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60120" y="278892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operator types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960120" y="304495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· comparison · logical · assignment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4800600" y="2697480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4800600" y="2697480"/>
            <a:ext cx="45720" cy="7132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5192" y="2898648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349240" y="278892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casting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5349240" y="304495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int() · float() · str()  — cast input() immediately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411480" y="3566160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411480" y="3566160"/>
            <a:ext cx="45720" cy="7132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3767328"/>
            <a:ext cx="274320" cy="27432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960120" y="365760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Falsy values</a:t>
            </a:r>
            <a:endParaRPr lang="en-US" sz="1200" dirty="0"/>
          </a:p>
        </p:txBody>
      </p:sp>
      <p:sp>
        <p:nvSpPr>
          <p:cNvPr id="38" name="Text 29"/>
          <p:cNvSpPr/>
          <p:nvPr/>
        </p:nvSpPr>
        <p:spPr>
          <a:xfrm>
            <a:off x="960120" y="391363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 '', [], {}, None, False — memorise these 7</a:t>
            </a:r>
            <a:endParaRPr lang="en-US" sz="1000" dirty="0"/>
          </a:p>
        </p:txBody>
      </p:sp>
      <p:sp>
        <p:nvSpPr>
          <p:cNvPr id="39" name="Shape 30"/>
          <p:cNvSpPr/>
          <p:nvPr/>
        </p:nvSpPr>
        <p:spPr>
          <a:xfrm>
            <a:off x="4800600" y="3566160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4800600" y="3566160"/>
            <a:ext cx="45720" cy="7132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5192" y="3767328"/>
            <a:ext cx="274320" cy="274320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5349240" y="365760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F-strings</a:t>
            </a:r>
            <a:endParaRPr lang="en-US" sz="1200" dirty="0"/>
          </a:p>
        </p:txBody>
      </p:sp>
      <p:sp>
        <p:nvSpPr>
          <p:cNvPr id="43" name="Text 33"/>
          <p:cNvSpPr/>
          <p:nvPr/>
        </p:nvSpPr>
        <p:spPr>
          <a:xfrm>
            <a:off x="5349240" y="391363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f"Hello {name:.2f}" — always use f-strings, not + or %</a:t>
            </a:r>
            <a:endParaRPr lang="en-US" sz="1000" dirty="0"/>
          </a:p>
        </p:txBody>
      </p:sp>
      <p:sp>
        <p:nvSpPr>
          <p:cNvPr id="44" name="Shape 34"/>
          <p:cNvSpPr/>
          <p:nvPr/>
        </p:nvSpPr>
        <p:spPr>
          <a:xfrm>
            <a:off x="411480" y="4462272"/>
            <a:ext cx="8321040" cy="530352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5" name="Text 35"/>
          <p:cNvSpPr/>
          <p:nvPr/>
        </p:nvSpPr>
        <p:spPr>
          <a:xfrm>
            <a:off x="594360" y="45171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— Day 3:</a:t>
            </a:r>
            <a:endParaRPr lang="en-US" sz="1200" dirty="0"/>
          </a:p>
        </p:txBody>
      </p:sp>
      <p:sp>
        <p:nvSpPr>
          <p:cNvPr id="46" name="Text 36"/>
          <p:cNvSpPr/>
          <p:nvPr/>
        </p:nvSpPr>
        <p:spPr>
          <a:xfrm>
            <a:off x="2651760" y="4517136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Flow — if/elif/else, for &amp; while loops, break/continue, number guessing game, FizzBuzz</a:t>
            </a:r>
            <a:endParaRPr lang="en-US" sz="1100" dirty="0"/>
          </a:p>
        </p:txBody>
      </p:sp>
      <p:sp>
        <p:nvSpPr>
          <p:cNvPr id="47" name="Text 37"/>
          <p:cNvSpPr/>
          <p:nvPr/>
        </p:nvSpPr>
        <p:spPr>
          <a:xfrm>
            <a:off x="594360" y="475488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all 3 challenge files before class</a:t>
            </a:r>
            <a:endParaRPr lang="en-US" sz="1000" dirty="0"/>
          </a:p>
        </p:txBody>
      </p:sp>
      <p:sp>
        <p:nvSpPr>
          <p:cNvPr id="48" name="Text 38"/>
          <p:cNvSpPr/>
          <p:nvPr/>
        </p:nvSpPr>
        <p:spPr>
          <a:xfrm>
            <a:off x="8046720" y="482803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DA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321</TotalTime>
  <Words>2847</Words>
  <Application>Microsoft Office PowerPoint</Application>
  <PresentationFormat>On-screen Show (16:9)</PresentationFormat>
  <Paragraphs>523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2 — Data Types, Variables &amp; Operators</dc:title>
  <dc:subject>PptxGenJS Presentation</dc:subject>
  <dc:creator>PptxGenJS</dc:creator>
  <cp:lastModifiedBy>Gagan Pradhan</cp:lastModifiedBy>
  <cp:revision>5</cp:revision>
  <dcterms:created xsi:type="dcterms:W3CDTF">2026-05-19T04:31:07Z</dcterms:created>
  <dcterms:modified xsi:type="dcterms:W3CDTF">2026-05-19T11:46:48Z</dcterms:modified>
</cp:coreProperties>
</file>