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924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365760"/>
            <a:ext cx="0" cy="4389120"/>
          </a:xfrm>
          <a:prstGeom prst="line">
            <a:avLst/>
          </a:prstGeom>
          <a:noFill/>
          <a:ln w="12700">
            <a:solidFill>
              <a:srgbClr val="C490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005840" cy="31089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778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6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02920" y="33649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&amp; Loops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365760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599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· elif · else   ·   for   ·   while   ·   break · continue · pass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Beginner  ·  Colab + VSCode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89320" y="7772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elif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989320" y="1581912"/>
            <a:ext cx="25603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5819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89320" y="2386584"/>
            <a:ext cx="25603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3865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989320" y="3191256"/>
            <a:ext cx="25603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1912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989320" y="3995928"/>
            <a:ext cx="25603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9959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585216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6576" cy="5852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19072" y="114300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11430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615184" y="1033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&amp; Loops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15184" y="1316736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 · for · while · break/continue/pass · for/else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636776"/>
            <a:ext cx="8321040" cy="585216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636776"/>
            <a:ext cx="36576" cy="585216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196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0:45–1:05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19072" y="1819656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8196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15184" y="1709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Guessing Game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15184" y="1993392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file · random module · try/except · while + break pattern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13432"/>
            <a:ext cx="8321040" cy="585216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313432"/>
            <a:ext cx="36576" cy="585216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963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1:05–1:20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19072" y="2496312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19072" y="24963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15184" y="2386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 Extended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15184" y="267004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common interview question — condition order trap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90088"/>
            <a:ext cx="8321040" cy="585216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990088"/>
            <a:ext cx="36576" cy="585216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1729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1:20–1:40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19072" y="3172968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3172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15184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Printer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615184" y="3346704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· right triangle · inverted triangle · pyramid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66744"/>
            <a:ext cx="8321040" cy="585216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666744"/>
            <a:ext cx="36576" cy="585216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8496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1:40–1:50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719072" y="3849624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38496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15184" y="3739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day03/ folder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615184" y="4023360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day03/ → commit → push → verify 3 files on GitHub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343400"/>
            <a:ext cx="8321040" cy="585216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" y="4343400"/>
            <a:ext cx="36576" cy="585216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526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1:50–2:00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719072" y="452628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19072" y="45262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15184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Live Quiz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2615184" y="4700016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— first correct answer wins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WORKFLOW — STARTS TODAY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for demos.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for building.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011680"/>
            <a:ext cx="4160520" cy="2788920"/>
          </a:xfrm>
          <a:prstGeom prst="rect">
            <a:avLst/>
          </a:prstGeom>
          <a:solidFill>
            <a:srgbClr val="E8EDF2"/>
          </a:solidFill>
          <a:ln w="19050">
            <a:solidFill>
              <a:srgbClr val="3A4A5C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011680"/>
            <a:ext cx="4160520" cy="36576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66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" y="2414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understanding new concepts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" y="2688336"/>
            <a:ext cx="356616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907792"/>
            <a:ext cx="73152" cy="7315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79806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cell — see output immediately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" y="3273552"/>
            <a:ext cx="73152" cy="7315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1638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explanations above each code block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" y="3639312"/>
            <a:ext cx="73152" cy="7315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5295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demos: if/elif, for, while explained here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" y="4005072"/>
            <a:ext cx="73152" cy="7315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89534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experiment quickly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" y="4370832"/>
            <a:ext cx="73152" cy="7315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26110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theory section lives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18888" y="2011680"/>
            <a:ext cx="4160520" cy="2788920"/>
          </a:xfrm>
          <a:prstGeom prst="rect">
            <a:avLst/>
          </a:prstGeom>
          <a:solidFill>
            <a:srgbClr val="F2E8DF"/>
          </a:solidFill>
          <a:ln w="19050">
            <a:solidFill>
              <a:srgbClr val="8B4513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011680"/>
            <a:ext cx="4160520" cy="3657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2066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0056" y="2414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writing real programs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0056" y="2688336"/>
            <a:ext cx="3566160" cy="0"/>
          </a:xfrm>
          <a:prstGeom prst="line">
            <a:avLst/>
          </a:prstGeom>
          <a:noFill/>
          <a:ln w="12700">
            <a:solidFill>
              <a:srgbClr val="8B45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0056" y="2907792"/>
            <a:ext cx="73152" cy="7315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2936" y="279806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.py files — not notebook cells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0056" y="3273552"/>
            <a:ext cx="73152" cy="7315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31638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GitHub every single class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0056" y="3639312"/>
            <a:ext cx="73152" cy="7315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02936" y="35295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professional Python code actually lives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0056" y="4005072"/>
            <a:ext cx="73152" cy="7315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02936" y="389534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work from Day 3 onwards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0056" y="4370832"/>
            <a:ext cx="73152" cy="7315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02936" y="426110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game · FizzBuzz · patterns → here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/  elif  /  else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conditions top to bottom — first True block runs, rest is skipped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663440" cy="3108960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D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15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&gt; 30:
</a:t>
            </a:r>
            <a:r>
              <a:rPr lang="en-US" sz="1000" dirty="0">
                <a:solidFill>
                  <a:srgbClr val="5A5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print("Hot! Drink water.")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&gt; 20:
</a:t>
            </a:r>
            <a:r>
              <a:rPr lang="en-US" sz="1000" dirty="0">
                <a:solidFill>
                  <a:srgbClr val="5A5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print("Warm. Nice day.")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&gt; 10:
</a:t>
            </a:r>
            <a:r>
              <a:rPr lang="en-US" sz="1000" dirty="0">
                <a:solidFill>
                  <a:srgbClr val="5A5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print("Cool. Take a jacket.")  </a:t>
            </a: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runs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000" dirty="0">
                <a:solidFill>
                  <a:srgbClr val="5A5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print("Cold. Stay inside.")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57800" y="1325880"/>
            <a:ext cx="347472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57800" y="1325880"/>
            <a:ext cx="36576" cy="11704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44475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14173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the syntax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13248" y="1737360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4 spaces to define blocks — no curly braces. One wrong space → IndentationError. This is the #1 Day 3 mistake. Configure VSCode: Spaces: 4 in the status bar.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57800" y="2596896"/>
            <a:ext cx="3474720" cy="86868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57800" y="2596896"/>
            <a:ext cx="36576" cy="86868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3248" y="265176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one-liner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13248" y="2926080"/>
            <a:ext cx="3182112" cy="43891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96128" y="3063240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"Pass" if score &gt;= 50 else "Fail"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57800" y="3566160"/>
            <a:ext cx="3474720" cy="86868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57800" y="3566160"/>
            <a:ext cx="36576" cy="868680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65760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42432" y="36301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 case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13248" y="393192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gateway: if balance OK → approve, elif credit limit → partial, else → decline.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— PART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know the count in advance, or you have a collection to iterate 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297680" cy="1024128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a list
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"mango"]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fruits:
    print(</a:t>
            </a:r>
            <a:r>
              <a:rPr lang="en-US" sz="1000" dirty="0" err="1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f"I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like {fruit}")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542032"/>
            <a:ext cx="4297680" cy="126187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79192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range(start, stop, step)
</a:t>
            </a: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        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 1 2 3 4
</a:t>
            </a: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6)     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 2 3 4 5
</a:t>
            </a: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20, 5) 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 5 10 15
</a:t>
            </a: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range(10, 0, -1)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10 9 8 ...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895344"/>
            <a:ext cx="4297680" cy="1024128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3250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enumerate() — index + value
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["Hamza", "Sara", "Ahmed"]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name 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enumerate(students):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print(f"{i+1}. {name}")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417320"/>
            <a:ext cx="384048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417320"/>
            <a:ext cx="36576" cy="8046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47218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is exclusive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47488" y="1737360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 10) gives 1–9 not 1–10.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"Stop" is where you stop, not what you include.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322576"/>
            <a:ext cx="3840480" cy="749808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322576"/>
            <a:ext cx="36576" cy="74980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37744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enumerate(), not i += 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64261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manually track an index. That's what enumerate() exists for.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163824"/>
            <a:ext cx="3840480" cy="171907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300984"/>
            <a:ext cx="3474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zip() — two lists together
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 = ["Hamza", "Sara"]
scores = [88, 92]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score 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zip(names, scores):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{score}")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— PART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don't know the count — repeat until a condition becomes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663440" cy="1115568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&lt;= 5:
    print(f"Count: {count}")
    count += 1  </a:t>
            </a: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← CRITICAL — forget this → infinite loop!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633472"/>
            <a:ext cx="4663440" cy="2322576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70632"/>
            <a:ext cx="42976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Login loop — a real-world pattern
password = ""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!= "python123":
    password = input("Enter password: ")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!= "python123":
        print("Wrong! Try again.")
</a:t>
            </a:r>
            <a:r>
              <a:rPr lang="en-US" sz="1000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print("Access granted!")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1417320"/>
            <a:ext cx="3474720" cy="153619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1417320"/>
            <a:ext cx="36576" cy="153619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13248" y="192938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count or collection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13248" y="2221992"/>
            <a:ext cx="3182112" cy="6217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23591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list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3108960"/>
            <a:ext cx="3474720" cy="153619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3108960"/>
            <a:ext cx="36576" cy="15361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3200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13248" y="362102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condition changes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13248" y="3913632"/>
            <a:ext cx="3182112" cy="6217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405079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connected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cmd != 'quit'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4681728"/>
            <a:ext cx="3474720" cy="274320"/>
          </a:xfrm>
          <a:prstGeom prst="rect">
            <a:avLst/>
          </a:prstGeom>
          <a:solidFill>
            <a:srgbClr val="F2E8DF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472744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  — stop an infinite loop in the terminal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 KEYWORDS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 /  continue  /  pass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33856"/>
            <a:ext cx="2788920" cy="379476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33856"/>
            <a:ext cx="2788920" cy="3657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loop immediately. Stop — skip everything remaining.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2468880" cy="15361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86584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[3, 7, 2, 9, 4]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num in numbers: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num == 9: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 # stops here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print(num)   # 3 7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858768"/>
            <a:ext cx="2468880" cy="749808"/>
          </a:xfrm>
          <a:prstGeom prst="rect">
            <a:avLst/>
          </a:prstGeom>
          <a:solidFill>
            <a:srgbClr val="EDE8D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38770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2648" y="40782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stop the moment you find the item. Don't scan 1M records after finding the match.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133856"/>
            <a:ext cx="2788920" cy="379476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133856"/>
            <a:ext cx="2788920" cy="36576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207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74720" y="166420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rest of this iteration. Jump straight to the next.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249424"/>
            <a:ext cx="2468880" cy="15361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386584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% 2 == 0: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  # skip evens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# 1 3 5 7 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858768"/>
            <a:ext cx="2468880" cy="749808"/>
          </a:xfrm>
          <a:prstGeom prst="rect">
            <a:avLst/>
          </a:prstGeom>
          <a:solidFill>
            <a:srgbClr val="EDE8D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38770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38728" y="40782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— process a list but skip items that don't qualify. Common in data cleaning.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36208" y="1133856"/>
            <a:ext cx="2788920" cy="379476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1133856"/>
            <a:ext cx="2788920" cy="36576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207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0" y="166420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nothing. A placeholder when Python requires a code block.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2249424"/>
            <a:ext cx="2468880" cy="15361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386584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3: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  # TODO: later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858768"/>
            <a:ext cx="2468880" cy="749808"/>
          </a:xfrm>
          <a:prstGeom prst="rect">
            <a:avLst/>
          </a:prstGeom>
          <a:solidFill>
            <a:srgbClr val="EDE8D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38770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64808" y="40782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placeholder. Common in class/function stubs before the logic is written.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PYTHON-SPECIFIC — RARELY TAUGHT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/ else Block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runs ONLY if the loop finished without hitting a break — most developers don't know this exists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07591"/>
            <a:ext cx="4498848" cy="1618483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else RUNS — loop finished, no break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in [1, 2, 3, 4, 5]: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== 10:
        break
</a:t>
            </a:r>
            <a:r>
              <a:rPr lang="en-US" sz="10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print("10 was not found")  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prints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971800"/>
            <a:ext cx="4471416" cy="1874520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371088"/>
            <a:ext cx="413308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else SKIPPED — break was hit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in [1, 2, 10, 4, 5]:  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== 10:
        break
</a:t>
            </a: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print("10 was not found")  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does NOT print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444752"/>
            <a:ext cx="3703320" cy="1115568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444752"/>
            <a:ext cx="36576" cy="1115568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5544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32120" y="1527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84648" y="1847088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loops — the else block is your 'not found' case. Cleaner than a boolean flag variable. Use it when a loop that finds nothing needs to say so.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0" y="2670048"/>
            <a:ext cx="3703320" cy="82296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2670048"/>
            <a:ext cx="36576" cy="822960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4648" y="272491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value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184648" y="2980944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Python developers don't know for/else exists. Knowing it signals genuine depth.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0" y="3602736"/>
            <a:ext cx="3703320" cy="82296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29200" y="3602736"/>
            <a:ext cx="36576" cy="8229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71246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04688" y="367588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184648" y="393192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i==3: break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print("done")   ← does it print?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Number Guessing Game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731520"/>
            <a:ext cx="1967789" cy="219456"/>
          </a:xfrm>
          <a:prstGeom prst="roundRect">
            <a:avLst>
              <a:gd name="adj" fmla="val 41667"/>
            </a:avLst>
          </a:prstGeom>
          <a:solidFill>
            <a:srgbClr val="C4906A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740664"/>
            <a:ext cx="19677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guessing_game.py in VSCode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880360" y="731520"/>
            <a:ext cx="1111910" cy="219456"/>
          </a:xfrm>
          <a:prstGeom prst="roundRect">
            <a:avLst>
              <a:gd name="adj" fmla="val 41667"/>
            </a:avLst>
          </a:prstGeom>
          <a:solidFill>
            <a:srgbClr val="F2E8DF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740664"/>
            <a:ext cx="11119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+ break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24528" y="731520"/>
            <a:ext cx="1111910" cy="219456"/>
          </a:xfrm>
          <a:prstGeom prst="roundRect">
            <a:avLst>
              <a:gd name="adj" fmla="val 41667"/>
            </a:avLst>
          </a:prstGeom>
          <a:solidFill>
            <a:srgbClr val="EBF0E8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24528" y="740664"/>
            <a:ext cx="11119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module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559552" y="731520"/>
            <a:ext cx="914400" cy="219456"/>
          </a:xfrm>
          <a:prstGeom prst="roundRect">
            <a:avLst>
              <a:gd name="adj" fmla="val 41667"/>
            </a:avLst>
          </a:prstGeom>
          <a:solidFill>
            <a:srgbClr val="F5EDDA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59552" y="740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11480" y="960120"/>
            <a:ext cx="4892040" cy="4041648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5452" y="841248"/>
            <a:ext cx="45262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
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  = random.randint(1, 100)
attempts = 0
max_att  = 7
guessed  = False
</a:t>
            </a: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&lt; max_att: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guess = int(input(f"Guess {attempts+1}/{max_att}: "))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print("Whole numbers only.");  continue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 += 1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&lt; secret:   print("Too low!")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&gt; secret: print("Too high!") 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        print(f"Correct in {attempts} tries!")
        guessed = True;  break
</a:t>
            </a: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guessed: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print(f"Answer was {secret}.")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94960" y="9601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MOMENTS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394960" y="1207008"/>
            <a:ext cx="333756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1207008"/>
            <a:ext cx="36576" cy="80467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0408" y="128016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50408" y="15544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— no install. randint(1,100) is inclusive on both ends.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94960" y="2139696"/>
            <a:ext cx="333756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94960" y="2139696"/>
            <a:ext cx="36576" cy="8046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0408" y="221284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ValueError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550408" y="24871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crash without it first. Then add protection together.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394960" y="3072384"/>
            <a:ext cx="333756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94960" y="3072384"/>
            <a:ext cx="36576" cy="804672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50408" y="314553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guessed flag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50408" y="34198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loop: did we break (success) or exhaust attempts (fail)?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394960" y="4005072"/>
            <a:ext cx="333756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394960" y="4005072"/>
            <a:ext cx="36576" cy="80467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50408" y="407822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+ 1 display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550408" y="435254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0-based internally, 1-based for the user. Never show 'Attempt 0'.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18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3020"/>
          </a:solidFill>
          <a:ln w="12700">
            <a:solidFill>
              <a:srgbClr val="3D3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FizzBuzz Extended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1638605" cy="219456"/>
          </a:xfrm>
          <a:prstGeom prst="roundRect">
            <a:avLst>
              <a:gd name="adj" fmla="val 41667"/>
            </a:avLst>
          </a:prstGeom>
          <a:solidFill>
            <a:srgbClr val="5A5040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0664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fizzbuzz.py in VSCode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29968" y="731520"/>
            <a:ext cx="2560320" cy="219456"/>
          </a:xfrm>
          <a:prstGeom prst="roundRect">
            <a:avLst>
              <a:gd name="adj" fmla="val 41667"/>
            </a:avLst>
          </a:prstGeom>
          <a:solidFill>
            <a:srgbClr val="F2E8DF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9968" y="740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interview question worldwide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4251960" cy="274320"/>
          </a:xfrm>
          <a:prstGeom prst="rect">
            <a:avLst/>
          </a:prstGeom>
          <a:solidFill>
            <a:srgbClr val="F2E8DF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5156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— FizzBuzz condition never runs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307592"/>
            <a:ext cx="4251960" cy="89611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44752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 % 3 == 0: print("Fizz")      </a:t>
            </a:r>
            <a:r>
              <a:rPr lang="en-US" sz="8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catches 15 first!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i % 5 == 0: print("Buzz")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i%3==0 and i%5==0: ...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NEVER reached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4251960" cy="274320"/>
          </a:xfrm>
          <a:prstGeom prst="rect">
            <a:avLst/>
          </a:prstGeom>
          <a:solidFill>
            <a:srgbClr val="EBF0E8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5000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combined conditions first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" y="2571750"/>
            <a:ext cx="4251960" cy="2121408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88336"/>
            <a:ext cx="38862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in range(1, 101):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i%3==0 and i%5==0: print("</a:t>
            </a:r>
            <a:r>
              <a:rPr lang="en-US" sz="800" dirty="0" err="1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FizzBuzz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i%3==0 and i%7==0: print("</a:t>
            </a:r>
            <a:r>
              <a:rPr lang="en-US" sz="800" dirty="0" err="1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FizzBazz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i%3==0: print("Fizz")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i%5==0: print("Buzz")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i%7==0: print("Bazz")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print(i)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886200" cy="1115568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05840"/>
            <a:ext cx="36576" cy="111556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06070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1353312"/>
            <a:ext cx="3584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condition first.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(AND) before individual conditions.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trap most candidates fall into.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31136"/>
            <a:ext cx="3886200" cy="91440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31136"/>
            <a:ext cx="36576" cy="914400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340864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30952" y="230428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in real life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01768" y="259689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 colors · time arithmetic · pagination · even/odd checks · circular buffers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255264"/>
            <a:ext cx="3886200" cy="1481328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3255264"/>
            <a:ext cx="36576" cy="1481328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01768" y="331012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question exists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001768" y="3611880"/>
            <a:ext cx="35844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 has eliminated candidates at Google, Meta, and Amazon — not because it's hard, but because developers rush it and place conditions in the wrong order. Now you know the trap.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Pattern Printer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1638605" cy="219456"/>
          </a:xfrm>
          <a:prstGeom prst="roundRect">
            <a:avLst>
              <a:gd name="adj" fmla="val 41667"/>
            </a:avLst>
          </a:prstGeom>
          <a:solidFill>
            <a:srgbClr val="4A6741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0664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patterns.py in VSCode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67712" y="731520"/>
            <a:ext cx="1046074" cy="219456"/>
          </a:xfrm>
          <a:prstGeom prst="roundRect">
            <a:avLst>
              <a:gd name="adj" fmla="val 41667"/>
            </a:avLst>
          </a:prstGeom>
          <a:solidFill>
            <a:srgbClr val="EBF0E8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740664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28416" y="731520"/>
            <a:ext cx="1638605" cy="219456"/>
          </a:xfrm>
          <a:prstGeom prst="roundRect">
            <a:avLst>
              <a:gd name="adj" fmla="val 41667"/>
            </a:avLst>
          </a:prstGeom>
          <a:solidFill>
            <a:srgbClr val="F5EDDA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8416" y="740664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multiplication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960120"/>
            <a:ext cx="2834640" cy="40050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960120"/>
            <a:ext cx="2834640" cy="36576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0241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Triangle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" y="1371600"/>
            <a:ext cx="2505456" cy="1207008"/>
          </a:xfrm>
          <a:prstGeom prst="rect">
            <a:avLst/>
          </a:prstGeom>
          <a:solidFill>
            <a:srgbClr val="EDE8D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426464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" y="2651760"/>
            <a:ext cx="2505456" cy="10789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78892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range(1, n+1):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print("* " * row)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" y="3803904"/>
            <a:ext cx="2505456" cy="731520"/>
          </a:xfrm>
          <a:prstGeom prst="rect">
            <a:avLst/>
          </a:prstGeom>
          <a:solidFill>
            <a:srgbClr val="F2E8DF"/>
          </a:solidFill>
          <a:ln w="12700">
            <a:solidFill>
              <a:srgbClr val="C490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84048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 " * row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1 → 1 star, row 5 → 5 stars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0128" y="960120"/>
            <a:ext cx="2834640" cy="40050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960120"/>
            <a:ext cx="2834640" cy="36576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0241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371600"/>
            <a:ext cx="2505456" cy="1207008"/>
          </a:xfrm>
          <a:prstGeom prst="rect">
            <a:avLst/>
          </a:prstGeom>
          <a:solidFill>
            <a:srgbClr val="EDE8D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426464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2651760"/>
            <a:ext cx="2505456" cy="10789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78892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range(n, 0, -1):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print("* " * row)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803904"/>
            <a:ext cx="2505456" cy="731520"/>
          </a:xfrm>
          <a:prstGeom prst="rect">
            <a:avLst/>
          </a:prstGeom>
          <a:solidFill>
            <a:srgbClr val="F2E8DF"/>
          </a:solidFill>
          <a:ln w="12700">
            <a:solidFill>
              <a:srgbClr val="C490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84048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range(n, 0, -1)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down from n to 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72784" y="960120"/>
            <a:ext cx="2834640" cy="40050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960120"/>
            <a:ext cx="2834640" cy="36576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10241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37376" y="1371600"/>
            <a:ext cx="2505456" cy="1207008"/>
          </a:xfrm>
          <a:prstGeom prst="rect">
            <a:avLst/>
          </a:prstGeom>
          <a:solidFill>
            <a:srgbClr val="EDE8D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1426464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* * *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37376" y="2651760"/>
            <a:ext cx="2505456" cy="107899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278892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range(1, n+1):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 = " " * (n - row)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print(sp + "* "*row)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37376" y="3803904"/>
            <a:ext cx="2505456" cy="731520"/>
          </a:xfrm>
          <a:prstGeom prst="rect">
            <a:avLst/>
          </a:prstGeom>
          <a:solidFill>
            <a:srgbClr val="F2E8DF"/>
          </a:solidFill>
          <a:ln w="12700">
            <a:solidFill>
              <a:srgbClr val="C490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384048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spaces = n - row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decreases each row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4681728"/>
            <a:ext cx="8449056" cy="292608"/>
          </a:xfrm>
          <a:prstGeom prst="rect">
            <a:avLst/>
          </a:prstGeom>
          <a:solidFill>
            <a:srgbClr val="EBF0E8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727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27632" y="4727448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= rows. Inner loop (hidden in '* ' * row) = columns. This is the mental model for every grid problem.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All Three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13460"/>
            <a:ext cx="8321040" cy="1706880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64692"/>
            <a:ext cx="79552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VSCode terminal  (Ctrl + `)
</a:t>
            </a:r>
            <a:r>
              <a:rPr lang="en-US" sz="8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python-ai-journey
</a:t>
            </a:r>
            <a:r>
              <a:rPr lang="en-US" sz="8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day03/                     </a:t>
            </a: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the whole folder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3 files staged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</a:t>
            </a:r>
            <a:r>
              <a:rPr lang="en-US" sz="800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 3: control flow — guessing game, FizzBuzz, patterns"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63296" y="2846832"/>
            <a:ext cx="8321040" cy="411480"/>
          </a:xfrm>
          <a:prstGeom prst="rect">
            <a:avLst/>
          </a:prstGeom>
          <a:solidFill>
            <a:srgbClr val="EBF0E8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900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90088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on GitHub: python-ai-journey/day03/ with guessing_game.py · fizzbuzz.py · patterns.py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4152" y="32720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so far: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4152" y="3560064"/>
            <a:ext cx="3995928" cy="1527048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032" y="3697224"/>
            <a:ext cx="3657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python-ai-journey/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day01.py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day02/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day03/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guessing_game.py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fizzbuzz.py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patterns.py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60976" y="3482340"/>
            <a:ext cx="3950208" cy="165049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0392" y="3285744"/>
            <a:ext cx="36576" cy="184708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5840" y="323240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commit messages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43272" y="3569208"/>
            <a:ext cx="3767328" cy="1417320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98720" y="3752088"/>
            <a:ext cx="3401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
</a:t>
            </a:r>
            <a:r>
              <a:rPr lang="en-US" sz="10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 3: guessing game — try/except"
</a:t>
            </a: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
</a:t>
            </a:r>
            <a:r>
              <a:rPr lang="en-US" sz="10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"stuff"   "fix"   "asdf"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21040" y="48859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 THESE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416052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36576" cy="11704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207008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EDE8DF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517904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Mixing tabs and spaces, or forgetting the 4-space indent after a colon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186537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VSCode: Shift+Alt+F to auto-format. Status bar should show 'Spaces: 4'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18888" y="1115568"/>
            <a:ext cx="416052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115568"/>
            <a:ext cx="36576" cy="11704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207008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EDE8DF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2070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 loop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517904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Forgetting to update the variable the while condition depends 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186537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Before running: ask 'does the while condition eventually become False?'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414016"/>
            <a:ext cx="416052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414016"/>
            <a:ext cx="36576" cy="1170432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2505456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EDE8DF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5054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FizzBuzz wrong order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281635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Combined AND condition placed after individual conditions — never reached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6072" y="316382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Rule: most specific first. AND conditions before single conditions.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18888" y="2414016"/>
            <a:ext cx="416052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414016"/>
            <a:ext cx="36576" cy="1170432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2505456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EDE8DF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25054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Off-by-one in range()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81635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range(1, 10) gives 1–9 not 1–10 — stop is exclusive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316382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Think of stop as 'where I stop, not what I include'. Draw it out.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12464"/>
            <a:ext cx="416052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12464"/>
            <a:ext cx="36576" cy="117043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" y="3803904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EDE8DF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80390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Forgot int(input())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" y="41148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input() always returns str — Day 2 habit not yet automatic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" y="446227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Every time you ask for a number: wrap in int() or float() immediately.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18888" y="3712464"/>
            <a:ext cx="416052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3712464"/>
            <a:ext cx="36576" cy="117043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3803904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EDE8DF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38344" y="380390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Ternary syntax reversed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41148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Writing 'if score &gt;= 50 else "Pass"' — order is wrong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83480" y="446227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"Pass" if score &gt;= 50 else "Fail"  →  value → if → condition → else → value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18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CODE HABITS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4160520" cy="235915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36576" cy="235915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— Exit Early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nest ifs more than 2 levels. Check failures early and return.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3913632" cy="1737360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 — 4 levels deep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order:
  if order.paid:
    if order.items:
      for i in order.items: ship(</a:t>
            </a:r>
            <a:r>
              <a:rPr lang="en-US" sz="800" dirty="0" err="1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00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 — guard clauses
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order: return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order.paid: return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order.items: ship(item)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4069080" cy="107899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15568"/>
            <a:ext cx="36576" cy="107899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9452" y="1222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enumerate() not i += 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97168" y="1115568"/>
            <a:ext cx="2389632" cy="1170432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200" y="1496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
i = 0
for x in items:
    print(i, x); i += 1
</a:t>
            </a:r>
            <a:r>
              <a:rPr lang="en-US" sz="7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</a:t>
            </a:r>
            <a:endParaRPr lang="en-US" sz="7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x in enumerate(items):</a:t>
            </a:r>
            <a:endParaRPr lang="en-US" sz="7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x)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63440" y="2304288"/>
            <a:ext cx="4069080" cy="11704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04288"/>
            <a:ext cx="36576" cy="1170432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modify a list mid-loop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28032" y="2651760"/>
            <a:ext cx="3749040" cy="749808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10912" y="27614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 — skips items!
for n in nums:
    if n%2==0: nums.remove(n)
</a:t>
            </a:r>
            <a:r>
              <a:rPr lang="en-US" sz="7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</a:t>
            </a:r>
            <a:endParaRPr lang="en-US" sz="7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[n for n in nums if n%2!=0]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4160520" cy="1298448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84448"/>
            <a:ext cx="36576" cy="1298448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with break is fine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professional — when there's a clear, explicit break condition.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187952"/>
            <a:ext cx="3913632" cy="694944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325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 = input("&gt; ").strip()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cmd == "quit": break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handle(cmd)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3584448"/>
            <a:ext cx="4069080" cy="1298448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584448"/>
            <a:ext cx="36576" cy="129844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loop variable names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28032" y="3931920"/>
            <a:ext cx="3749040" cy="877824"/>
          </a:xfrm>
          <a:prstGeom prst="rect">
            <a:avLst/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0690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
for x in data: process(x)
</a:t>
            </a: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customer in customers: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send_invoice(customer)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18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in the Real World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4160520" cy="178308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36576" cy="17830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if/elif/else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1737360"/>
            <a:ext cx="64008" cy="6400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gateways: approve / partial / decline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" y="2048256"/>
            <a:ext cx="64008" cy="6400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 engines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" y="2359152"/>
            <a:ext cx="64008" cy="6400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validation: if valid → save, elif taken → warn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" y="2670048"/>
            <a:ext cx="64008" cy="6400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ATM decision you've ever seen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91456" y="1115568"/>
            <a:ext cx="4160520" cy="178308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1115568"/>
            <a:ext cx="36576" cy="178308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92624" y="1737360"/>
            <a:ext cx="64008" cy="6400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blast: for user in subscribers: send()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92624" y="2048256"/>
            <a:ext cx="64008" cy="6400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7216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training: for epoch in range(100): fit()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92624" y="2359152"/>
            <a:ext cx="64008" cy="6400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every row in a CSV or database table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92624" y="2670048"/>
            <a:ext cx="64008" cy="6400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every item in a shopping cart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" y="3108960"/>
            <a:ext cx="4160520" cy="178308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108960"/>
            <a:ext cx="36576" cy="1783080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loops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5216" y="3730752"/>
            <a:ext cx="64008" cy="64008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servers: while running: handle_request()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" y="4041648"/>
            <a:ext cx="64008" cy="64008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retry: while not connected: try()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" y="4352544"/>
            <a:ext cx="64008" cy="64008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loop: while playing: input→update→render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5216" y="4663440"/>
            <a:ext cx="64008" cy="64008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polling: while True: check(); sleep(60)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91456" y="3108960"/>
            <a:ext cx="4160520" cy="1783080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91456" y="3108960"/>
            <a:ext cx="36576" cy="1783080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92624" y="3730752"/>
            <a:ext cx="64008" cy="64008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57216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stop after finding the first match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92624" y="4041648"/>
            <a:ext cx="64008" cy="64008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stop when quota is exceeded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92624" y="4352544"/>
            <a:ext cx="64008" cy="64008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57216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break when user presses stop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92624" y="4663440"/>
            <a:ext cx="64008" cy="64008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57216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exit on first invalid record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/ 18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Colab — first correct answer wins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152144"/>
            <a:ext cx="8046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98448"/>
            <a:ext cx="26974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898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24414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range(2, 10, 3):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end=' ')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2560320"/>
            <a:ext cx="24414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51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 5  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1298448"/>
            <a:ext cx="26974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C490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3898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1645920"/>
            <a:ext cx="24414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68249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x &gt; 0: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-= 3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print(x, end=' ')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560320"/>
            <a:ext cx="24414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651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9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  4  1  -2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91072" y="1298448"/>
            <a:ext cx="26974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3898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19088" y="1645920"/>
            <a:ext cx="24414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8249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3: continue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end=' ')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19088" y="2560320"/>
            <a:ext cx="24414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651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 2  4  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" y="3200400"/>
            <a:ext cx="40690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91840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" y="3547872"/>
            <a:ext cx="38130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584448"/>
            <a:ext cx="3666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3: break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print('done')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print('end')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" y="4462272"/>
            <a:ext cx="38130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55371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end  only — else skipped by break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65192" y="3200400"/>
            <a:ext cx="40690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B5A9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3291840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A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 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93208" y="3547872"/>
            <a:ext cx="38130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584448"/>
            <a:ext cx="3666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Spot the bug: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10: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93208" y="4462272"/>
            <a:ext cx="38130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93208" y="455371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A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update to count → infinite loop!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/ 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Daily Challenges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three to GitHub before tomorrow's class — commit each file separately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1480" y="1078992"/>
            <a:ext cx="832104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078992"/>
            <a:ext cx="36576" cy="8046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8992" y="1143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Number Checker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152144"/>
            <a:ext cx="1207008" cy="219456"/>
          </a:xfrm>
          <a:prstGeom prst="roundRect">
            <a:avLst>
              <a:gd name="adj" fmla="val 25000"/>
            </a:avLst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7648" y="1170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day03_primes.py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" y="1463040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with for/else to check if a number is prime. Print all primes from 1 to 200. Hint: for i in range(2, num) — if no divisor found, the else block runs → it's prime.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2011680"/>
            <a:ext cx="832104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" y="2011680"/>
            <a:ext cx="36576" cy="80467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78992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Table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2084832"/>
            <a:ext cx="1141171" cy="219456"/>
          </a:xfrm>
          <a:prstGeom prst="roundRect">
            <a:avLst>
              <a:gd name="adj" fmla="val 25000"/>
            </a:avLst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7648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day03_times.py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" y="239572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complete 12×12 multiplication table as a formatted grid. Each number right-aligned in 4 characters (use :&gt;4 f-string). Use nested for loops throughout.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1480" y="2944368"/>
            <a:ext cx="832104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2944368"/>
            <a:ext cx="36576" cy="804672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8992" y="3008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Machine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63640" y="3017520"/>
            <a:ext cx="1009498" cy="219456"/>
          </a:xfrm>
          <a:prstGeom prst="roundRect">
            <a:avLst>
              <a:gd name="adj" fmla="val 25000"/>
            </a:avLst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27648" y="3035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day03_atm.py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" y="3328416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= 1000. while menu: 1) Check balance  2) Deposit  3) Withdraw  4) Exit. Handle invalid amounts: can't withdraw more than balance, can't deposit negative.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3877056"/>
            <a:ext cx="8321040" cy="80467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11480" y="3877056"/>
            <a:ext cx="36576" cy="80467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078992" y="3941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Pattern Generator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63640" y="3950208"/>
            <a:ext cx="1141171" cy="219456"/>
          </a:xfrm>
          <a:prstGeom prst="roundRect">
            <a:avLst>
              <a:gd name="adj" fmla="val 25000"/>
            </a:avLst>
          </a:prstGeom>
          <a:solidFill>
            <a:srgbClr val="EAE4D8"/>
          </a:solidFill>
          <a:ln w="12700">
            <a:solidFill>
              <a:srgbClr val="CEC8B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27648" y="39684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day03_bonus.py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275320" y="3950208"/>
            <a:ext cx="585216" cy="219456"/>
          </a:xfrm>
          <a:prstGeom prst="roundRect">
            <a:avLst>
              <a:gd name="adj" fmla="val 41667"/>
            </a:avLst>
          </a:prstGeom>
          <a:solidFill>
            <a:srgbClr val="E8EDF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75320" y="395935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78992" y="4261104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a pattern (1, 2, or 3) and size n. Print it. Add a 4th: diamond (pyramid + inverted pyramid). Push with a clear commit message.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/ 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41248"/>
            <a:ext cx="800100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8755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87552"/>
            <a:ext cx="36576" cy="7132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18872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06424" y="10789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6424" y="13716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 bottom · only one block runs · indentation = syntax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73752" y="98755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73752" y="987552"/>
            <a:ext cx="36576" cy="7132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18872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10789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85816" y="13716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"Pass" if score &gt;= 50 else "Fail"  — one-liner for simple cases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4360" y="185623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1856232"/>
            <a:ext cx="36576" cy="71323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5740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6424" y="194767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06424" y="22402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· enumerate() · zip() · nested loops for grids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73752" y="185623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73752" y="1856232"/>
            <a:ext cx="36576" cy="71323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05740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85816" y="194767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85816" y="22402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· always update the variable · Ctrl+C to escape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94360" y="272491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" y="2724912"/>
            <a:ext cx="36576" cy="713232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92608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06424" y="28163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/ continue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06424" y="31089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· continue skips to next iteration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73752" y="272491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73752" y="2724912"/>
            <a:ext cx="36576" cy="71323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92608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85816" y="28163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/ else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385816" y="31089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only if no break — almost no devs know this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94360" y="359359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94360" y="3593592"/>
            <a:ext cx="36576" cy="71323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794760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06424" y="36850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vs VSCode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106424" y="39776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= demos/theory, VSCode = .py files committed to GitHub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873752" y="3593592"/>
            <a:ext cx="4041648" cy="713232"/>
          </a:xfrm>
          <a:prstGeom prst="rect">
            <a:avLst/>
          </a:prstGeom>
          <a:solidFill>
            <a:srgbClr val="FDFAF5"/>
          </a:solidFill>
          <a:ln w="12700">
            <a:solidFill>
              <a:srgbClr val="D8D2C6"/>
            </a:solidFill>
            <a:prstDash val="solid"/>
          </a:ln>
          <a:effectLst>
            <a:outerShdw blurRad="76200" dist="25400" dir="8100000" algn="bl" rotWithShape="0">
              <a:srgbClr val="3D3020">
                <a:alpha val="7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873752" y="3593592"/>
            <a:ext cx="36576" cy="7132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3794760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385816" y="36850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385816" y="39776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early, don't nest — max 2 levels deep in professional code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594360" y="4498848"/>
            <a:ext cx="8138160" cy="502920"/>
          </a:xfrm>
          <a:prstGeom prst="rect">
            <a:avLst/>
          </a:prstGeom>
          <a:solidFill>
            <a:srgbClr val="F2E8DF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777240" y="4544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4:</a:t>
            </a:r>
            <a:endParaRPr lang="en-US" sz="1150" dirty="0"/>
          </a:p>
        </p:txBody>
      </p:sp>
      <p:sp>
        <p:nvSpPr>
          <p:cNvPr id="47" name="Text 37"/>
          <p:cNvSpPr/>
          <p:nvPr/>
        </p:nvSpPr>
        <p:spPr>
          <a:xfrm>
            <a:off x="2670048" y="454456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 &amp; Sets — for loops applied to real data structures, shopping cart CLI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777240" y="478231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3 challenge files before class starts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5A9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/ 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3241</Words>
  <Application>Microsoft Office PowerPoint</Application>
  <PresentationFormat>On-screen Show (16:9)</PresentationFormat>
  <Paragraphs>416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— Control Flow: Conditionals &amp; Loops</dc:title>
  <dc:subject>PptxGenJS Presentation</dc:subject>
  <dc:creator>PptxGenJS</dc:creator>
  <cp:lastModifiedBy>Gagan Pradhan</cp:lastModifiedBy>
  <cp:revision>3</cp:revision>
  <dcterms:created xsi:type="dcterms:W3CDTF">2026-05-21T05:48:35Z</dcterms:created>
  <dcterms:modified xsi:type="dcterms:W3CDTF">2026-05-25T10:20:17Z</dcterms:modified>
</cp:coreProperties>
</file>