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27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F8F6F0"/>
          </a:solidFill>
          <a:ln w="12700">
            <a:solidFill>
              <a:srgbClr val="F8F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02920"/>
            <a:ext cx="1024128" cy="310896"/>
          </a:xfrm>
          <a:prstGeom prst="rect">
            <a:avLst/>
          </a:prstGeom>
          <a:solidFill>
            <a:srgbClr val="4A7B5A"/>
          </a:solidFill>
          <a:ln w="12700">
            <a:solidFill>
              <a:srgbClr val="4A7B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8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4.2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B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Python · AI · ML Curriculum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8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Mutability &amp;</a:t>
            </a:r>
            <a:endParaRPr lang="en-US" sz="48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8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2920" y="31821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B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Production Bugs Happen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3749040"/>
            <a:ext cx="3657600" cy="0"/>
          </a:xfrm>
          <a:prstGeom prst="line">
            <a:avLst/>
          </a:prstGeom>
          <a:noFill/>
          <a:ln w="12700">
            <a:solidFill>
              <a:srgbClr val="4A7B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8770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B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into why lists and tuples behave differently — and why it matters in real systems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32120" y="91440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just theory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32120" y="1389888"/>
            <a:ext cx="109728" cy="109728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280160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production system has mutability bugs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32120" y="1865376"/>
            <a:ext cx="109728" cy="109728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755648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Django, Flask, Pandas all trip on this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2340864"/>
            <a:ext cx="109728" cy="109728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231136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junior devs from senior devs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32120" y="2816352"/>
            <a:ext cx="109728" cy="109728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2706624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safety depends on 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32120" y="3291840"/>
            <a:ext cx="109728" cy="109728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3182112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6 months from now depends on 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PICTURE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Mutability?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'list changes, tuple doesn't' — it's about what you CAN DO to the object in memory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81328"/>
            <a:ext cx="4297680" cy="320040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81328"/>
            <a:ext cx="36576" cy="3200400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536192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— Tuple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3986784" cy="2724912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965960"/>
            <a:ext cx="362102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(1, 2, 3)
b = a
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and b point to
# the SAME object
# in memory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a[0] = 99
</a:t>
            </a:r>
            <a:r>
              <a:rPr lang="en-US" sz="10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TypeError!
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IMPOSSIBLE to change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(4, 5, 6)
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Now a points to 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DIFFERENT object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 still sees (1,2,3)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1481328"/>
            <a:ext cx="4297680" cy="320040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481328"/>
            <a:ext cx="36576" cy="320040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7488" y="1536192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— List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47488" y="1828800"/>
            <a:ext cx="3986784" cy="2724912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0368" y="1965960"/>
            <a:ext cx="362102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[1, 2, 3]
b = a
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and b point to
# the SAME object
# in memory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a[0] = 99
</a:t>
            </a:r>
            <a:r>
              <a:rPr lang="en-US" sz="1000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This works!
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Object contents changed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print(b)
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[99, 2, 3]
</a:t>
            </a:r>
            <a:r>
              <a:rPr lang="en-US" sz="10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 sees the change too!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Bug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real code exists in production right now — and it's silently corrupting data: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11480" y="1115568"/>
            <a:ext cx="8321040" cy="1828800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252728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apply_discount(items, rate=0.1):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item in items:
        item['price'] = item['price'] * (1 - rate)
    return items
original_order = [{'name': 'shoes', 'price': 100}]
result = apply_discount(original_order)  # 10% off
print(original_order[0]['price'])  </a:t>
            </a:r>
            <a:r>
              <a:rPr lang="en-US" sz="10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90.0 ← should be 100!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11480" y="3035808"/>
            <a:ext cx="8321040" cy="384048"/>
          </a:xfrm>
          <a:prstGeom prst="rect">
            <a:avLst/>
          </a:prstGeom>
          <a:solidFill>
            <a:srgbClr val="F5EDE3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30815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783080" y="3081528"/>
            <a:ext cx="6720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received a reference to the list, modified the dicts INSIDE it, and those modifications were visible to the caller. The caller thought their original data was safe — it wasn't.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3547872"/>
            <a:ext cx="4069080" cy="1389888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1480" y="3547872"/>
            <a:ext cx="36576" cy="1389888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3602736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fix — mutate input (not great)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" y="3877056"/>
            <a:ext cx="3767328" cy="932688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4014216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apply_discount(items):
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'''WARNING: modifies input'''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item in items:
        item['price']*=0.9
    return items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63440" y="3547872"/>
            <a:ext cx="4069080" cy="1389888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3547872"/>
            <a:ext cx="36576" cy="1389888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3602736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093208" y="360273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fix — return new objects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818888" y="3877056"/>
            <a:ext cx="3493008" cy="932688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001768" y="4014216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apply_discount(items):
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'''Safe: returns new list'''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[{**item,
             'price': item['price']*0.9}
            for item in items]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PRODUCTION BUGS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Mutability Disasters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8138160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07008"/>
            <a:ext cx="2743200" cy="153619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07008"/>
            <a:ext cx="36576" cy="1536192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61872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Default Argument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1536192"/>
            <a:ext cx="2432304" cy="1152144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673352"/>
            <a:ext cx="20665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add(x, lst=[]):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lst.append(x)
    return lst
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add(1)  # [1]
</a:t>
            </a:r>
            <a:r>
              <a:rPr lang="en-US" sz="10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add(2)  # [1,2]!
# Same list used both times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207008"/>
            <a:ext cx="2743200" cy="153619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207008"/>
            <a:ext cx="36576" cy="1536192"/>
          </a:xfrm>
          <a:prstGeom prst="rect">
            <a:avLst/>
          </a:prstGeom>
          <a:solidFill>
            <a:srgbClr val="5C7A4A"/>
          </a:solidFill>
          <a:ln w="12700">
            <a:solidFill>
              <a:srgbClr val="5C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261872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C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While Iterating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93008" y="1536192"/>
            <a:ext cx="2432304" cy="1152144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5888" y="1673352"/>
            <a:ext cx="20665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 = [1,2,3,4,5]
for x in lst:
    if x%2==0:
</a:t>
            </a:r>
            <a:r>
              <a:rPr lang="en-US" sz="10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lst.remove(x)
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 Skips items!
</a:t>
            </a:r>
            <a:r>
              <a:rPr lang="en-US" sz="10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Iterator gets confused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1207008"/>
            <a:ext cx="2743200" cy="153619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207008"/>
            <a:ext cx="36576" cy="1536192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1261872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Shared Mutable State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19088" y="1536192"/>
            <a:ext cx="2432304" cy="1152144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1968" y="1673352"/>
            <a:ext cx="20665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User: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perms = ['read']
    def add(self, p):
</a:t>
            </a:r>
            <a:r>
              <a:rPr lang="en-US" sz="1000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self.perms.append(p)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u1, u2 = User(), User()
</a:t>
            </a:r>
            <a:r>
              <a:rPr lang="en-US" sz="10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u1.add('write')  # u2's perms also change!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852928"/>
            <a:ext cx="8321040" cy="292608"/>
          </a:xfrm>
          <a:prstGeom prst="rect">
            <a:avLst/>
          </a:prstGeom>
          <a:solidFill>
            <a:srgbClr val="EBF2EC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8986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happen because: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29000" y="289864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objects can be modified from anywhere that has a reference to them. You lose track of who can modify what.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327355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do: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1480" y="3547872"/>
            <a:ext cx="2743200" cy="137160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547872"/>
            <a:ext cx="36576" cy="1371600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" y="4014216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args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7784" y="4270248"/>
            <a:ext cx="2450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None instead of mutable default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3547872"/>
            <a:ext cx="2743200" cy="137160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246120" y="3547872"/>
            <a:ext cx="36576" cy="1371600"/>
          </a:xfrm>
          <a:prstGeom prst="rect">
            <a:avLst/>
          </a:prstGeom>
          <a:solidFill>
            <a:srgbClr val="5C7A4A"/>
          </a:solidFill>
          <a:ln w="12700">
            <a:solidFill>
              <a:srgbClr val="5C7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3771900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loops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66160" y="4027932"/>
            <a:ext cx="2450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over a copy: for x in lst[:] or use list comprehension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80760" y="3547872"/>
            <a:ext cx="2743200" cy="137160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0760" y="3547872"/>
            <a:ext cx="36576" cy="1371600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0216" y="372160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state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0216" y="3977640"/>
            <a:ext cx="2450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instance state in __init__: self.perms = ['read']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vs Immutable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8138160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07008"/>
            <a:ext cx="1645920" cy="329184"/>
          </a:xfrm>
          <a:prstGeom prst="rect">
            <a:avLst/>
          </a:prstGeom>
          <a:solidFill>
            <a:srgbClr val="EEE9DF"/>
          </a:solidFill>
          <a:ln w="12700">
            <a:solidFill>
              <a:srgbClr val="7A7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0700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1207008"/>
            <a:ext cx="333756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20700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(list, dict, set)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1207008"/>
            <a:ext cx="315468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20700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(tuple, int, str)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609344"/>
            <a:ext cx="1645920" cy="54864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168249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change after creation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48840" y="1609344"/>
            <a:ext cx="3337560" cy="54864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21992" y="1682496"/>
            <a:ext cx="3191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 — methods like append(), remove()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609344"/>
            <a:ext cx="3154680" cy="54864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50992" y="1682496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— any attempt raises TypeError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194560"/>
            <a:ext cx="1645920" cy="548640"/>
          </a:xfrm>
          <a:prstGeom prst="rect">
            <a:avLst/>
          </a:prstGeom>
          <a:solidFill>
            <a:srgbClr val="F8F6F0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267712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dict key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148840" y="2194560"/>
            <a:ext cx="3337560" cy="548640"/>
          </a:xfrm>
          <a:prstGeom prst="rect">
            <a:avLst/>
          </a:prstGeom>
          <a:solidFill>
            <a:srgbClr val="F8F6F0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21992" y="2267712"/>
            <a:ext cx="3191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— unhashable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2194560"/>
            <a:ext cx="3154680" cy="548640"/>
          </a:xfrm>
          <a:prstGeom prst="rect">
            <a:avLst/>
          </a:prstGeom>
          <a:solidFill>
            <a:srgbClr val="F8F6F0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50992" y="2267712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 — hashable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2779776"/>
            <a:ext cx="1645920" cy="54864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2852928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as function default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148840" y="2779776"/>
            <a:ext cx="3337560" cy="54864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21992" y="2852928"/>
            <a:ext cx="3191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— shared across calls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2779776"/>
            <a:ext cx="3154680" cy="54864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50992" y="2852928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 — each call sees same immutable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3364992"/>
            <a:ext cx="1645920" cy="548640"/>
          </a:xfrm>
          <a:prstGeom prst="rect">
            <a:avLst/>
          </a:prstGeom>
          <a:solidFill>
            <a:srgbClr val="F8F6F0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" y="3438144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visible to all references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148840" y="3364992"/>
            <a:ext cx="3337560" cy="548640"/>
          </a:xfrm>
          <a:prstGeom prst="rect">
            <a:avLst/>
          </a:prstGeom>
          <a:solidFill>
            <a:srgbClr val="F8F6F0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21992" y="3438144"/>
            <a:ext cx="3191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 — b = a means both see changes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77840" y="3364992"/>
            <a:ext cx="3154680" cy="548640"/>
          </a:xfrm>
          <a:prstGeom prst="rect">
            <a:avLst/>
          </a:prstGeom>
          <a:solidFill>
            <a:srgbClr val="F8F6F0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50992" y="3438144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can't modify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3950208"/>
            <a:ext cx="1645920" cy="54864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" y="402336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148840" y="3950208"/>
            <a:ext cx="3337560" cy="54864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21992" y="4023360"/>
            <a:ext cx="3191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data: shopping carts, user sessions, logs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577840" y="3950208"/>
            <a:ext cx="3154680" cy="548640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50992" y="4023360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data: config, coordinates, record keys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4535424"/>
            <a:ext cx="1645920" cy="548640"/>
          </a:xfrm>
          <a:prstGeom prst="rect">
            <a:avLst/>
          </a:prstGeom>
          <a:solidFill>
            <a:srgbClr val="F8F6F0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" y="460857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overhead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148840" y="4535424"/>
            <a:ext cx="3337560" cy="548640"/>
          </a:xfrm>
          <a:prstGeom prst="rect">
            <a:avLst/>
          </a:prstGeom>
          <a:solidFill>
            <a:srgbClr val="F8F6F0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21992" y="4608576"/>
            <a:ext cx="3191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less (no copy guarantees needed)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577840" y="4535424"/>
            <a:ext cx="3154680" cy="548640"/>
          </a:xfrm>
          <a:prstGeom prst="rect">
            <a:avLst/>
          </a:prstGeom>
          <a:solidFill>
            <a:srgbClr val="F8F6F0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50992" y="4608576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optimized (string interning, etc.)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DECISIONS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— Production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8138160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704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building production systems, ask these questions in order: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517904"/>
            <a:ext cx="8321040" cy="749808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17904"/>
            <a:ext cx="36576" cy="749808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82496"/>
            <a:ext cx="402336" cy="402336"/>
          </a:xfrm>
          <a:prstGeom prst="round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2" y="160934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this data change after creation?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68249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continue to Q2        → Use TUPLE (safer)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359152"/>
            <a:ext cx="8321040" cy="749808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359152"/>
            <a:ext cx="36576" cy="749808"/>
          </a:xfrm>
          <a:prstGeom prst="rect">
            <a:avLst/>
          </a:prstGeom>
          <a:solidFill>
            <a:srgbClr val="5C7A4A"/>
          </a:solidFill>
          <a:ln w="12700">
            <a:solidFill>
              <a:srgbClr val="5C7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523744"/>
            <a:ext cx="402336" cy="402336"/>
          </a:xfrm>
          <a:prstGeom prst="roundRect">
            <a:avLst/>
          </a:prstGeom>
          <a:solidFill>
            <a:srgbClr val="5C7A4A"/>
          </a:solidFill>
          <a:ln w="12700">
            <a:solidFill>
              <a:srgbClr val="5C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261518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24505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use as a dict key?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52374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Must be TUPLE or immutable        → continue to Q3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200400"/>
            <a:ext cx="8321040" cy="749808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200400"/>
            <a:ext cx="36576" cy="749808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364992"/>
            <a:ext cx="402336" cy="402336"/>
          </a:xfrm>
          <a:prstGeom prst="round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4564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992" y="3291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this be shared across functions/modules?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36499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TUPLE (immutable = safer)        → LIST is fine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7012" y="39136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85572" y="4133088"/>
            <a:ext cx="4160520" cy="43891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0164" y="41879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757172" y="4187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DB_CONFIG = ('localhost', 5432, 'db')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0164" y="4425696"/>
            <a:ext cx="3831336" cy="128016"/>
          </a:xfrm>
          <a:prstGeom prst="rect">
            <a:avLst/>
          </a:prstGeom>
          <a:solidFill>
            <a:srgbClr val="000000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28972" y="4133088"/>
            <a:ext cx="4160520" cy="43891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3564" y="41879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00572" y="4187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user.roles = {'admin', 'editor'}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93564" y="4425696"/>
            <a:ext cx="3831336" cy="128016"/>
          </a:xfrm>
          <a:prstGeom prst="rect">
            <a:avLst/>
          </a:prstGeom>
          <a:solidFill>
            <a:srgbClr val="000000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5572" y="4636008"/>
            <a:ext cx="4160520" cy="43891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0164" y="46908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757172" y="46908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 = [{'item': 'shoes', 'qty': 1}]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0164" y="4928616"/>
            <a:ext cx="3831336" cy="128016"/>
          </a:xfrm>
          <a:prstGeom prst="rect">
            <a:avLst/>
          </a:prstGeom>
          <a:solidFill>
            <a:srgbClr val="000000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28972" y="4636008"/>
            <a:ext cx="4160520" cy="43891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3564" y="46908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00572" y="46908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 = (latitude, longitude)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93564" y="4928616"/>
            <a:ext cx="3831336" cy="128016"/>
          </a:xfrm>
          <a:prstGeom prst="rect">
            <a:avLst/>
          </a:prstGeom>
          <a:solidFill>
            <a:srgbClr val="000000"/>
          </a:solidFill>
          <a:ln w="12700">
            <a:solidFill>
              <a:srgbClr val="D4CEB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39100" y="440740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SCALES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Safety &amp; Data Science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8138160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07008"/>
            <a:ext cx="4069080" cy="1847088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07008"/>
            <a:ext cx="36576" cy="1847088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6187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126187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Safety (Week 4+)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66928" y="1572768"/>
            <a:ext cx="3767328" cy="1298448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1709928"/>
            <a:ext cx="34015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threads accessing: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immutable_config = ('localhost', 8080)
</a:t>
            </a:r>
            <a:r>
              <a:rPr lang="en-US" sz="1000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Safe — threads can read simultaneously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mutable_config = ['localhost', 8080]
</a:t>
            </a:r>
            <a:r>
              <a:rPr lang="en-US" sz="10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UNSAFE — needs locks, slow, error-prone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1207008"/>
            <a:ext cx="4069080" cy="1847088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207008"/>
            <a:ext cx="36576" cy="1847088"/>
          </a:xfrm>
          <a:prstGeom prst="rect">
            <a:avLst/>
          </a:prstGeom>
          <a:solidFill>
            <a:srgbClr val="3A4A5C"/>
          </a:solidFill>
          <a:ln w="12700">
            <a:solidFill>
              <a:srgbClr val="3A4A5C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26187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48072" y="126187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(Week 2+)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818888" y="1572768"/>
            <a:ext cx="3767328" cy="1298448"/>
          </a:xfrm>
          <a:prstGeom prst="rect">
            <a:avLst/>
          </a:prstGeom>
          <a:solidFill>
            <a:srgbClr val="E8E4D8"/>
          </a:solidFill>
          <a:ln w="12700">
            <a:solidFill>
              <a:srgbClr val="CAC5B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01768" y="1709928"/>
            <a:ext cx="34015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Pandas in-place vs new
</a:t>
            </a:r>
            <a:r>
              <a:rPr lang="en-US" sz="1000" dirty="0">
                <a:solidFill>
                  <a:srgbClr val="1A2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df['price'] *= 0.9  # modifies df
df.drop('col')      # returns new df
</a:t>
            </a:r>
            <a:r>
              <a:rPr lang="en-US" sz="1000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Which? Critical to know!
</a:t>
            </a:r>
            <a:r>
              <a:rPr lang="en-US" sz="1000" dirty="0">
                <a:solidFill>
                  <a:srgbClr val="7A7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df.inplace=True     # explicit mutation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11480" y="3182112"/>
            <a:ext cx="8321040" cy="347472"/>
          </a:xfrm>
          <a:prstGeom prst="rect">
            <a:avLst/>
          </a:prstGeom>
          <a:solidFill>
            <a:srgbClr val="E8EDF2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6928" y="3227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554480" y="3227832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mutability HERE makes Week 2 (Pandas) and Week 4 (concurrency) click immediately. Production systems depend on this.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02920" y="36393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MUTABILITY GOTCHAS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411480" y="3877056"/>
            <a:ext cx="4160520" cy="566928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11480" y="3877056"/>
            <a:ext cx="36576" cy="566928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76072" y="39502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df['col'] = ...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2697480" y="39502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column to original df — IN PLACE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754880" y="3877056"/>
            <a:ext cx="4160520" cy="566928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754880" y="3877056"/>
            <a:ext cx="36576" cy="566928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919472" y="39502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df.drop('col')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7040880" y="39502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NEW df — original unchanged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411480" y="4498848"/>
            <a:ext cx="4160520" cy="566928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11480" y="4498848"/>
            <a:ext cx="36576" cy="566928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76072" y="45720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4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df.drop('col', inplace=True)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2697480" y="45720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Modifies original df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4754880" y="4498848"/>
            <a:ext cx="4160520" cy="566928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4754880" y="4498848"/>
            <a:ext cx="36576" cy="566928"/>
          </a:xfrm>
          <a:prstGeom prst="rect">
            <a:avLst/>
          </a:prstGeom>
          <a:solidFill>
            <a:srgbClr val="5C7A4A"/>
          </a:solidFill>
          <a:ln w="12700">
            <a:solidFill>
              <a:srgbClr val="5C7A4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919472" y="45720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filtered = df[df.age &gt; 25]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7040880" y="45720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NEW df (slice of original view)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SAFE CODE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— Remember These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8138160" cy="0"/>
          </a:xfrm>
          <a:prstGeom prst="line">
            <a:avLst/>
          </a:prstGeom>
          <a:noFill/>
          <a:ln w="12700">
            <a:solidFill>
              <a:srgbClr val="D4CE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207008"/>
            <a:ext cx="4160520" cy="107899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07008"/>
            <a:ext cx="36576" cy="1078992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984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35331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129844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immutability by default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1572768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tuples and strings where possible. Only use lists when you need append/remove.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91456" y="1207008"/>
            <a:ext cx="4160520" cy="107899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91456" y="1207008"/>
            <a:ext cx="36576" cy="1078992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56048" y="12984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38344" y="135331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31536" y="129844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explicit about mutation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31536" y="1572768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function modifies its input, document it clearly. Better: don't modify input at all.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2414016"/>
            <a:ext cx="4160520" cy="107899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414016"/>
            <a:ext cx="36576" cy="1078992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5054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" y="25603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24128" y="250545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when uncertain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2779776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original.copy() before passing to untrusted functions. Small price for safety.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91456" y="2414016"/>
            <a:ext cx="4160520" cy="107899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91456" y="2414016"/>
            <a:ext cx="36576" cy="1078992"/>
          </a:xfrm>
          <a:prstGeom prst="rect">
            <a:avLst/>
          </a:prstGeom>
          <a:solidFill>
            <a:srgbClr val="5C7A4A"/>
          </a:solidFill>
          <a:ln w="12700">
            <a:solidFill>
              <a:srgbClr val="5C7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56048" y="25054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C7A4A"/>
          </a:solidFill>
          <a:ln w="12700">
            <a:solidFill>
              <a:srgbClr val="5C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38344" y="25603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31536" y="250545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immutable types for config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31536" y="2779776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ALLOWED_ROLES = ('admin', 'editor'). Signals: this shouldn't change.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" y="3621024"/>
            <a:ext cx="4160520" cy="107899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3621024"/>
            <a:ext cx="36576" cy="1078992"/>
          </a:xfrm>
          <a:prstGeom prst="rect">
            <a:avLst/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7124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C2A"/>
          </a:solidFill>
          <a:ln w="12700">
            <a:solidFill>
              <a:srgbClr val="6B4C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" y="376732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24128" y="3712464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mutable default arguments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24128" y="3986784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fn(x, lst=None): if lst is None: lst = []  OR use @dataclass()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91456" y="3621024"/>
            <a:ext cx="4160520" cy="1078992"/>
          </a:xfrm>
          <a:prstGeom prst="rect">
            <a:avLst/>
          </a:prstGeom>
          <a:solidFill>
            <a:srgbClr val="FDFCF8"/>
          </a:solidFill>
          <a:ln w="12700">
            <a:solidFill>
              <a:srgbClr val="D4CEBC"/>
            </a:solidFill>
            <a:prstDash val="solid"/>
          </a:ln>
          <a:effectLst>
            <a:outerShdw blurRad="76200" dist="25400" dir="8100000" algn="bl" rotWithShape="0">
              <a:srgbClr val="1A2414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91456" y="3621024"/>
            <a:ext cx="36576" cy="1078992"/>
          </a:xfrm>
          <a:prstGeom prst="rect">
            <a:avLst/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56048" y="37124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D6B35"/>
          </a:solidFill>
          <a:ln w="12700">
            <a:solidFill>
              <a:srgbClr val="3D6B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38344" y="376732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31536" y="3712464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over a copy if you modify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31536" y="3986784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item in lst[:]:  when removing, OR use list comprehension.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065008" y="4846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1337</Words>
  <Application>Microsoft Office PowerPoint</Application>
  <PresentationFormat>On-screen Show (16:9)</PresentationFormat>
  <Paragraphs>144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Part 2 — Mutability &amp; Immutability in Production</dc:title>
  <dc:subject>PptxGenJS Presentation</dc:subject>
  <dc:creator>PptxGenJS</dc:creator>
  <cp:lastModifiedBy>Gagan Pradhan</cp:lastModifiedBy>
  <cp:revision>4</cp:revision>
  <dcterms:created xsi:type="dcterms:W3CDTF">2026-06-01T07:37:46Z</dcterms:created>
  <dcterms:modified xsi:type="dcterms:W3CDTF">2026-06-08T10:06:31Z</dcterms:modified>
</cp:coreProperties>
</file>