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30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89688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5A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0" y="0"/>
            <a:ext cx="3840480" cy="5143500"/>
          </a:xfrm>
          <a:prstGeom prst="rect">
            <a:avLst/>
          </a:prstGeom>
          <a:solidFill>
            <a:srgbClr val="F8F6F0"/>
          </a:solidFill>
          <a:ln w="12700">
            <a:solidFill>
              <a:srgbClr val="F8F6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502920"/>
            <a:ext cx="1024128" cy="310896"/>
          </a:xfrm>
          <a:prstGeom prst="rect">
            <a:avLst/>
          </a:prstGeom>
          <a:solidFill>
            <a:srgbClr val="4A7B5A"/>
          </a:solidFill>
          <a:ln w="12700">
            <a:solidFill>
              <a:srgbClr val="4A7B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502920"/>
            <a:ext cx="1024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50" dirty="0">
                <a:solidFill>
                  <a:srgbClr val="F8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87782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B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Python · AI · ML Curriculum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23444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5800" b="1" dirty="0">
                <a:solidFill>
                  <a:srgbClr val="F8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58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5800" b="1" dirty="0">
                <a:solidFill>
                  <a:srgbClr val="F8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Structures</a:t>
            </a:r>
            <a:endParaRPr lang="en-US" sz="5800" dirty="0"/>
          </a:p>
        </p:txBody>
      </p:sp>
      <p:sp>
        <p:nvSpPr>
          <p:cNvPr id="7" name="Text 5"/>
          <p:cNvSpPr/>
          <p:nvPr/>
        </p:nvSpPr>
        <p:spPr>
          <a:xfrm>
            <a:off x="502920" y="3310128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EB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· Tuples · Sets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02920" y="3913632"/>
            <a:ext cx="3657600" cy="0"/>
          </a:xfrm>
          <a:prstGeom prst="line">
            <a:avLst/>
          </a:prstGeom>
          <a:noFill/>
          <a:ln w="12700">
            <a:solidFill>
              <a:srgbClr val="4A7B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404164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B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 for theory  ·  VSCode for project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466344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7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hours  ·  Beginner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532120" y="594360"/>
            <a:ext cx="3401568" cy="1234440"/>
          </a:xfrm>
          <a:prstGeom prst="rect">
            <a:avLst/>
          </a:prstGeom>
          <a:solidFill>
            <a:srgbClr val="EEE9DF"/>
          </a:solidFill>
          <a:ln w="19050">
            <a:solidFill>
              <a:srgbClr val="2D5A3D"/>
            </a:solidFill>
            <a:prstDash val="solid"/>
          </a:ln>
          <a:effectLst>
            <a:outerShdw blurRad="76200" dist="25400" dir="8100000" algn="bl" rotWithShape="0">
              <a:srgbClr val="1A2414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532120" y="594360"/>
            <a:ext cx="3401568" cy="36576"/>
          </a:xfrm>
          <a:prstGeom prst="rect">
            <a:avLst/>
          </a:prstGeom>
          <a:solidFill>
            <a:srgbClr val="2D5A3D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87568" y="704088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D5A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]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675120" y="70408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687568" y="1252728"/>
            <a:ext cx="30906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950" dirty="0">
                <a:solidFill>
                  <a:srgbClr val="7A7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 · mutable · duplicates OK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532120" y="2011680"/>
            <a:ext cx="3401568" cy="1234440"/>
          </a:xfrm>
          <a:prstGeom prst="rect">
            <a:avLst/>
          </a:prstGeom>
          <a:solidFill>
            <a:srgbClr val="EEE9DF"/>
          </a:solidFill>
          <a:ln w="19050">
            <a:solidFill>
              <a:srgbClr val="6B4C2A"/>
            </a:solidFill>
            <a:prstDash val="solid"/>
          </a:ln>
          <a:effectLst>
            <a:outerShdw blurRad="76200" dist="25400" dir="8100000" algn="bl" rotWithShape="0">
              <a:srgbClr val="1A2414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532120" y="2011680"/>
            <a:ext cx="3401568" cy="36576"/>
          </a:xfrm>
          <a:prstGeom prst="rect">
            <a:avLst/>
          </a:prstGeom>
          <a:solidFill>
            <a:srgbClr val="6B4C2A"/>
          </a:solidFill>
          <a:ln w="12700">
            <a:solidFill>
              <a:srgbClr val="6B4C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87568" y="2121408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6B4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 )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675120" y="212140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Tuple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687568" y="2670048"/>
            <a:ext cx="30906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950" dirty="0">
                <a:solidFill>
                  <a:srgbClr val="7A7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 · immutable · duplicates OK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532120" y="3429000"/>
            <a:ext cx="3401568" cy="1234440"/>
          </a:xfrm>
          <a:prstGeom prst="rect">
            <a:avLst/>
          </a:prstGeom>
          <a:solidFill>
            <a:srgbClr val="EEE9DF"/>
          </a:solidFill>
          <a:ln w="19050">
            <a:solidFill>
              <a:srgbClr val="3D6B35"/>
            </a:solidFill>
            <a:prstDash val="solid"/>
          </a:ln>
          <a:effectLst>
            <a:outerShdw blurRad="76200" dist="25400" dir="8100000" algn="bl" rotWithShape="0">
              <a:srgbClr val="1A2414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532120" y="3429000"/>
            <a:ext cx="3401568" cy="36576"/>
          </a:xfrm>
          <a:prstGeom prst="rect">
            <a:avLst/>
          </a:prstGeom>
          <a:solidFill>
            <a:srgbClr val="3D6B35"/>
          </a:solidFill>
          <a:ln w="12700">
            <a:solidFill>
              <a:srgbClr val="3D6B3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87568" y="3538728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D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}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6675120" y="353872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687568" y="4087368"/>
            <a:ext cx="30906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950" dirty="0">
                <a:solidFill>
                  <a:srgbClr val="7A7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unordered · mutable · unique only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8065008" y="4846320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89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19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Plan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822960"/>
            <a:ext cx="8138160" cy="0"/>
          </a:xfrm>
          <a:prstGeom prst="line">
            <a:avLst/>
          </a:prstGeom>
          <a:noFill/>
          <a:ln w="12700">
            <a:solidFill>
              <a:srgbClr val="D4CEB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960120"/>
            <a:ext cx="8321040" cy="585216"/>
          </a:xfrm>
          <a:prstGeom prst="rect">
            <a:avLst/>
          </a:prstGeom>
          <a:solidFill>
            <a:srgbClr val="FDFCF8"/>
          </a:solidFill>
          <a:ln w="12700">
            <a:solidFill>
              <a:srgbClr val="D4CEBC"/>
            </a:solidFill>
            <a:prstDash val="solid"/>
          </a:ln>
          <a:effectLst>
            <a:outerShdw blurRad="76200" dist="25400" dir="8100000" algn="bl" rotWithShape="0">
              <a:srgbClr val="1A2414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960120"/>
            <a:ext cx="36576" cy="585216"/>
          </a:xfrm>
          <a:prstGeom prst="rect">
            <a:avLst/>
          </a:prstGeom>
          <a:solidFill>
            <a:srgbClr val="2D5A3D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14300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9F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0:00–0:20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719072" y="1143000"/>
            <a:ext cx="777240" cy="219456"/>
          </a:xfrm>
          <a:prstGeom prst="roundRect">
            <a:avLst>
              <a:gd name="adj" fmla="val 25000"/>
            </a:avLst>
          </a:prstGeom>
          <a:solidFill>
            <a:srgbClr val="2D5A3D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719072" y="1143000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8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2615184" y="103327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— the workhorse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615184" y="1316736"/>
            <a:ext cx="5989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7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· index · slice · methods · comprehensions · copy trap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1480" y="1636776"/>
            <a:ext cx="8321040" cy="585216"/>
          </a:xfrm>
          <a:prstGeom prst="rect">
            <a:avLst/>
          </a:prstGeom>
          <a:solidFill>
            <a:srgbClr val="FDFCF8"/>
          </a:solidFill>
          <a:ln w="12700">
            <a:solidFill>
              <a:srgbClr val="D4CEBC"/>
            </a:solidFill>
            <a:prstDash val="solid"/>
          </a:ln>
          <a:effectLst>
            <a:outerShdw blurRad="76200" dist="25400" dir="8100000" algn="bl" rotWithShape="0">
              <a:srgbClr val="1A2414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11480" y="1636776"/>
            <a:ext cx="36576" cy="585216"/>
          </a:xfrm>
          <a:prstGeom prst="rect">
            <a:avLst/>
          </a:prstGeom>
          <a:solidFill>
            <a:srgbClr val="6B4C2A"/>
          </a:solidFill>
          <a:ln w="12700">
            <a:solidFill>
              <a:srgbClr val="6B4C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1819656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9F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0:20–0:30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1719072" y="1819656"/>
            <a:ext cx="777240" cy="219456"/>
          </a:xfrm>
          <a:prstGeom prst="roundRect">
            <a:avLst>
              <a:gd name="adj" fmla="val 25000"/>
            </a:avLst>
          </a:prstGeom>
          <a:solidFill>
            <a:srgbClr val="6B4C2A"/>
          </a:solidFill>
          <a:ln w="12700">
            <a:solidFill>
              <a:srgbClr val="6B4C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719072" y="1819656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8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2615184" y="170992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Tuples — immutable data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2615184" y="1993392"/>
            <a:ext cx="5989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7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immutability · unpacking · when to use · vs list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11480" y="2313432"/>
            <a:ext cx="8321040" cy="585216"/>
          </a:xfrm>
          <a:prstGeom prst="rect">
            <a:avLst/>
          </a:prstGeom>
          <a:solidFill>
            <a:srgbClr val="FDFCF8"/>
          </a:solidFill>
          <a:ln w="12700">
            <a:solidFill>
              <a:srgbClr val="D4CEBC"/>
            </a:solidFill>
            <a:prstDash val="solid"/>
          </a:ln>
          <a:effectLst>
            <a:outerShdw blurRad="76200" dist="25400" dir="8100000" algn="bl" rotWithShape="0">
              <a:srgbClr val="1A2414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11480" y="2313432"/>
            <a:ext cx="36576" cy="585216"/>
          </a:xfrm>
          <a:prstGeom prst="rect">
            <a:avLst/>
          </a:prstGeom>
          <a:solidFill>
            <a:srgbClr val="3D6B35"/>
          </a:solidFill>
          <a:ln w="12700">
            <a:solidFill>
              <a:srgbClr val="3D6B3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249631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9F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0:30–0:40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719072" y="2496312"/>
            <a:ext cx="777240" cy="219456"/>
          </a:xfrm>
          <a:prstGeom prst="roundRect">
            <a:avLst>
              <a:gd name="adj" fmla="val 25000"/>
            </a:avLst>
          </a:prstGeom>
          <a:solidFill>
            <a:srgbClr val="3D6B35"/>
          </a:solidFill>
          <a:ln w="12700">
            <a:solidFill>
              <a:srgbClr val="3D6B3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719072" y="2496312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8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2615184" y="238658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— unique collections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2615184" y="2670048"/>
            <a:ext cx="5989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7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Deduplication · set operations (&amp;, |, -, ^) · O(1) lookup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11480" y="2990088"/>
            <a:ext cx="8321040" cy="585216"/>
          </a:xfrm>
          <a:prstGeom prst="rect">
            <a:avLst/>
          </a:prstGeom>
          <a:solidFill>
            <a:srgbClr val="FDFCF8"/>
          </a:solidFill>
          <a:ln w="12700">
            <a:solidFill>
              <a:srgbClr val="D4CEBC"/>
            </a:solidFill>
            <a:prstDash val="solid"/>
          </a:ln>
          <a:effectLst>
            <a:outerShdw blurRad="76200" dist="25400" dir="8100000" algn="bl" rotWithShape="0">
              <a:srgbClr val="1A2414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11480" y="2990088"/>
            <a:ext cx="36576" cy="585216"/>
          </a:xfrm>
          <a:prstGeom prst="rect">
            <a:avLst/>
          </a:prstGeom>
          <a:solidFill>
            <a:srgbClr val="2D5A3D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317296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9F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0:40–0:45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1719072" y="3172968"/>
            <a:ext cx="777240" cy="219456"/>
          </a:xfrm>
          <a:prstGeom prst="roundRect">
            <a:avLst>
              <a:gd name="adj" fmla="val 25000"/>
            </a:avLst>
          </a:prstGeom>
          <a:solidFill>
            <a:srgbClr val="2D5A3D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719072" y="3172968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8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2615184" y="306324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&amp; decision table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2615184" y="3346704"/>
            <a:ext cx="5989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7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vs Tuple vs Set — the heuristic to remember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11480" y="3666744"/>
            <a:ext cx="8321040" cy="585216"/>
          </a:xfrm>
          <a:prstGeom prst="rect">
            <a:avLst/>
          </a:prstGeom>
          <a:solidFill>
            <a:srgbClr val="FDFCF8"/>
          </a:solidFill>
          <a:ln w="12700">
            <a:solidFill>
              <a:srgbClr val="D4CEBC"/>
            </a:solidFill>
            <a:prstDash val="solid"/>
          </a:ln>
          <a:effectLst>
            <a:outerShdw blurRad="76200" dist="25400" dir="8100000" algn="bl" rotWithShape="0">
              <a:srgbClr val="1A2414">
                <a:alpha val="7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11480" y="3666744"/>
            <a:ext cx="36576" cy="585216"/>
          </a:xfrm>
          <a:prstGeom prst="rect">
            <a:avLst/>
          </a:prstGeom>
          <a:solidFill>
            <a:srgbClr val="2D5A3D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6928" y="3849624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9F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0:45–1:40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1719072" y="3849624"/>
            <a:ext cx="777240" cy="219456"/>
          </a:xfrm>
          <a:prstGeom prst="roundRect">
            <a:avLst>
              <a:gd name="adj" fmla="val 25000"/>
            </a:avLst>
          </a:prstGeom>
          <a:solidFill>
            <a:srgbClr val="2D5A3D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719072" y="3849624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8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2615184" y="373989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Shopping Cart CLI — VSCode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2615184" y="4023360"/>
            <a:ext cx="5989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7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stages: view · add/remove · search · sort/stats · menu loop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11480" y="4343400"/>
            <a:ext cx="8321040" cy="585216"/>
          </a:xfrm>
          <a:prstGeom prst="rect">
            <a:avLst/>
          </a:prstGeom>
          <a:solidFill>
            <a:srgbClr val="FDFCF8"/>
          </a:solidFill>
          <a:ln w="12700">
            <a:solidFill>
              <a:srgbClr val="D4CEBC"/>
            </a:solidFill>
            <a:prstDash val="solid"/>
          </a:ln>
          <a:effectLst>
            <a:outerShdw blurRad="76200" dist="25400" dir="8100000" algn="bl" rotWithShape="0">
              <a:srgbClr val="1A2414">
                <a:alpha val="7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11480" y="4343400"/>
            <a:ext cx="36576" cy="585216"/>
          </a:xfrm>
          <a:prstGeom prst="rect">
            <a:avLst/>
          </a:prstGeom>
          <a:solidFill>
            <a:srgbClr val="3A4A5C"/>
          </a:solidFill>
          <a:ln w="12700">
            <a:solidFill>
              <a:srgbClr val="3A4A5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66928" y="452628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9F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1:40–2:00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1719072" y="4526280"/>
            <a:ext cx="777240" cy="219456"/>
          </a:xfrm>
          <a:prstGeom prst="roundRect">
            <a:avLst>
              <a:gd name="adj" fmla="val 25000"/>
            </a:avLst>
          </a:prstGeom>
          <a:solidFill>
            <a:srgbClr val="3A4A5C"/>
          </a:solidFill>
          <a:ln w="12700">
            <a:solidFill>
              <a:srgbClr val="3A4A5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719072" y="4526280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8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2615184" y="441655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+ 5-Question Quiz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2615184" y="4700016"/>
            <a:ext cx="5989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7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add day04/ → push · then live Colab quiz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8065008" y="4846320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89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19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C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2D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— THE WORKHORSE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&amp; Accessing Lists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04241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A7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used data structure in Python — ordered, mutable, allows duplicates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325880"/>
            <a:ext cx="8138160" cy="0"/>
          </a:xfrm>
          <a:prstGeom prst="line">
            <a:avLst/>
          </a:prstGeom>
          <a:noFill/>
          <a:ln w="12700">
            <a:solidFill>
              <a:srgbClr val="D4CEB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417320"/>
            <a:ext cx="4343400" cy="1097279"/>
          </a:xfrm>
          <a:prstGeom prst="rect">
            <a:avLst/>
          </a:prstGeom>
          <a:solidFill>
            <a:srgbClr val="E8E4D8"/>
          </a:solidFill>
          <a:ln w="12700">
            <a:solidFill>
              <a:srgbClr val="CAC5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554480"/>
            <a:ext cx="3977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800" dirty="0">
                <a:solidFill>
                  <a:srgbClr val="7A72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Creating
</a:t>
            </a:r>
            <a:r>
              <a:rPr lang="en-US" sz="800" dirty="0">
                <a:solidFill>
                  <a:srgbClr val="1A2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fruits   = </a:t>
            </a:r>
            <a:r>
              <a:rPr lang="en-US" sz="800" dirty="0">
                <a:solidFill>
                  <a:srgbClr val="2D5A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["apple", "banana", "mango"]
</a:t>
            </a:r>
            <a:r>
              <a:rPr lang="en-US" sz="800" dirty="0">
                <a:solidFill>
                  <a:srgbClr val="1A2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numbers  = </a:t>
            </a:r>
            <a:r>
              <a:rPr lang="en-US" sz="800" dirty="0">
                <a:solidFill>
                  <a:srgbClr val="2D5A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[1, 2, 3, 4, 5]
</a:t>
            </a:r>
            <a:r>
              <a:rPr lang="en-US" sz="800" dirty="0">
                <a:solidFill>
                  <a:srgbClr val="1A2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mixed    = </a:t>
            </a:r>
            <a:r>
              <a:rPr lang="en-US" sz="800" dirty="0">
                <a:solidFill>
                  <a:srgbClr val="2D5A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["Ali", 25, True, 3.14]  </a:t>
            </a:r>
            <a:r>
              <a:rPr lang="en-US" sz="800" dirty="0">
                <a:solidFill>
                  <a:srgbClr val="7A72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any type!
</a:t>
            </a:r>
            <a:r>
              <a:rPr lang="en-US" sz="800" dirty="0">
                <a:solidFill>
                  <a:srgbClr val="1A2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empty    = </a:t>
            </a:r>
            <a:r>
              <a:rPr lang="en-US" sz="800" dirty="0">
                <a:solidFill>
                  <a:srgbClr val="2D5A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[]</a:t>
            </a:r>
            <a:r>
              <a:rPr lang="en-US" sz="800" dirty="0">
                <a:solidFill>
                  <a:srgbClr val="7A72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# start empty
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11480" y="2651759"/>
            <a:ext cx="4343400" cy="1078992"/>
          </a:xfrm>
          <a:prstGeom prst="rect">
            <a:avLst/>
          </a:prstGeom>
          <a:solidFill>
            <a:srgbClr val="E8E4D8"/>
          </a:solidFill>
          <a:ln w="12700">
            <a:solidFill>
              <a:srgbClr val="CAC5B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743200"/>
            <a:ext cx="3977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7A72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Indexing — 0-based
</a:t>
            </a:r>
            <a:r>
              <a:rPr lang="en-US" sz="1000" dirty="0">
                <a:solidFill>
                  <a:srgbClr val="1A2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fruits[</a:t>
            </a:r>
            <a:r>
              <a:rPr lang="en-US" sz="1000" dirty="0">
                <a:solidFill>
                  <a:srgbClr val="2D5A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000" dirty="0">
                <a:solidFill>
                  <a:srgbClr val="1A2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   </a:t>
            </a:r>
            <a:r>
              <a:rPr lang="en-US" sz="1000" dirty="0">
                <a:solidFill>
                  <a:srgbClr val="7A72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apple   ← first
</a:t>
            </a:r>
            <a:r>
              <a:rPr lang="en-US" sz="1000" dirty="0">
                <a:solidFill>
                  <a:srgbClr val="1A2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fruits[</a:t>
            </a:r>
            <a:r>
              <a:rPr lang="en-US" sz="1000" dirty="0">
                <a:solidFill>
                  <a:srgbClr val="6B4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-1</a:t>
            </a:r>
            <a:r>
              <a:rPr lang="en-US" sz="1000" dirty="0">
                <a:solidFill>
                  <a:srgbClr val="1A2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  </a:t>
            </a:r>
            <a:r>
              <a:rPr lang="en-US" sz="1000" dirty="0">
                <a:solidFill>
                  <a:srgbClr val="7A72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mango   ← last
</a:t>
            </a:r>
            <a:r>
              <a:rPr lang="en-US" sz="1000" dirty="0">
                <a:solidFill>
                  <a:srgbClr val="1A2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fruits[</a:t>
            </a:r>
            <a:r>
              <a:rPr lang="en-US" sz="1000" dirty="0">
                <a:solidFill>
                  <a:srgbClr val="2D5A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000" dirty="0">
                <a:solidFill>
                  <a:srgbClr val="1A2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   </a:t>
            </a:r>
            <a:r>
              <a:rPr lang="en-US" sz="1000" dirty="0">
                <a:solidFill>
                  <a:srgbClr val="7A72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banana  ← second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1480" y="3822192"/>
            <a:ext cx="4343400" cy="1170432"/>
          </a:xfrm>
          <a:prstGeom prst="rect">
            <a:avLst/>
          </a:prstGeom>
          <a:solidFill>
            <a:srgbClr val="E8E4D8"/>
          </a:solidFill>
          <a:ln w="12700">
            <a:solidFill>
              <a:srgbClr val="CAC5B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4041648"/>
            <a:ext cx="3977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7A72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Slicing [start:stop:step]
</a:t>
            </a:r>
            <a:r>
              <a:rPr lang="en-US" sz="800" dirty="0">
                <a:solidFill>
                  <a:srgbClr val="1A2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numbers = [10, 20, 30, 40, 50]
numbers[</a:t>
            </a:r>
            <a:r>
              <a:rPr lang="en-US" sz="800" dirty="0">
                <a:solidFill>
                  <a:srgbClr val="2D5A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1:3</a:t>
            </a:r>
            <a:r>
              <a:rPr lang="en-US" sz="800" dirty="0">
                <a:solidFill>
                  <a:srgbClr val="1A2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  </a:t>
            </a:r>
            <a:r>
              <a:rPr lang="en-US" sz="800" dirty="0">
                <a:solidFill>
                  <a:srgbClr val="7A72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[20, 30]
</a:t>
            </a:r>
            <a:r>
              <a:rPr lang="en-US" sz="800" dirty="0">
                <a:solidFill>
                  <a:srgbClr val="1A2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numbers[</a:t>
            </a:r>
            <a:r>
              <a:rPr lang="en-US" sz="800" dirty="0">
                <a:solidFill>
                  <a:srgbClr val="2D5A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:3</a:t>
            </a:r>
            <a:r>
              <a:rPr lang="en-US" sz="800" dirty="0">
                <a:solidFill>
                  <a:srgbClr val="1A2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   </a:t>
            </a:r>
            <a:r>
              <a:rPr lang="en-US" sz="800" dirty="0">
                <a:solidFill>
                  <a:srgbClr val="7A72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[10, 20, 30]
</a:t>
            </a:r>
            <a:r>
              <a:rPr lang="en-US" sz="800" dirty="0">
                <a:solidFill>
                  <a:srgbClr val="1A2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numbers[</a:t>
            </a:r>
            <a:r>
              <a:rPr lang="en-US" sz="800" dirty="0">
                <a:solidFill>
                  <a:srgbClr val="2D5A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::2</a:t>
            </a:r>
            <a:r>
              <a:rPr lang="en-US" sz="800" dirty="0">
                <a:solidFill>
                  <a:srgbClr val="1A2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  </a:t>
            </a:r>
            <a:r>
              <a:rPr lang="en-US" sz="800" dirty="0">
                <a:solidFill>
                  <a:srgbClr val="7A72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[10, 30, 50]  every other
</a:t>
            </a:r>
            <a:r>
              <a:rPr lang="en-US" sz="800" dirty="0">
                <a:solidFill>
                  <a:srgbClr val="1A2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numbers[</a:t>
            </a:r>
            <a:r>
              <a:rPr lang="en-US" sz="800" dirty="0">
                <a:solidFill>
                  <a:srgbClr val="6B4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::-1</a:t>
            </a:r>
            <a:r>
              <a:rPr lang="en-US" sz="800" dirty="0">
                <a:solidFill>
                  <a:srgbClr val="1A2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 </a:t>
            </a:r>
            <a:r>
              <a:rPr lang="en-US" sz="800" dirty="0">
                <a:solidFill>
                  <a:srgbClr val="7A72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[50, 40, 30, 20, 10] reversed!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937760" y="1417320"/>
            <a:ext cx="3794760" cy="987552"/>
          </a:xfrm>
          <a:prstGeom prst="rect">
            <a:avLst/>
          </a:prstGeom>
          <a:solidFill>
            <a:srgbClr val="FDFCF8"/>
          </a:solidFill>
          <a:ln w="12700">
            <a:solidFill>
              <a:srgbClr val="D4CEBC"/>
            </a:solidFill>
            <a:prstDash val="solid"/>
          </a:ln>
          <a:effectLst>
            <a:outerShdw blurRad="76200" dist="25400" dir="8100000" algn="bl" rotWithShape="0">
              <a:srgbClr val="1A2414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937760" y="1417320"/>
            <a:ext cx="36576" cy="987552"/>
          </a:xfrm>
          <a:prstGeom prst="rect">
            <a:avLst/>
          </a:prstGeom>
          <a:solidFill>
            <a:srgbClr val="6B4C2A"/>
          </a:solidFill>
          <a:ln w="12700">
            <a:solidFill>
              <a:srgbClr val="6B4C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93208" y="1472184"/>
            <a:ext cx="3493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4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indexing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93208" y="1737360"/>
            <a:ext cx="34930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7A7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 is last, -2 is second to last. Works on all sequences — strings and tuples too. No need to write len(list) - 1.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937760" y="2505456"/>
            <a:ext cx="3794760" cy="777240"/>
          </a:xfrm>
          <a:prstGeom prst="rect">
            <a:avLst/>
          </a:prstGeom>
          <a:solidFill>
            <a:srgbClr val="FDFCF8"/>
          </a:solidFill>
          <a:ln w="12700">
            <a:solidFill>
              <a:srgbClr val="D4CEBC"/>
            </a:solidFill>
            <a:prstDash val="solid"/>
          </a:ln>
          <a:effectLst>
            <a:outerShdw blurRad="76200" dist="25400" dir="8100000" algn="bl" rotWithShape="0">
              <a:srgbClr val="1A2414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937760" y="2505456"/>
            <a:ext cx="36576" cy="777240"/>
          </a:xfrm>
          <a:prstGeom prst="rect">
            <a:avLst/>
          </a:prstGeom>
          <a:solidFill>
            <a:srgbClr val="2D5A3D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93208" y="2560320"/>
            <a:ext cx="3493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[::-1] — fan favourite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93208" y="2816352"/>
            <a:ext cx="34930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7A7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of -1 = go backwards through the entire list. Works on strings too: 'hello'[::-1] → 'olleh'.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937760" y="3383280"/>
            <a:ext cx="3794760" cy="777240"/>
          </a:xfrm>
          <a:prstGeom prst="rect">
            <a:avLst/>
          </a:prstGeom>
          <a:solidFill>
            <a:srgbClr val="FDFCF8"/>
          </a:solidFill>
          <a:ln w="12700">
            <a:solidFill>
              <a:srgbClr val="D4CEBC"/>
            </a:solidFill>
            <a:prstDash val="solid"/>
          </a:ln>
          <a:effectLst>
            <a:outerShdw blurRad="76200" dist="25400" dir="8100000" algn="bl" rotWithShape="0">
              <a:srgbClr val="1A2414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937760" y="3383280"/>
            <a:ext cx="36576" cy="777240"/>
          </a:xfrm>
          <a:prstGeom prst="rect">
            <a:avLst/>
          </a:prstGeom>
          <a:solidFill>
            <a:srgbClr val="3D6B35"/>
          </a:solidFill>
          <a:ln w="12700">
            <a:solidFill>
              <a:srgbClr val="3D6B35"/>
            </a:solidFill>
            <a:prstDash val="solid"/>
          </a:ln>
        </p:spPr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3208" y="3493008"/>
            <a:ext cx="256032" cy="256032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5422392" y="3456432"/>
            <a:ext cx="3127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D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use case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5093208" y="3712464"/>
            <a:ext cx="3493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7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query results → list of rows. API responses → list of items. CSV rows → list of values.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4937760" y="4261104"/>
            <a:ext cx="3794760" cy="731520"/>
          </a:xfrm>
          <a:prstGeom prst="rect">
            <a:avLst/>
          </a:prstGeom>
          <a:solidFill>
            <a:srgbClr val="FDFCF8"/>
          </a:solidFill>
          <a:ln w="12700">
            <a:solidFill>
              <a:srgbClr val="D4CEBC"/>
            </a:solidFill>
            <a:prstDash val="solid"/>
          </a:ln>
          <a:effectLst>
            <a:outerShdw blurRad="76200" dist="25400" dir="8100000" algn="bl" rotWithShape="0">
              <a:srgbClr val="1A2414">
                <a:alpha val="7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4937760" y="4261104"/>
            <a:ext cx="36576" cy="731520"/>
          </a:xfrm>
          <a:prstGeom prst="rect">
            <a:avLst/>
          </a:prstGeom>
          <a:solidFill>
            <a:srgbClr val="3A4A5C"/>
          </a:solidFill>
          <a:ln w="12700">
            <a:solidFill>
              <a:srgbClr val="3A4A5C"/>
            </a:solidFill>
            <a:prstDash val="solid"/>
          </a:ln>
        </p:spPr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3208" y="4370832"/>
            <a:ext cx="256032" cy="256032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5422392" y="4334256"/>
            <a:ext cx="3127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check: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5093208" y="4590288"/>
            <a:ext cx="3493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[10,20,30,40][1:-1]  → ?   answer: [20, 30]</a:t>
            </a:r>
            <a:endParaRPr lang="en-US" sz="950" dirty="0"/>
          </a:p>
        </p:txBody>
      </p:sp>
      <p:sp>
        <p:nvSpPr>
          <p:cNvPr id="30" name="Text 26"/>
          <p:cNvSpPr/>
          <p:nvPr/>
        </p:nvSpPr>
        <p:spPr>
          <a:xfrm>
            <a:off x="8065008" y="4846320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89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19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2D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— METHODS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List Methods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042416"/>
            <a:ext cx="8138160" cy="0"/>
          </a:xfrm>
          <a:prstGeom prst="line">
            <a:avLst/>
          </a:prstGeom>
          <a:noFill/>
          <a:ln w="12700">
            <a:solidFill>
              <a:srgbClr val="D4CEB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143000"/>
            <a:ext cx="4160520" cy="640080"/>
          </a:xfrm>
          <a:prstGeom prst="rect">
            <a:avLst/>
          </a:prstGeom>
          <a:solidFill>
            <a:srgbClr val="FDFCF8"/>
          </a:solidFill>
          <a:ln w="12700">
            <a:solidFill>
              <a:srgbClr val="D4CEB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143000"/>
            <a:ext cx="36576" cy="640080"/>
          </a:xfrm>
          <a:prstGeom prst="rect">
            <a:avLst/>
          </a:prstGeom>
          <a:solidFill>
            <a:srgbClr val="2D5A3D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6072" y="1216152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5A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cart.append(item)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990088" y="121615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7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to the END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76072" y="1490472"/>
            <a:ext cx="3858768" cy="0"/>
          </a:xfrm>
          <a:prstGeom prst="line">
            <a:avLst/>
          </a:prstGeom>
          <a:noFill/>
          <a:ln w="12700">
            <a:solidFill>
              <a:srgbClr val="D4CEB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18888" y="1143000"/>
            <a:ext cx="4160520" cy="640080"/>
          </a:xfrm>
          <a:prstGeom prst="rect">
            <a:avLst/>
          </a:prstGeom>
          <a:solidFill>
            <a:srgbClr val="FDFCF8"/>
          </a:solidFill>
          <a:ln w="12700">
            <a:solidFill>
              <a:srgbClr val="D4CEB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18888" y="1143000"/>
            <a:ext cx="36576" cy="640080"/>
          </a:xfrm>
          <a:prstGeom prst="rect">
            <a:avLst/>
          </a:prstGeom>
          <a:solidFill>
            <a:srgbClr val="2D5A3D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83480" y="1216152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5A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cart.insert(1, item)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397496" y="121615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7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inserts at index 1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983480" y="1490472"/>
            <a:ext cx="3858768" cy="0"/>
          </a:xfrm>
          <a:prstGeom prst="line">
            <a:avLst/>
          </a:prstGeom>
          <a:noFill/>
          <a:ln w="12700">
            <a:solidFill>
              <a:srgbClr val="D4CEB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" y="1856232"/>
            <a:ext cx="4160520" cy="640080"/>
          </a:xfrm>
          <a:prstGeom prst="rect">
            <a:avLst/>
          </a:prstGeom>
          <a:solidFill>
            <a:srgbClr val="FDFCF8"/>
          </a:solidFill>
          <a:ln w="12700">
            <a:solidFill>
              <a:srgbClr val="D4CEB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1856232"/>
            <a:ext cx="36576" cy="640080"/>
          </a:xfrm>
          <a:prstGeom prst="rect">
            <a:avLst/>
          </a:prstGeom>
          <a:solidFill>
            <a:srgbClr val="6B4C2A"/>
          </a:solidFill>
          <a:ln w="12700">
            <a:solidFill>
              <a:srgbClr val="6B4C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6072" y="1929384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B4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cart.remove(item)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990088" y="1929384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7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by VALUE (first match)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76072" y="2203704"/>
            <a:ext cx="3858768" cy="0"/>
          </a:xfrm>
          <a:prstGeom prst="line">
            <a:avLst/>
          </a:prstGeom>
          <a:noFill/>
          <a:ln w="12700">
            <a:solidFill>
              <a:srgbClr val="D4CEB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18888" y="1856232"/>
            <a:ext cx="4160520" cy="640080"/>
          </a:xfrm>
          <a:prstGeom prst="rect">
            <a:avLst/>
          </a:prstGeom>
          <a:solidFill>
            <a:srgbClr val="FDFCF8"/>
          </a:solidFill>
          <a:ln w="12700">
            <a:solidFill>
              <a:srgbClr val="D4CEB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18888" y="1856232"/>
            <a:ext cx="36576" cy="640080"/>
          </a:xfrm>
          <a:prstGeom prst="rect">
            <a:avLst/>
          </a:prstGeom>
          <a:solidFill>
            <a:srgbClr val="6B4C2A"/>
          </a:solidFill>
          <a:ln w="12700">
            <a:solidFill>
              <a:srgbClr val="6B4C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83480" y="1929384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B4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cart.pop()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397496" y="1929384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7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and returns LAST item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983480" y="2203704"/>
            <a:ext cx="3858768" cy="0"/>
          </a:xfrm>
          <a:prstGeom prst="line">
            <a:avLst/>
          </a:prstGeom>
          <a:noFill/>
          <a:ln w="12700">
            <a:solidFill>
              <a:srgbClr val="D4CEB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11480" y="2569464"/>
            <a:ext cx="4160520" cy="555674"/>
          </a:xfrm>
          <a:prstGeom prst="rect">
            <a:avLst/>
          </a:prstGeom>
          <a:solidFill>
            <a:srgbClr val="FDFCF8"/>
          </a:solidFill>
          <a:ln w="12700">
            <a:solidFill>
              <a:srgbClr val="D4CEB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11479" y="2569464"/>
            <a:ext cx="45719" cy="555672"/>
          </a:xfrm>
          <a:prstGeom prst="rect">
            <a:avLst/>
          </a:prstGeom>
          <a:solidFill>
            <a:srgbClr val="6B4C2A"/>
          </a:solidFill>
          <a:ln w="12700">
            <a:solidFill>
              <a:srgbClr val="6B4C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76072" y="264261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B4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cart.pop(0)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990088" y="264261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7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and returns item at index 0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76072" y="2916936"/>
            <a:ext cx="3858768" cy="0"/>
          </a:xfrm>
          <a:prstGeom prst="line">
            <a:avLst/>
          </a:prstGeom>
          <a:noFill/>
          <a:ln w="12700">
            <a:solidFill>
              <a:srgbClr val="D4CEB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18888" y="2569464"/>
            <a:ext cx="4160520" cy="546178"/>
          </a:xfrm>
          <a:prstGeom prst="rect">
            <a:avLst/>
          </a:prstGeom>
          <a:solidFill>
            <a:srgbClr val="FDFCF8"/>
          </a:solidFill>
          <a:ln w="12700">
            <a:solidFill>
              <a:srgbClr val="D4CEB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18887" y="2569464"/>
            <a:ext cx="45719" cy="546177"/>
          </a:xfrm>
          <a:prstGeom prst="rect">
            <a:avLst/>
          </a:prstGeom>
          <a:solidFill>
            <a:srgbClr val="3D6B35"/>
          </a:solidFill>
          <a:ln w="12700">
            <a:solidFill>
              <a:srgbClr val="3D6B3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83480" y="264261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cart.sort()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397496" y="264261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7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IN PLACE — modifies original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983480" y="2916936"/>
            <a:ext cx="3858768" cy="0"/>
          </a:xfrm>
          <a:prstGeom prst="line">
            <a:avLst/>
          </a:prstGeom>
          <a:noFill/>
          <a:ln w="12700">
            <a:solidFill>
              <a:srgbClr val="D4CEB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06205" y="3211653"/>
            <a:ext cx="4160520" cy="493777"/>
          </a:xfrm>
          <a:prstGeom prst="rect">
            <a:avLst/>
          </a:prstGeom>
          <a:solidFill>
            <a:srgbClr val="FDFCF8"/>
          </a:solidFill>
          <a:ln w="12700">
            <a:solidFill>
              <a:srgbClr val="D4CEB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06204" y="3211653"/>
            <a:ext cx="45719" cy="493775"/>
          </a:xfrm>
          <a:prstGeom prst="rect">
            <a:avLst/>
          </a:prstGeom>
          <a:solidFill>
            <a:srgbClr val="3D6B35"/>
          </a:solidFill>
          <a:ln w="12700">
            <a:solidFill>
              <a:srgbClr val="3D6B3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70797" y="3284805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sorted(cart)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984813" y="3284805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7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NEW sorted list — original unchanged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70797" y="3559125"/>
            <a:ext cx="3858768" cy="0"/>
          </a:xfrm>
          <a:prstGeom prst="line">
            <a:avLst/>
          </a:prstGeom>
          <a:noFill/>
          <a:ln w="12700">
            <a:solidFill>
              <a:srgbClr val="D4CEB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813613" y="3211653"/>
            <a:ext cx="4160520" cy="484632"/>
          </a:xfrm>
          <a:prstGeom prst="rect">
            <a:avLst/>
          </a:prstGeom>
          <a:solidFill>
            <a:srgbClr val="FDFCF8"/>
          </a:solidFill>
          <a:ln w="12700">
            <a:solidFill>
              <a:srgbClr val="D4CEB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813612" y="3211653"/>
            <a:ext cx="45719" cy="484630"/>
          </a:xfrm>
          <a:prstGeom prst="rect">
            <a:avLst/>
          </a:prstGeom>
          <a:solidFill>
            <a:srgbClr val="5C7A4A"/>
          </a:solidFill>
          <a:ln w="12700">
            <a:solidFill>
              <a:srgbClr val="5C7A4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78205" y="3284805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C7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cart.reverse()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392221" y="3284805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7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reverses in place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978205" y="3559125"/>
            <a:ext cx="3858768" cy="0"/>
          </a:xfrm>
          <a:prstGeom prst="line">
            <a:avLst/>
          </a:prstGeom>
          <a:noFill/>
          <a:ln w="12700">
            <a:solidFill>
              <a:srgbClr val="D4CEB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25196" y="3782097"/>
            <a:ext cx="4160520" cy="541606"/>
          </a:xfrm>
          <a:prstGeom prst="rect">
            <a:avLst/>
          </a:prstGeom>
          <a:solidFill>
            <a:srgbClr val="FDFCF8"/>
          </a:solidFill>
          <a:ln w="12700">
            <a:solidFill>
              <a:srgbClr val="D4CEB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06908" y="3791241"/>
            <a:ext cx="36576" cy="541606"/>
          </a:xfrm>
          <a:prstGeom prst="rect">
            <a:avLst/>
          </a:prstGeom>
          <a:solidFill>
            <a:srgbClr val="5C7A4A"/>
          </a:solidFill>
          <a:ln w="12700">
            <a:solidFill>
              <a:srgbClr val="5C7A4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71500" y="3934731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C7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cart.copy()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2985516" y="3934731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7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shallow copy — see next slide!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571500" y="4209051"/>
            <a:ext cx="3858768" cy="0"/>
          </a:xfrm>
          <a:prstGeom prst="line">
            <a:avLst/>
          </a:prstGeom>
          <a:noFill/>
          <a:ln w="12700">
            <a:solidFill>
              <a:srgbClr val="D4CEBC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850892" y="3781044"/>
            <a:ext cx="4160520" cy="527889"/>
          </a:xfrm>
          <a:prstGeom prst="rect">
            <a:avLst/>
          </a:prstGeom>
          <a:solidFill>
            <a:srgbClr val="FDFCF8"/>
          </a:solidFill>
          <a:ln w="12700">
            <a:solidFill>
              <a:srgbClr val="D4CEBC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818887" y="3782097"/>
            <a:ext cx="45719" cy="526836"/>
          </a:xfrm>
          <a:prstGeom prst="rect">
            <a:avLst/>
          </a:prstGeom>
          <a:solidFill>
            <a:srgbClr val="7A7260"/>
          </a:solidFill>
          <a:ln w="12700">
            <a:solidFill>
              <a:srgbClr val="7A726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004406" y="3885847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A72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len(cart)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7397496" y="3897277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7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items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4978205" y="4111281"/>
            <a:ext cx="3858768" cy="0"/>
          </a:xfrm>
          <a:prstGeom prst="line">
            <a:avLst/>
          </a:prstGeom>
          <a:noFill/>
          <a:ln w="12700">
            <a:solidFill>
              <a:srgbClr val="D4CEBC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02512" y="4391053"/>
            <a:ext cx="4160520" cy="386158"/>
          </a:xfrm>
          <a:prstGeom prst="rect">
            <a:avLst/>
          </a:prstGeom>
          <a:solidFill>
            <a:srgbClr val="FDFCF8"/>
          </a:solidFill>
          <a:ln w="12700">
            <a:solidFill>
              <a:srgbClr val="D4CEBC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02512" y="4391053"/>
            <a:ext cx="36576" cy="386158"/>
          </a:xfrm>
          <a:prstGeom prst="rect">
            <a:avLst/>
          </a:prstGeom>
          <a:solidFill>
            <a:srgbClr val="7A7260"/>
          </a:solidFill>
          <a:ln w="12700">
            <a:solidFill>
              <a:srgbClr val="7A726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67104" y="4464205"/>
            <a:ext cx="2331720" cy="143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A72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"shoes" in cart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2981120" y="4464205"/>
            <a:ext cx="1463040" cy="143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7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True/False membership test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567104" y="4738525"/>
            <a:ext cx="3858768" cy="0"/>
          </a:xfrm>
          <a:prstGeom prst="line">
            <a:avLst/>
          </a:prstGeom>
          <a:noFill/>
          <a:ln w="12700">
            <a:solidFill>
              <a:srgbClr val="D4CEBC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809920" y="4391053"/>
            <a:ext cx="4160520" cy="386158"/>
          </a:xfrm>
          <a:prstGeom prst="rect">
            <a:avLst/>
          </a:prstGeom>
          <a:solidFill>
            <a:srgbClr val="FDFCF8"/>
          </a:solidFill>
          <a:ln w="12700">
            <a:solidFill>
              <a:srgbClr val="D4CEBC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809920" y="4391053"/>
            <a:ext cx="36576" cy="386158"/>
          </a:xfrm>
          <a:prstGeom prst="rect">
            <a:avLst/>
          </a:prstGeom>
          <a:solidFill>
            <a:srgbClr val="7A7260"/>
          </a:solidFill>
          <a:ln w="12700">
            <a:solidFill>
              <a:srgbClr val="7A726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974512" y="4464205"/>
            <a:ext cx="2331720" cy="143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A72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cart.index('shoes')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7388528" y="4464205"/>
            <a:ext cx="1463040" cy="143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7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index of a value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4974512" y="4738525"/>
            <a:ext cx="3858768" cy="0"/>
          </a:xfrm>
          <a:prstGeom prst="line">
            <a:avLst/>
          </a:prstGeom>
          <a:noFill/>
          <a:ln w="12700">
            <a:solidFill>
              <a:srgbClr val="D4CEBC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57198" y="4860970"/>
            <a:ext cx="8321040" cy="236868"/>
          </a:xfrm>
          <a:prstGeom prst="rect">
            <a:avLst/>
          </a:prstGeom>
          <a:solidFill>
            <a:srgbClr val="EBF2EC"/>
          </a:solidFill>
          <a:ln w="12700">
            <a:solidFill>
              <a:srgbClr val="2D5A3D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6" name="Text 64"/>
          <p:cNvSpPr/>
          <p:nvPr/>
        </p:nvSpPr>
        <p:spPr>
          <a:xfrm>
            <a:off x="576072" y="4889227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sort() vs sorted():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2528316" y="4903294"/>
            <a:ext cx="6446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7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sort() modifies the list in place and returns None.  sorted() returns a new sorted list and leaves the original unchanged.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8321040" y="4964634"/>
            <a:ext cx="822960" cy="1213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89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19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C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6B4C2A"/>
          </a:solidFill>
          <a:ln w="12700">
            <a:solidFill>
              <a:srgbClr val="6B4C2A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09728"/>
            <a:ext cx="420624" cy="4206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91440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8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Copy Trap — Most Common Python Bug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411480" y="74980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7A7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does NOT copy a list — both variables point to the same list in memory.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411480" y="1024128"/>
            <a:ext cx="4251960" cy="274320"/>
          </a:xfrm>
          <a:prstGeom prst="rect">
            <a:avLst/>
          </a:prstGeom>
          <a:solidFill>
            <a:srgbClr val="F5EDE3"/>
          </a:solidFill>
          <a:ln w="12700">
            <a:solidFill>
              <a:srgbClr val="6B4C2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66928" y="1069848"/>
            <a:ext cx="3913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B4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— this is NOT a copy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411480" y="1325880"/>
            <a:ext cx="4251960" cy="1261872"/>
          </a:xfrm>
          <a:prstGeom prst="rect">
            <a:avLst/>
          </a:prstGeom>
          <a:solidFill>
            <a:srgbClr val="E8E4D8"/>
          </a:solidFill>
          <a:ln w="12700">
            <a:solidFill>
              <a:srgbClr val="CAC5B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94360" y="1463040"/>
            <a:ext cx="38862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1A2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original = [1, 2, 3]
also_original = original   </a:t>
            </a:r>
            <a:r>
              <a:rPr lang="en-US" sz="1000" dirty="0">
                <a:solidFill>
                  <a:srgbClr val="6B4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same list!
</a:t>
            </a:r>
            <a:r>
              <a:rPr lang="en-US" sz="1000" dirty="0">
                <a:solidFill>
                  <a:srgbClr val="1A2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also_original.append(4)
print(original)            </a:t>
            </a:r>
            <a:r>
              <a:rPr lang="en-US" sz="1000" dirty="0">
                <a:solidFill>
                  <a:srgbClr val="6B4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[1, 2, 3, 4] ← surprise!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11480" y="2670048"/>
            <a:ext cx="4251960" cy="274320"/>
          </a:xfrm>
          <a:prstGeom prst="rect">
            <a:avLst/>
          </a:prstGeom>
          <a:solidFill>
            <a:srgbClr val="EEF4EC"/>
          </a:solidFill>
          <a:ln w="12700">
            <a:solidFill>
              <a:srgbClr val="3D6B3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6928" y="2715768"/>
            <a:ext cx="3913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D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— two ways to actually copy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411480" y="2971800"/>
            <a:ext cx="4251960" cy="1536192"/>
          </a:xfrm>
          <a:prstGeom prst="rect">
            <a:avLst/>
          </a:prstGeom>
          <a:solidFill>
            <a:srgbClr val="E8E4D8"/>
          </a:solidFill>
          <a:ln w="12700">
            <a:solidFill>
              <a:srgbClr val="CAC5B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3108960"/>
            <a:ext cx="388620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1A2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original = [1, 2, 3]
copy1 = original.copy()   </a:t>
            </a:r>
            <a:r>
              <a:rPr lang="en-US" sz="1000" dirty="0">
                <a:solidFill>
                  <a:srgbClr val="3D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method
</a:t>
            </a:r>
            <a:r>
              <a:rPr lang="en-US" sz="1000" dirty="0">
                <a:solidFill>
                  <a:srgbClr val="1A2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copy2 = original[:]       </a:t>
            </a:r>
            <a:r>
              <a:rPr lang="en-US" sz="1000" dirty="0">
                <a:solidFill>
                  <a:srgbClr val="3D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slice notation
</a:t>
            </a:r>
            <a:r>
              <a:rPr lang="en-US" sz="1000" dirty="0">
                <a:solidFill>
                  <a:srgbClr val="1A2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copy1.append(4)
print(original)           </a:t>
            </a:r>
            <a:r>
              <a:rPr lang="en-US" sz="1000" dirty="0">
                <a:solidFill>
                  <a:srgbClr val="3D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[1, 2, 3] ← safe!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846320" y="1024128"/>
            <a:ext cx="3886200" cy="1536192"/>
          </a:xfrm>
          <a:prstGeom prst="rect">
            <a:avLst/>
          </a:prstGeom>
          <a:solidFill>
            <a:srgbClr val="FDFCF8"/>
          </a:solidFill>
          <a:ln w="12700">
            <a:solidFill>
              <a:srgbClr val="D4CEBC"/>
            </a:solidFill>
            <a:prstDash val="solid"/>
          </a:ln>
          <a:effectLst>
            <a:outerShdw blurRad="76200" dist="25400" dir="8100000" algn="bl" rotWithShape="0">
              <a:srgbClr val="1A2414">
                <a:alpha val="7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846320" y="1024128"/>
            <a:ext cx="36576" cy="1536192"/>
          </a:xfrm>
          <a:prstGeom prst="rect">
            <a:avLst/>
          </a:prstGeom>
          <a:solidFill>
            <a:srgbClr val="6B4C2A"/>
          </a:solidFill>
          <a:ln w="12700">
            <a:solidFill>
              <a:srgbClr val="6B4C2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001768" y="1078992"/>
            <a:ext cx="3584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4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this happen?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001768" y="1353312"/>
            <a:ext cx="358444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800" dirty="0">
                <a:solidFill>
                  <a:srgbClr val="7A7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Python, a list is an object stored somewhere in memory. A variable is just a label pointing to that object.</a:t>
            </a:r>
          </a:p>
          <a:p>
            <a:pPr marL="0" indent="0">
              <a:lnSpc>
                <a:spcPct val="140000"/>
              </a:lnSpc>
              <a:buNone/>
            </a:pPr>
            <a:endParaRPr lang="en-US" sz="8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800" dirty="0">
                <a:solidFill>
                  <a:srgbClr val="7A7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write b = a, you're creating a second label pointing to the SAME object — not a new one.</a:t>
            </a:r>
            <a:endParaRPr lang="en-US" sz="8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800" dirty="0">
                <a:solidFill>
                  <a:srgbClr val="7A7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one of the most common production bugs in Python codebases.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4846320" y="2670048"/>
            <a:ext cx="3886200" cy="1847088"/>
          </a:xfrm>
          <a:prstGeom prst="rect">
            <a:avLst/>
          </a:prstGeom>
          <a:solidFill>
            <a:srgbClr val="FDFCF8"/>
          </a:solidFill>
          <a:ln w="12700">
            <a:solidFill>
              <a:srgbClr val="D4CEBC"/>
            </a:solidFill>
            <a:prstDash val="solid"/>
          </a:ln>
          <a:effectLst>
            <a:outerShdw blurRad="76200" dist="25400" dir="8100000" algn="bl" rotWithShape="0">
              <a:srgbClr val="1A2414">
                <a:alpha val="7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846320" y="2670048"/>
            <a:ext cx="36576" cy="1847088"/>
          </a:xfrm>
          <a:prstGeom prst="rect">
            <a:avLst/>
          </a:prstGeom>
          <a:solidFill>
            <a:srgbClr val="3D6B35"/>
          </a:solidFill>
          <a:ln w="12700">
            <a:solidFill>
              <a:srgbClr val="3D6B35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001768" y="2724912"/>
            <a:ext cx="3584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D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comprehensions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001768" y="2999232"/>
            <a:ext cx="3584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7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Pythonic one-liner alternative to a for loop + append: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5001767" y="3401568"/>
            <a:ext cx="3635795" cy="1115568"/>
          </a:xfrm>
          <a:prstGeom prst="rect">
            <a:avLst/>
          </a:prstGeom>
          <a:solidFill>
            <a:srgbClr val="E8E4D8"/>
          </a:solidFill>
          <a:ln w="12700">
            <a:solidFill>
              <a:srgbClr val="CAC5B5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184648" y="3538728"/>
            <a:ext cx="32186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7A72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Filter and transform in one line
</a:t>
            </a:r>
            <a:r>
              <a:rPr lang="en-US" sz="1000" dirty="0">
                <a:solidFill>
                  <a:srgbClr val="1A2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numbers = [1,2,3,4,5,6,7,8,9,10]
evens    = [n for n in numbers if n%2==0]
squared  = [n**2 for n in numbers]
discount = [p*0.9 for p in [100,200,150]]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8065008" y="4846320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89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19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2D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TUPLES — IMMUTABLE DATA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Tuples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04241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A7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a list you've locked. Signals to every developer: this data should never change.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1325880"/>
            <a:ext cx="4434840" cy="1353312"/>
          </a:xfrm>
          <a:prstGeom prst="rect">
            <a:avLst/>
          </a:prstGeom>
          <a:solidFill>
            <a:srgbClr val="E8E4D8"/>
          </a:solidFill>
          <a:ln w="12700">
            <a:solidFill>
              <a:srgbClr val="CAC5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463040"/>
            <a:ext cx="40690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7A72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Creating tuples
</a:t>
            </a:r>
            <a:r>
              <a:rPr lang="en-US" sz="1000" dirty="0">
                <a:solidFill>
                  <a:srgbClr val="1A2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point     = </a:t>
            </a:r>
            <a:r>
              <a:rPr lang="en-US" sz="1000" dirty="0">
                <a:solidFill>
                  <a:srgbClr val="6B4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(10, 20)                </a:t>
            </a:r>
            <a:r>
              <a:rPr lang="en-US" sz="1000" dirty="0">
                <a:solidFill>
                  <a:srgbClr val="7A72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x, y coordinates
</a:t>
            </a:r>
            <a:r>
              <a:rPr lang="en-US" sz="1000" dirty="0">
                <a:solidFill>
                  <a:srgbClr val="1A2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rgb       = </a:t>
            </a:r>
            <a:r>
              <a:rPr lang="en-US" sz="1000" dirty="0">
                <a:solidFill>
                  <a:srgbClr val="6B4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(255, 128, 0)           </a:t>
            </a:r>
            <a:r>
              <a:rPr lang="en-US" sz="1000" dirty="0">
                <a:solidFill>
                  <a:srgbClr val="7A72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orange colour
</a:t>
            </a:r>
            <a:r>
              <a:rPr lang="en-US" sz="1000" dirty="0">
                <a:solidFill>
                  <a:srgbClr val="1A2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single    = </a:t>
            </a:r>
            <a:r>
              <a:rPr lang="en-US" sz="1000" dirty="0">
                <a:solidFill>
                  <a:srgbClr val="6B4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(42,)                </a:t>
            </a:r>
            <a:r>
              <a:rPr lang="en-US" sz="1000" dirty="0">
                <a:solidFill>
                  <a:srgbClr val="7A72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trailing comma needed!
</a:t>
            </a:r>
            <a:r>
              <a:rPr lang="en-US" sz="1000" dirty="0">
                <a:solidFill>
                  <a:srgbClr val="1A2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no_parens = </a:t>
            </a:r>
            <a:r>
              <a:rPr lang="en-US" sz="1000" dirty="0">
                <a:solidFill>
                  <a:srgbClr val="6B4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1, 2, 3                 </a:t>
            </a:r>
            <a:r>
              <a:rPr lang="en-US" sz="1000" dirty="0">
                <a:solidFill>
                  <a:srgbClr val="7A72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parens optional
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11480" y="2779776"/>
            <a:ext cx="4434840" cy="1298448"/>
          </a:xfrm>
          <a:prstGeom prst="rect">
            <a:avLst/>
          </a:prstGeom>
          <a:solidFill>
            <a:srgbClr val="E8E4D8"/>
          </a:solidFill>
          <a:ln w="12700">
            <a:solidFill>
              <a:srgbClr val="CAC5B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916936"/>
            <a:ext cx="40690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7A72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Tuple unpacking — the real power
</a:t>
            </a:r>
            <a:r>
              <a:rPr lang="en-US" sz="1000" dirty="0">
                <a:solidFill>
                  <a:srgbClr val="1A2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x, y           = point              </a:t>
            </a:r>
            <a:r>
              <a:rPr lang="en-US" sz="1000" dirty="0">
                <a:solidFill>
                  <a:srgbClr val="7A72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10, 20
</a:t>
            </a:r>
            <a:r>
              <a:rPr lang="en-US" sz="1000" dirty="0">
                <a:solidFill>
                  <a:srgbClr val="1A2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name, age, city = ("Ali", 25, "KHI")
</a:t>
            </a:r>
            <a:r>
              <a:rPr lang="en-US" sz="1000" dirty="0">
                <a:solidFill>
                  <a:srgbClr val="7A72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The swap trick IS tuple unpacking!
</a:t>
            </a:r>
            <a:r>
              <a:rPr lang="en-US" sz="1000" dirty="0">
                <a:solidFill>
                  <a:srgbClr val="1A2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a, b = b, a    </a:t>
            </a:r>
            <a:r>
              <a:rPr lang="en-US" sz="1000" dirty="0">
                <a:solidFill>
                  <a:srgbClr val="6B4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pack b,a into tuple → unpack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11480" y="4169664"/>
            <a:ext cx="4434840" cy="640080"/>
          </a:xfrm>
          <a:prstGeom prst="rect">
            <a:avLst/>
          </a:prstGeom>
          <a:solidFill>
            <a:srgbClr val="E8E4D8"/>
          </a:solidFill>
          <a:ln w="12700">
            <a:solidFill>
              <a:srgbClr val="CAC5B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4306824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7A72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Tuples are immutable
</a:t>
            </a:r>
            <a:r>
              <a:rPr lang="en-US" sz="1000" dirty="0">
                <a:solidFill>
                  <a:srgbClr val="1A2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point[0] = 99  </a:t>
            </a:r>
            <a:r>
              <a:rPr lang="en-US" sz="1000" dirty="0">
                <a:solidFill>
                  <a:srgbClr val="6B4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TypeError! Cannot change tuple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0" y="1325880"/>
            <a:ext cx="3703320" cy="1536192"/>
          </a:xfrm>
          <a:prstGeom prst="rect">
            <a:avLst/>
          </a:prstGeom>
          <a:solidFill>
            <a:srgbClr val="FDFCF8"/>
          </a:solidFill>
          <a:ln w="12700">
            <a:solidFill>
              <a:srgbClr val="D4CEBC"/>
            </a:solidFill>
            <a:prstDash val="solid"/>
          </a:ln>
          <a:effectLst>
            <a:outerShdw blurRad="76200" dist="25400" dir="8100000" algn="bl" rotWithShape="0">
              <a:srgbClr val="1A2414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0" y="1325880"/>
            <a:ext cx="36576" cy="1536192"/>
          </a:xfrm>
          <a:prstGeom prst="rect">
            <a:avLst/>
          </a:prstGeom>
          <a:solidFill>
            <a:srgbClr val="6B4C2A"/>
          </a:solidFill>
          <a:ln w="12700">
            <a:solidFill>
              <a:srgbClr val="6B4C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84648" y="1380744"/>
            <a:ext cx="3401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4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 a tuple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184648" y="1664208"/>
            <a:ext cx="340156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000" b="1" dirty="0">
                <a:solidFill>
                  <a:srgbClr val="6B4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coordinates: </a:t>
            </a:r>
            <a:r>
              <a:rPr lang="en-US" sz="1000" dirty="0">
                <a:solidFill>
                  <a:srgbClr val="7A7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(lat, lon)
</a:t>
            </a:r>
            <a:r>
              <a:rPr lang="en-US" sz="1000" b="1" dirty="0">
                <a:solidFill>
                  <a:srgbClr val="6B4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rows: </a:t>
            </a:r>
            <a:r>
              <a:rPr lang="en-US" sz="1000" dirty="0">
                <a:solidFill>
                  <a:srgbClr val="7A7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row is a tuple
</a:t>
            </a:r>
            <a:r>
              <a:rPr lang="en-US" sz="1000" b="1" dirty="0">
                <a:solidFill>
                  <a:srgbClr val="6B4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size: </a:t>
            </a:r>
            <a:r>
              <a:rPr lang="en-US" sz="1000" dirty="0">
                <a:solidFill>
                  <a:srgbClr val="7A7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= (1920, 1080)
</a:t>
            </a:r>
            <a:r>
              <a:rPr lang="en-US" sz="1000" b="1" dirty="0">
                <a:solidFill>
                  <a:srgbClr val="6B4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returns: </a:t>
            </a:r>
            <a:r>
              <a:rPr lang="en-US" sz="1000" dirty="0">
                <a:solidFill>
                  <a:srgbClr val="7A7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min, max
</a:t>
            </a:r>
            <a:r>
              <a:rPr lang="en-US" sz="1000" b="1" dirty="0">
                <a:solidFill>
                  <a:srgbClr val="6B4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 keys: </a:t>
            </a:r>
            <a:r>
              <a:rPr lang="en-US" sz="1000" dirty="0">
                <a:solidFill>
                  <a:srgbClr val="7A7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tuples are hashable, lists not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200" y="2962656"/>
            <a:ext cx="3703320" cy="914400"/>
          </a:xfrm>
          <a:prstGeom prst="rect">
            <a:avLst/>
          </a:prstGeom>
          <a:solidFill>
            <a:srgbClr val="FDFCF8"/>
          </a:solidFill>
          <a:ln w="12700">
            <a:solidFill>
              <a:srgbClr val="D4CEBC"/>
            </a:solidFill>
            <a:prstDash val="solid"/>
          </a:ln>
          <a:effectLst>
            <a:outerShdw blurRad="76200" dist="25400" dir="8100000" algn="bl" rotWithShape="0">
              <a:srgbClr val="1A2414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029200" y="2962656"/>
            <a:ext cx="36576" cy="914400"/>
          </a:xfrm>
          <a:prstGeom prst="rect">
            <a:avLst/>
          </a:prstGeom>
          <a:solidFill>
            <a:srgbClr val="3D6B35"/>
          </a:solidFill>
          <a:ln w="12700">
            <a:solidFill>
              <a:srgbClr val="3D6B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84648" y="3017520"/>
            <a:ext cx="3401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D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or Tuple? 3 questions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184648" y="3291840"/>
            <a:ext cx="34015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000" b="1" dirty="0">
                <a:solidFill>
                  <a:srgbClr val="3D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Will data change? </a:t>
            </a:r>
            <a:r>
              <a:rPr lang="en-US" sz="1000" dirty="0">
                <a:solidFill>
                  <a:srgbClr val="7A7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→ tuple
</a:t>
            </a:r>
            <a:r>
              <a:rPr lang="en-US" sz="1000" b="1" dirty="0">
                <a:solidFill>
                  <a:srgbClr val="3D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Need append/sort? </a:t>
            </a:r>
            <a:r>
              <a:rPr lang="en-US" sz="1000" dirty="0">
                <a:solidFill>
                  <a:srgbClr val="7A7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→ list
</a:t>
            </a:r>
            <a:r>
              <a:rPr lang="en-US" sz="1000" b="1" dirty="0">
                <a:solidFill>
                  <a:srgbClr val="3D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Dict key? </a:t>
            </a:r>
            <a:r>
              <a:rPr lang="en-US" sz="1000" dirty="0">
                <a:solidFill>
                  <a:srgbClr val="7A7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Tuple (lists can't be keys)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029200" y="3986784"/>
            <a:ext cx="3703320" cy="822960"/>
          </a:xfrm>
          <a:prstGeom prst="rect">
            <a:avLst/>
          </a:prstGeom>
          <a:solidFill>
            <a:srgbClr val="FDFCF8"/>
          </a:solidFill>
          <a:ln w="12700">
            <a:solidFill>
              <a:srgbClr val="D4CEBC"/>
            </a:solidFill>
            <a:prstDash val="solid"/>
          </a:ln>
          <a:effectLst>
            <a:outerShdw blurRad="76200" dist="25400" dir="8100000" algn="bl" rotWithShape="0">
              <a:srgbClr val="1A2414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029200" y="3986784"/>
            <a:ext cx="36576" cy="822960"/>
          </a:xfrm>
          <a:prstGeom prst="rect">
            <a:avLst/>
          </a:prstGeom>
          <a:solidFill>
            <a:srgbClr val="6B4C2A"/>
          </a:solidFill>
          <a:ln w="12700">
            <a:solidFill>
              <a:srgbClr val="6B4C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84648" y="4041648"/>
            <a:ext cx="3401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4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single-item gotcha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184648" y="4315968"/>
            <a:ext cx="3401568" cy="438912"/>
          </a:xfrm>
          <a:prstGeom prst="rect">
            <a:avLst/>
          </a:prstGeom>
          <a:solidFill>
            <a:srgbClr val="E8E4D8"/>
          </a:solidFill>
          <a:ln w="12700">
            <a:solidFill>
              <a:srgbClr val="CAC5B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67528" y="4453128"/>
            <a:ext cx="3035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1A2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type((42))   # int — NOT a tuple!</a:t>
            </a:r>
            <a:endParaRPr lang="en-US" sz="10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1A2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type((42,))  # tuple ← needs comma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065008" y="4846320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89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19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C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2D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— UNIQUE COLLECTIONS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04241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A7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Unordered, unique items. Optimised for one question: 'is this thing in here?'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1325880"/>
            <a:ext cx="4663440" cy="1627632"/>
          </a:xfrm>
          <a:prstGeom prst="rect">
            <a:avLst/>
          </a:prstGeom>
          <a:solidFill>
            <a:srgbClr val="E8E4D8"/>
          </a:solidFill>
          <a:ln w="12700">
            <a:solidFill>
              <a:srgbClr val="CAC5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463040"/>
            <a:ext cx="429768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7A72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Creating — duplicates auto-removed
</a:t>
            </a:r>
            <a:r>
              <a:rPr lang="en-US" sz="1000" dirty="0">
                <a:solidFill>
                  <a:srgbClr val="1A2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tags   = </a:t>
            </a:r>
            <a:r>
              <a:rPr lang="en-US" sz="1000" dirty="0">
                <a:solidFill>
                  <a:srgbClr val="3D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{"python", "ai", "ml", "python"}  </a:t>
            </a:r>
            <a:r>
              <a:rPr lang="en-US" sz="1000" dirty="0">
                <a:solidFill>
                  <a:srgbClr val="7A72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only 3!
</a:t>
            </a:r>
            <a:r>
              <a:rPr lang="en-US" sz="1000" dirty="0">
                <a:solidFill>
                  <a:srgbClr val="1A2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empty  = </a:t>
            </a:r>
            <a:r>
              <a:rPr lang="en-US" sz="1000" dirty="0">
                <a:solidFill>
                  <a:srgbClr val="3D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set()                  </a:t>
            </a:r>
            <a:r>
              <a:rPr lang="en-US" sz="1000" dirty="0">
                <a:solidFill>
                  <a:srgbClr val="6B4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NOT {} ← that is a </a:t>
            </a:r>
            <a:r>
              <a:rPr lang="en-US" sz="1000" dirty="0" err="1">
                <a:solidFill>
                  <a:srgbClr val="6B4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dict</a:t>
            </a:r>
            <a:r>
              <a:rPr lang="en-US" sz="1000" dirty="0">
                <a:solidFill>
                  <a:srgbClr val="6B4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
</a:t>
            </a:r>
            <a:r>
              <a:rPr lang="en-US" sz="1000" dirty="0">
                <a:solidFill>
                  <a:srgbClr val="7A72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Deduplication trick
</a:t>
            </a:r>
            <a:r>
              <a:rPr lang="en-US" sz="1000" dirty="0">
                <a:solidFill>
                  <a:srgbClr val="1A2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emails = ["a@b.com", "c@d.com", "a@b.com"]
unique = </a:t>
            </a:r>
            <a:r>
              <a:rPr lang="en-US" sz="1000" dirty="0">
                <a:solidFill>
                  <a:srgbClr val="3D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list(set(emails))</a:t>
            </a:r>
            <a:r>
              <a:rPr lang="en-US" sz="1000" dirty="0">
                <a:solidFill>
                  <a:srgbClr val="7A72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remove duplicates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11480" y="3063240"/>
            <a:ext cx="4663440" cy="1938528"/>
          </a:xfrm>
          <a:prstGeom prst="rect">
            <a:avLst/>
          </a:prstGeom>
          <a:solidFill>
            <a:srgbClr val="E8E4D8"/>
          </a:solidFill>
          <a:ln w="12700">
            <a:solidFill>
              <a:srgbClr val="CAC5B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3200400"/>
            <a:ext cx="429768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7A72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Set operations
</a:t>
            </a:r>
            <a:r>
              <a:rPr lang="en-US" sz="1000" dirty="0">
                <a:solidFill>
                  <a:srgbClr val="1A2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  = {"Ali", "Sara", "Ahmed", "Fatima"}
ml  = {"Sara", "Ahmed", "Zaid"}
</a:t>
            </a:r>
            <a:r>
              <a:rPr lang="en-US" sz="1000" b="1" dirty="0">
                <a:solidFill>
                  <a:srgbClr val="3D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 &amp; ml   </a:t>
            </a:r>
            <a:r>
              <a:rPr lang="en-US" sz="1000" dirty="0">
                <a:solidFill>
                  <a:srgbClr val="7A72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intersection → {"Sara", "Ahmed"}
</a:t>
            </a:r>
            <a:r>
              <a:rPr lang="en-US" sz="1000" b="1" dirty="0">
                <a:solidFill>
                  <a:srgbClr val="2D5A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 | ml   </a:t>
            </a:r>
            <a:r>
              <a:rPr lang="en-US" sz="1000" dirty="0">
                <a:solidFill>
                  <a:srgbClr val="7A72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union       → all 5 unique names
</a:t>
            </a:r>
            <a:r>
              <a:rPr lang="en-US" sz="1000" b="1" dirty="0">
                <a:solidFill>
                  <a:srgbClr val="6B4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 - ml   </a:t>
            </a:r>
            <a:r>
              <a:rPr lang="en-US" sz="1000" dirty="0">
                <a:solidFill>
                  <a:srgbClr val="7A72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difference  → {"Ali", "Fatima"}
</a:t>
            </a:r>
            <a:r>
              <a:rPr lang="en-US" sz="1000" b="1" dirty="0">
                <a:solidFill>
                  <a:srgbClr val="5C7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 ^ ml   </a:t>
            </a:r>
            <a:r>
              <a:rPr lang="en-US" sz="1000" dirty="0">
                <a:solidFill>
                  <a:srgbClr val="7A72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symmetric   → exactly one course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257800" y="1325880"/>
            <a:ext cx="3474720" cy="987552"/>
          </a:xfrm>
          <a:prstGeom prst="rect">
            <a:avLst/>
          </a:prstGeom>
          <a:solidFill>
            <a:srgbClr val="FDFCF8"/>
          </a:solidFill>
          <a:ln w="12700">
            <a:solidFill>
              <a:srgbClr val="D4CEBC"/>
            </a:solidFill>
            <a:prstDash val="solid"/>
          </a:ln>
          <a:effectLst>
            <a:outerShdw blurRad="76200" dist="25400" dir="8100000" algn="bl" rotWithShape="0">
              <a:srgbClr val="1A2414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257800" y="1325880"/>
            <a:ext cx="36576" cy="987552"/>
          </a:xfrm>
          <a:prstGeom prst="rect">
            <a:avLst/>
          </a:prstGeom>
          <a:solidFill>
            <a:srgbClr val="6B4C2A"/>
          </a:solidFill>
          <a:ln w="12700">
            <a:solidFill>
              <a:srgbClr val="6B4C2A"/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3248" y="1435608"/>
            <a:ext cx="256032" cy="25603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742432" y="1399032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4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set gotcha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413248" y="1700784"/>
            <a:ext cx="31272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7A7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{}  creates an empty DICT, not a set.</a:t>
            </a:r>
            <a:endParaRPr lang="en-US" sz="10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7A7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use set() for empty sets.</a:t>
            </a:r>
            <a:endParaRPr lang="en-US" sz="10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7A7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trips up everyone at least once.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257800" y="2414016"/>
            <a:ext cx="3474720" cy="1261872"/>
          </a:xfrm>
          <a:prstGeom prst="rect">
            <a:avLst/>
          </a:prstGeom>
          <a:solidFill>
            <a:srgbClr val="FDFCF8"/>
          </a:solidFill>
          <a:ln w="12700">
            <a:solidFill>
              <a:srgbClr val="D4CEBC"/>
            </a:solidFill>
            <a:prstDash val="solid"/>
          </a:ln>
          <a:effectLst>
            <a:outerShdw blurRad="76200" dist="25400" dir="8100000" algn="bl" rotWithShape="0">
              <a:srgbClr val="1A2414">
                <a:alpha val="7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257800" y="2414016"/>
            <a:ext cx="36576" cy="1261872"/>
          </a:xfrm>
          <a:prstGeom prst="rect">
            <a:avLst/>
          </a:prstGeom>
          <a:solidFill>
            <a:srgbClr val="3D6B35"/>
          </a:solidFill>
          <a:ln w="12700">
            <a:solidFill>
              <a:srgbClr val="3D6B3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413248" y="2468880"/>
            <a:ext cx="3127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D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 membership — the superpower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413248" y="2743200"/>
            <a:ext cx="3127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7A7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'item' in my_set  is instant regardless of set size.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7A7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'item' in my_list  gets slower as the list grows.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7A7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check membership thousands of times → set.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257800" y="3767328"/>
            <a:ext cx="3474720" cy="1234440"/>
          </a:xfrm>
          <a:prstGeom prst="rect">
            <a:avLst/>
          </a:prstGeom>
          <a:solidFill>
            <a:srgbClr val="FDFCF8"/>
          </a:solidFill>
          <a:ln w="12700">
            <a:solidFill>
              <a:srgbClr val="D4CEBC"/>
            </a:solidFill>
            <a:prstDash val="solid"/>
          </a:ln>
          <a:effectLst>
            <a:outerShdw blurRad="76200" dist="25400" dir="8100000" algn="bl" rotWithShape="0">
              <a:srgbClr val="1A2414">
                <a:alpha val="7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5257800" y="3767328"/>
            <a:ext cx="36576" cy="1234440"/>
          </a:xfrm>
          <a:prstGeom prst="rect">
            <a:avLst/>
          </a:prstGeom>
          <a:solidFill>
            <a:srgbClr val="2D5A3D"/>
          </a:solidFill>
          <a:ln w="12700">
            <a:solidFill>
              <a:srgbClr val="2D5A3D"/>
            </a:solidFill>
            <a:prstDash val="solid"/>
          </a:ln>
        </p:spPr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3248" y="3877056"/>
            <a:ext cx="256032" cy="256032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5742432" y="3840480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use cases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5413248" y="4133088"/>
            <a:ext cx="31272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7A7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permissions · tag systems · deduplicating emails · spam domain blocklist · graph visited-nodes tracking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8065008" y="4846320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89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19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2D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THE RIGHT STRUCTURE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vs Tuple vs Set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04241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A7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heuristic to remember: ordered + mutable → list · fixed → tuple · unique + fast lookup → set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325880"/>
            <a:ext cx="8138160" cy="0"/>
          </a:xfrm>
          <a:prstGeom prst="line">
            <a:avLst/>
          </a:prstGeom>
          <a:noFill/>
          <a:ln w="12700">
            <a:solidFill>
              <a:srgbClr val="D4CEB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417320"/>
            <a:ext cx="1508760" cy="329184"/>
          </a:xfrm>
          <a:prstGeom prst="rect">
            <a:avLst/>
          </a:prstGeom>
          <a:solidFill>
            <a:srgbClr val="EEE9DF"/>
          </a:solidFill>
          <a:ln w="12700">
            <a:solidFill>
              <a:srgbClr val="7A72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417320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7A7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011680" y="1417320"/>
            <a:ext cx="2148840" cy="329184"/>
          </a:xfrm>
          <a:prstGeom prst="rect">
            <a:avLst/>
          </a:prstGeom>
          <a:solidFill>
            <a:srgbClr val="000000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11680" y="1417320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D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 [ ]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251960" y="1417320"/>
            <a:ext cx="2148840" cy="329184"/>
          </a:xfrm>
          <a:prstGeom prst="rect">
            <a:avLst/>
          </a:prstGeom>
          <a:solidFill>
            <a:srgbClr val="000000"/>
          </a:solidFill>
          <a:ln w="12700">
            <a:solidFill>
              <a:srgbClr val="6B4C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51960" y="1417320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6B4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Tuple  ( 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92240" y="1417320"/>
            <a:ext cx="2240280" cy="329184"/>
          </a:xfrm>
          <a:prstGeom prst="rect">
            <a:avLst/>
          </a:prstGeom>
          <a:solidFill>
            <a:srgbClr val="000000"/>
          </a:solidFill>
          <a:ln w="12700">
            <a:solidFill>
              <a:srgbClr val="3D6B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1417320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3D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 { }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11480" y="1792224"/>
            <a:ext cx="1508760" cy="420624"/>
          </a:xfrm>
          <a:prstGeom prst="rect">
            <a:avLst/>
          </a:prstGeom>
          <a:solidFill>
            <a:srgbClr val="FDFCF8"/>
          </a:solidFill>
          <a:ln w="12700">
            <a:solidFill>
              <a:srgbClr val="D4CEB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1883664"/>
            <a:ext cx="1508760" cy="237744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A7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011680" y="1792224"/>
            <a:ext cx="2148840" cy="420624"/>
          </a:xfrm>
          <a:prstGeom prst="rect">
            <a:avLst/>
          </a:prstGeom>
          <a:solidFill>
            <a:srgbClr val="FDFCF8"/>
          </a:solidFill>
          <a:ln w="12700">
            <a:solidFill>
              <a:srgbClr val="D4CEB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011680" y="1883664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D5A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✅ Yes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251960" y="1792224"/>
            <a:ext cx="2148840" cy="420624"/>
          </a:xfrm>
          <a:prstGeom prst="rect">
            <a:avLst/>
          </a:prstGeom>
          <a:solidFill>
            <a:srgbClr val="FDFCF8"/>
          </a:solidFill>
          <a:ln w="12700">
            <a:solidFill>
              <a:srgbClr val="D4CEB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51960" y="1883664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D5A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✅ Yes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92240" y="1792224"/>
            <a:ext cx="2240280" cy="420624"/>
          </a:xfrm>
          <a:prstGeom prst="rect">
            <a:avLst/>
          </a:prstGeom>
          <a:solidFill>
            <a:srgbClr val="FDFCF8"/>
          </a:solidFill>
          <a:ln w="12700">
            <a:solidFill>
              <a:srgbClr val="D4CEB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92240" y="1883664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4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❌ No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11480" y="2249424"/>
            <a:ext cx="1508760" cy="420624"/>
          </a:xfrm>
          <a:prstGeom prst="rect">
            <a:avLst/>
          </a:prstGeom>
          <a:solidFill>
            <a:srgbClr val="F8F6F0"/>
          </a:solidFill>
          <a:ln w="12700">
            <a:solidFill>
              <a:srgbClr val="D4CEB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2340864"/>
            <a:ext cx="1508760" cy="237744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A7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Mutable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011680" y="2249424"/>
            <a:ext cx="2148840" cy="420624"/>
          </a:xfrm>
          <a:prstGeom prst="rect">
            <a:avLst/>
          </a:prstGeom>
          <a:solidFill>
            <a:srgbClr val="F8F6F0"/>
          </a:solidFill>
          <a:ln w="12700">
            <a:solidFill>
              <a:srgbClr val="D4CEB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011680" y="2340864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D5A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✅ Yes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251960" y="2249424"/>
            <a:ext cx="2148840" cy="420624"/>
          </a:xfrm>
          <a:prstGeom prst="rect">
            <a:avLst/>
          </a:prstGeom>
          <a:solidFill>
            <a:srgbClr val="F8F6F0"/>
          </a:solidFill>
          <a:ln w="12700">
            <a:solidFill>
              <a:srgbClr val="D4CEB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51960" y="2340864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4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❌ No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92240" y="2249424"/>
            <a:ext cx="2240280" cy="420624"/>
          </a:xfrm>
          <a:prstGeom prst="rect">
            <a:avLst/>
          </a:prstGeom>
          <a:solidFill>
            <a:srgbClr val="F8F6F0"/>
          </a:solidFill>
          <a:ln w="12700">
            <a:solidFill>
              <a:srgbClr val="D4CEB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92240" y="2340864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D5A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✅ Yes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11480" y="2706624"/>
            <a:ext cx="1508760" cy="420624"/>
          </a:xfrm>
          <a:prstGeom prst="rect">
            <a:avLst/>
          </a:prstGeom>
          <a:solidFill>
            <a:srgbClr val="FDFCF8"/>
          </a:solidFill>
          <a:ln w="12700">
            <a:solidFill>
              <a:srgbClr val="D4CEB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1480" y="2798064"/>
            <a:ext cx="1508760" cy="237744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A7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011680" y="2706624"/>
            <a:ext cx="2148840" cy="420624"/>
          </a:xfrm>
          <a:prstGeom prst="rect">
            <a:avLst/>
          </a:prstGeom>
          <a:solidFill>
            <a:srgbClr val="FDFCF8"/>
          </a:solidFill>
          <a:ln w="12700">
            <a:solidFill>
              <a:srgbClr val="D4CEB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011680" y="2798064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D5A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✅ Yes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251960" y="2706624"/>
            <a:ext cx="2148840" cy="420624"/>
          </a:xfrm>
          <a:prstGeom prst="rect">
            <a:avLst/>
          </a:prstGeom>
          <a:solidFill>
            <a:srgbClr val="FDFCF8"/>
          </a:solidFill>
          <a:ln w="12700">
            <a:solidFill>
              <a:srgbClr val="D4CEB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251960" y="2798064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D5A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✅ Yes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492240" y="2706624"/>
            <a:ext cx="2240280" cy="420624"/>
          </a:xfrm>
          <a:prstGeom prst="rect">
            <a:avLst/>
          </a:prstGeom>
          <a:solidFill>
            <a:srgbClr val="FDFCF8"/>
          </a:solidFill>
          <a:ln w="12700">
            <a:solidFill>
              <a:srgbClr val="D4CEB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92240" y="2798064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4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❌ No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11480" y="3163824"/>
            <a:ext cx="1508760" cy="420624"/>
          </a:xfrm>
          <a:prstGeom prst="rect">
            <a:avLst/>
          </a:prstGeom>
          <a:solidFill>
            <a:srgbClr val="F8F6F0"/>
          </a:solidFill>
          <a:ln w="12700">
            <a:solidFill>
              <a:srgbClr val="D4CEB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11480" y="3255264"/>
            <a:ext cx="1508760" cy="237744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A7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Indexing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2011680" y="3163824"/>
            <a:ext cx="2148840" cy="420624"/>
          </a:xfrm>
          <a:prstGeom prst="rect">
            <a:avLst/>
          </a:prstGeom>
          <a:solidFill>
            <a:srgbClr val="F8F6F0"/>
          </a:solidFill>
          <a:ln w="12700">
            <a:solidFill>
              <a:srgbClr val="D4CEB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011680" y="3255264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D5A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✅ Yes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251960" y="3163824"/>
            <a:ext cx="2148840" cy="420624"/>
          </a:xfrm>
          <a:prstGeom prst="rect">
            <a:avLst/>
          </a:prstGeom>
          <a:solidFill>
            <a:srgbClr val="F8F6F0"/>
          </a:solidFill>
          <a:ln w="12700">
            <a:solidFill>
              <a:srgbClr val="D4CEB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251960" y="3255264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D5A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✅ Yes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492240" y="3163824"/>
            <a:ext cx="2240280" cy="420624"/>
          </a:xfrm>
          <a:prstGeom prst="rect">
            <a:avLst/>
          </a:prstGeom>
          <a:solidFill>
            <a:srgbClr val="F8F6F0"/>
          </a:solidFill>
          <a:ln w="12700">
            <a:solidFill>
              <a:srgbClr val="D4CEB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92240" y="3255264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4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❌ No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11480" y="3621024"/>
            <a:ext cx="1508760" cy="420624"/>
          </a:xfrm>
          <a:prstGeom prst="rect">
            <a:avLst/>
          </a:prstGeom>
          <a:solidFill>
            <a:srgbClr val="FDFCF8"/>
          </a:solidFill>
          <a:ln w="12700">
            <a:solidFill>
              <a:srgbClr val="D4CEB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11480" y="3712464"/>
            <a:ext cx="1508760" cy="237744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A7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Hashable (dict key)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2011680" y="3621024"/>
            <a:ext cx="2148840" cy="420624"/>
          </a:xfrm>
          <a:prstGeom prst="rect">
            <a:avLst/>
          </a:prstGeom>
          <a:solidFill>
            <a:srgbClr val="FDFCF8"/>
          </a:solidFill>
          <a:ln w="12700">
            <a:solidFill>
              <a:srgbClr val="D4CEB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011680" y="3712464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4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❌ No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4251960" y="3621024"/>
            <a:ext cx="2148840" cy="420624"/>
          </a:xfrm>
          <a:prstGeom prst="rect">
            <a:avLst/>
          </a:prstGeom>
          <a:solidFill>
            <a:srgbClr val="FDFCF8"/>
          </a:solidFill>
          <a:ln w="12700">
            <a:solidFill>
              <a:srgbClr val="D4CEB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251960" y="3712464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D5A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✅ Yes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6492240" y="3621024"/>
            <a:ext cx="2240280" cy="420624"/>
          </a:xfrm>
          <a:prstGeom prst="rect">
            <a:avLst/>
          </a:prstGeom>
          <a:solidFill>
            <a:srgbClr val="FDFCF8"/>
          </a:solidFill>
          <a:ln w="12700">
            <a:solidFill>
              <a:srgbClr val="D4CEB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492240" y="3712464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4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❌ No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411480" y="4078224"/>
            <a:ext cx="1508760" cy="420624"/>
          </a:xfrm>
          <a:prstGeom prst="rect">
            <a:avLst/>
          </a:prstGeom>
          <a:solidFill>
            <a:srgbClr val="F8F6F0"/>
          </a:solidFill>
          <a:ln w="12700">
            <a:solidFill>
              <a:srgbClr val="D4CEB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11480" y="4169664"/>
            <a:ext cx="1508760" cy="237744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A7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lookup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2011680" y="4078224"/>
            <a:ext cx="2148840" cy="420624"/>
          </a:xfrm>
          <a:prstGeom prst="rect">
            <a:avLst/>
          </a:prstGeom>
          <a:solidFill>
            <a:srgbClr val="F8F6F0"/>
          </a:solidFill>
          <a:ln w="12700">
            <a:solidFill>
              <a:srgbClr val="D4CEB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011680" y="4169664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4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❌ O(n)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4251960" y="4078224"/>
            <a:ext cx="2148840" cy="420624"/>
          </a:xfrm>
          <a:prstGeom prst="rect">
            <a:avLst/>
          </a:prstGeom>
          <a:solidFill>
            <a:srgbClr val="F8F6F0"/>
          </a:solidFill>
          <a:ln w="12700">
            <a:solidFill>
              <a:srgbClr val="D4CEBC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251960" y="4169664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4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❌ O(n)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6492240" y="4078224"/>
            <a:ext cx="2240280" cy="420624"/>
          </a:xfrm>
          <a:prstGeom prst="rect">
            <a:avLst/>
          </a:prstGeom>
          <a:solidFill>
            <a:srgbClr val="F8F6F0"/>
          </a:solidFill>
          <a:ln w="12700">
            <a:solidFill>
              <a:srgbClr val="D4CEBC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492240" y="4169664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D5A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✅ O(1)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411480" y="4572000"/>
            <a:ext cx="1508760" cy="384048"/>
          </a:xfrm>
          <a:prstGeom prst="rect">
            <a:avLst/>
          </a:prstGeom>
          <a:solidFill>
            <a:srgbClr val="EEE9DF"/>
          </a:solidFill>
          <a:ln w="12700">
            <a:solidFill>
              <a:srgbClr val="7A726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66344" y="4645152"/>
            <a:ext cx="1399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A7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when: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2011680" y="4572000"/>
            <a:ext cx="2148840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2D5A3D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5" name="Text 63"/>
          <p:cNvSpPr/>
          <p:nvPr/>
        </p:nvSpPr>
        <p:spPr>
          <a:xfrm>
            <a:off x="2066544" y="4645152"/>
            <a:ext cx="2039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5A3D"/>
                </a:solidFill>
                <a:highlight>
                  <a:srgbClr val="C0C0C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Order matters, data changes</a:t>
            </a:r>
            <a:endParaRPr lang="en-US" sz="900" dirty="0">
              <a:highlight>
                <a:srgbClr val="C0C0C0"/>
              </a:highlight>
            </a:endParaRPr>
          </a:p>
        </p:txBody>
      </p:sp>
      <p:sp>
        <p:nvSpPr>
          <p:cNvPr id="66" name="Shape 64"/>
          <p:cNvSpPr/>
          <p:nvPr/>
        </p:nvSpPr>
        <p:spPr>
          <a:xfrm>
            <a:off x="4251960" y="4572000"/>
            <a:ext cx="2148840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6B4C2A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7" name="Text 65"/>
          <p:cNvSpPr/>
          <p:nvPr/>
        </p:nvSpPr>
        <p:spPr>
          <a:xfrm>
            <a:off x="4306824" y="4645152"/>
            <a:ext cx="2039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data, use as dict key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68" name="Shape 66"/>
          <p:cNvSpPr/>
          <p:nvPr/>
        </p:nvSpPr>
        <p:spPr>
          <a:xfrm>
            <a:off x="6492240" y="4572000"/>
            <a:ext cx="2240280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3D6B35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547104" y="4645152"/>
            <a:ext cx="2130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items, fast lookup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70" name="Text 68"/>
          <p:cNvSpPr/>
          <p:nvPr/>
        </p:nvSpPr>
        <p:spPr>
          <a:xfrm>
            <a:off x="8065008" y="4846320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89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19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DFC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D5A3D"/>
          </a:solidFill>
          <a:ln w="12700">
            <a:solidFill>
              <a:srgbClr val="2D5A3D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09728"/>
            <a:ext cx="420624" cy="4206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91440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8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Shopping Cart CLI — Stage 1 &amp; 2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320040" y="731520"/>
            <a:ext cx="1986077" cy="219456"/>
          </a:xfrm>
          <a:prstGeom prst="roundRect">
            <a:avLst>
              <a:gd name="adj" fmla="val 41667"/>
            </a:avLst>
          </a:prstGeom>
          <a:solidFill>
            <a:srgbClr val="4A7B5A"/>
          </a:solidFill>
          <a:ln w="12700">
            <a:solidFill>
              <a:srgbClr val="F8F6F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20040" y="740664"/>
            <a:ext cx="198607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8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shopping_cart.py in VSCode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2606040" y="731520"/>
            <a:ext cx="2183587" cy="219456"/>
          </a:xfrm>
          <a:prstGeom prst="roundRect">
            <a:avLst>
              <a:gd name="adj" fmla="val 41667"/>
            </a:avLst>
          </a:prstGeom>
          <a:solidFill>
            <a:srgbClr val="EBF2EC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606040" y="740664"/>
            <a:ext cx="218358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D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of dicts — preview Day 5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411480" y="960120"/>
            <a:ext cx="4892040" cy="4041648"/>
          </a:xfrm>
          <a:prstGeom prst="rect">
            <a:avLst/>
          </a:prstGeom>
          <a:solidFill>
            <a:srgbClr val="E8E4D8"/>
          </a:solidFill>
          <a:ln w="12700">
            <a:solidFill>
              <a:srgbClr val="CAC5B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77880" y="1119960"/>
            <a:ext cx="4359240" cy="3424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500" dirty="0">
                <a:solidFill>
                  <a:srgbClr val="1A2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cart = []
</a:t>
            </a:r>
            <a:r>
              <a:rPr lang="en-US" sz="500" dirty="0">
                <a:solidFill>
                  <a:srgbClr val="2D5A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show_cart():
</a:t>
            </a:r>
            <a:r>
              <a:rPr lang="en-US" sz="500" dirty="0">
                <a:solidFill>
                  <a:srgbClr val="1A2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not cart:
        print("  Cart is empty.")
        return
    total = 0
    for i, item in enumerate(cart):
        print(f"  {i+1}. {item['name']:&lt;15} ${item['price']:&gt;6.2f}")
        total += item['price']
    print(f"  {'TOTAL':&lt;15} ${total:&gt;6.2f}")
</a:t>
            </a:r>
            <a:r>
              <a:rPr lang="en-US" sz="500" dirty="0">
                <a:solidFill>
                  <a:srgbClr val="2D5A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add_item():
</a:t>
            </a:r>
            <a:r>
              <a:rPr lang="en-US" sz="500" dirty="0">
                <a:solidFill>
                  <a:srgbClr val="1A2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 = input("  Item name: ").strip()
    if not name: return
    try:
        price = float(input("  Price: $"))
        if price &lt;= 0: return
    except ValueError:
        print("  Invalid price."); return
    cart.append({"name": name, "price": price})
    print(f"  ✓ Added {name}.")
</a:t>
            </a:r>
            <a:r>
              <a:rPr lang="en-US" sz="500" dirty="0">
                <a:solidFill>
                  <a:srgbClr val="2D5A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remove_item():
</a:t>
            </a:r>
            <a:r>
              <a:rPr lang="en-US" sz="500" dirty="0">
                <a:solidFill>
                  <a:srgbClr val="1A2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not cart: return</a:t>
            </a:r>
            <a:endParaRPr lang="en-US" sz="5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500" dirty="0">
                <a:solidFill>
                  <a:srgbClr val="1A2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show_cart()</a:t>
            </a:r>
            <a:endParaRPr lang="en-US" sz="5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500" dirty="0">
                <a:solidFill>
                  <a:srgbClr val="1A2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try:</a:t>
            </a:r>
            <a:endParaRPr lang="en-US" sz="5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500" dirty="0">
                <a:solidFill>
                  <a:srgbClr val="1A2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 = int(input("  Remove number: "))</a:t>
            </a:r>
            <a:endParaRPr lang="en-US" sz="5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500" dirty="0">
                <a:solidFill>
                  <a:srgbClr val="1A2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1 &lt;= n &lt;= len(cart):</a:t>
            </a:r>
            <a:endParaRPr lang="en-US" sz="5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500" dirty="0">
                <a:solidFill>
                  <a:srgbClr val="1A2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removed = cart.pop(n - 1)</a:t>
            </a:r>
            <a:endParaRPr lang="en-US" sz="5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500" dirty="0">
                <a:solidFill>
                  <a:srgbClr val="1A2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print(f"  ✓ Removed {removed['name']}.")</a:t>
            </a:r>
            <a:endParaRPr lang="en-US" sz="5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500" dirty="0">
                <a:solidFill>
                  <a:srgbClr val="1A2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except ValueError: print("  Enter a number.")</a:t>
            </a:r>
            <a:endParaRPr lang="en-US" sz="500" dirty="0"/>
          </a:p>
        </p:txBody>
      </p:sp>
      <p:sp>
        <p:nvSpPr>
          <p:cNvPr id="11" name="Text 8"/>
          <p:cNvSpPr/>
          <p:nvPr/>
        </p:nvSpPr>
        <p:spPr>
          <a:xfrm>
            <a:off x="5394960" y="96012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2D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MOMENTS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5394960" y="1207008"/>
            <a:ext cx="3337560" cy="804672"/>
          </a:xfrm>
          <a:prstGeom prst="rect">
            <a:avLst/>
          </a:prstGeom>
          <a:solidFill>
            <a:srgbClr val="FDFCF8"/>
          </a:solidFill>
          <a:ln w="12700">
            <a:solidFill>
              <a:srgbClr val="D4CEBC"/>
            </a:solidFill>
            <a:prstDash val="solid"/>
          </a:ln>
          <a:effectLst>
            <a:outerShdw blurRad="76200" dist="25400" dir="8100000" algn="bl" rotWithShape="0">
              <a:srgbClr val="1A2414">
                <a:alpha val="7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394960" y="1207008"/>
            <a:ext cx="36576" cy="804672"/>
          </a:xfrm>
          <a:prstGeom prst="rect">
            <a:avLst/>
          </a:prstGeom>
          <a:solidFill>
            <a:srgbClr val="2D5A3D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550408" y="1280160"/>
            <a:ext cx="3035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5A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not cart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550408" y="1554480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7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truthiness — empty list is falsy. Cleaner than len(cart) == 0.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5394960" y="2139696"/>
            <a:ext cx="3337560" cy="804672"/>
          </a:xfrm>
          <a:prstGeom prst="rect">
            <a:avLst/>
          </a:prstGeom>
          <a:solidFill>
            <a:srgbClr val="FDFCF8"/>
          </a:solidFill>
          <a:ln w="12700">
            <a:solidFill>
              <a:srgbClr val="D4CEBC"/>
            </a:solidFill>
            <a:prstDash val="solid"/>
          </a:ln>
          <a:effectLst>
            <a:outerShdw blurRad="76200" dist="25400" dir="8100000" algn="bl" rotWithShape="0">
              <a:srgbClr val="1A2414">
                <a:alpha val="7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394960" y="2139696"/>
            <a:ext cx="36576" cy="804672"/>
          </a:xfrm>
          <a:prstGeom prst="rect">
            <a:avLst/>
          </a:prstGeom>
          <a:solidFill>
            <a:srgbClr val="3D6B35"/>
          </a:solidFill>
          <a:ln w="12700">
            <a:solidFill>
              <a:srgbClr val="3D6B3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550408" y="2212848"/>
            <a:ext cx="3035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enumerate(cart)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5550408" y="2487168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7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1-based display → 0-based index. i+1 in print, n-1 when popping.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5394960" y="3072384"/>
            <a:ext cx="3337560" cy="804672"/>
          </a:xfrm>
          <a:prstGeom prst="rect">
            <a:avLst/>
          </a:prstGeom>
          <a:solidFill>
            <a:srgbClr val="FDFCF8"/>
          </a:solidFill>
          <a:ln w="12700">
            <a:solidFill>
              <a:srgbClr val="D4CEBC"/>
            </a:solidFill>
            <a:prstDash val="solid"/>
          </a:ln>
          <a:effectLst>
            <a:outerShdw blurRad="76200" dist="25400" dir="8100000" algn="bl" rotWithShape="0">
              <a:srgbClr val="1A2414">
                <a:alpha val="7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5394960" y="3072384"/>
            <a:ext cx="36576" cy="804672"/>
          </a:xfrm>
          <a:prstGeom prst="rect">
            <a:avLst/>
          </a:prstGeom>
          <a:solidFill>
            <a:srgbClr val="5C7A4A"/>
          </a:solidFill>
          <a:ln w="12700">
            <a:solidFill>
              <a:srgbClr val="5C7A4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550408" y="3145536"/>
            <a:ext cx="3035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C7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f-string alignment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5550408" y="3419856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7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:&lt;15 left-align, :&gt;6.2f right-align with 2 decimals — professional receipt look.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5394960" y="4005072"/>
            <a:ext cx="3337560" cy="804672"/>
          </a:xfrm>
          <a:prstGeom prst="rect">
            <a:avLst/>
          </a:prstGeom>
          <a:solidFill>
            <a:srgbClr val="FDFCF8"/>
          </a:solidFill>
          <a:ln w="12700">
            <a:solidFill>
              <a:srgbClr val="D4CEBC"/>
            </a:solidFill>
            <a:prstDash val="solid"/>
          </a:ln>
          <a:effectLst>
            <a:outerShdw blurRad="76200" dist="25400" dir="8100000" algn="bl" rotWithShape="0">
              <a:srgbClr val="1A2414">
                <a:alpha val="7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5394960" y="4005072"/>
            <a:ext cx="36576" cy="804672"/>
          </a:xfrm>
          <a:prstGeom prst="rect">
            <a:avLst/>
          </a:prstGeom>
          <a:solidFill>
            <a:srgbClr val="6B4C2A"/>
          </a:solidFill>
          <a:ln w="12700">
            <a:solidFill>
              <a:srgbClr val="6B4C2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550408" y="4078224"/>
            <a:ext cx="3035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B4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{"name": ..., "price":}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5550408" y="4352544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7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Sneak preview of Day 5 dicts. Say: 'treat it as a labelled box for now'.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8065008" y="4846320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89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3D6B35"/>
          </a:solidFill>
          <a:ln w="12700">
            <a:solidFill>
              <a:srgbClr val="3D6B35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09728"/>
            <a:ext cx="420624" cy="4206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91440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8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 — Search &amp; Duplicate Detection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11480" y="804672"/>
            <a:ext cx="4892040" cy="4206240"/>
          </a:xfrm>
          <a:prstGeom prst="rect">
            <a:avLst/>
          </a:prstGeom>
          <a:solidFill>
            <a:srgbClr val="E8E4D8"/>
          </a:solidFill>
          <a:ln w="12700">
            <a:solidFill>
              <a:srgbClr val="CAC5B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94360" y="941832"/>
            <a:ext cx="45262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700" dirty="0">
                <a:solidFill>
                  <a:srgbClr val="3D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search_cart(query):
</a:t>
            </a:r>
            <a:r>
              <a:rPr lang="en-US" sz="700" dirty="0">
                <a:solidFill>
                  <a:srgbClr val="1A2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query   = query.lower()
    results = </a:t>
            </a:r>
            <a:r>
              <a:rPr lang="en-US" sz="700" dirty="0">
                <a:solidFill>
                  <a:srgbClr val="3D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[item for item in cart if query in item['name'].lower()]
</a:t>
            </a:r>
            <a:r>
              <a:rPr lang="en-US" sz="700" dirty="0">
                <a:solidFill>
                  <a:srgbClr val="1A2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results:
        print(f"  Results for '{query}':")
        for item in results:
            print(f"  - {item['name']}: ${item['price']:.2f}")
    else:
        print(f"  No results for '{query}'.")
</a:t>
            </a:r>
            <a:r>
              <a:rPr lang="en-US" sz="700" dirty="0">
                <a:solidFill>
                  <a:srgbClr val="3D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find_duplicates():
</a:t>
            </a:r>
            <a:r>
              <a:rPr lang="en-US" sz="700" dirty="0">
                <a:solidFill>
                  <a:srgbClr val="1A2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names = [item['name'].lower() for item in cart]</a:t>
            </a:r>
            <a:endParaRPr lang="en-US" sz="7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700" dirty="0">
                <a:solidFill>
                  <a:srgbClr val="1A2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seen  = </a:t>
            </a:r>
            <a:endParaRPr lang="en-US" sz="7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700" dirty="0">
                <a:solidFill>
                  <a:srgbClr val="3D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set()
</a:t>
            </a:r>
            <a:r>
              <a:rPr lang="en-US" sz="700" dirty="0">
                <a:solidFill>
                  <a:srgbClr val="1A2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dupes = </a:t>
            </a:r>
            <a:r>
              <a:rPr lang="en-US" sz="700" dirty="0">
                <a:solidFill>
                  <a:srgbClr val="3D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set()
</a:t>
            </a:r>
            <a:r>
              <a:rPr lang="en-US" sz="700" dirty="0">
                <a:solidFill>
                  <a:srgbClr val="1A2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name in names:
        if name in seen:
            dupes.add(name)
        seen.add(name)
    if dupes: print(f"  Duplicates: {', '.join(dupes)}")</a:t>
            </a:r>
            <a:endParaRPr lang="en-US" sz="7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700" dirty="0">
                <a:solidFill>
                  <a:srgbClr val="1A2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else:       print("  No duplicates.")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5394960" y="80467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2D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CONCEPTS HERE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5394960" y="1051560"/>
            <a:ext cx="3337560" cy="804672"/>
          </a:xfrm>
          <a:prstGeom prst="rect">
            <a:avLst/>
          </a:prstGeom>
          <a:solidFill>
            <a:srgbClr val="FDFCF8"/>
          </a:solidFill>
          <a:ln w="12700">
            <a:solidFill>
              <a:srgbClr val="D4CEBC"/>
            </a:solidFill>
            <a:prstDash val="solid"/>
          </a:ln>
          <a:effectLst>
            <a:outerShdw blurRad="76200" dist="25400" dir="8100000" algn="bl" rotWithShape="0">
              <a:srgbClr val="1A2414">
                <a:alpha val="7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394960" y="1051560"/>
            <a:ext cx="36576" cy="804672"/>
          </a:xfrm>
          <a:prstGeom prst="rect">
            <a:avLst/>
          </a:prstGeom>
          <a:solidFill>
            <a:srgbClr val="3D6B35"/>
          </a:solidFill>
          <a:ln w="12700">
            <a:solidFill>
              <a:srgbClr val="3D6B3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550408" y="1124712"/>
            <a:ext cx="3035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D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comprehension filter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550408" y="139903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7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[item for item in cart if ...] — this is the backbone of data science. Filter a list of records by a condition.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5394960" y="1984248"/>
            <a:ext cx="3337560" cy="804672"/>
          </a:xfrm>
          <a:prstGeom prst="rect">
            <a:avLst/>
          </a:prstGeom>
          <a:solidFill>
            <a:srgbClr val="FDFCF8"/>
          </a:solidFill>
          <a:ln w="12700">
            <a:solidFill>
              <a:srgbClr val="D4CEBC"/>
            </a:solidFill>
            <a:prstDash val="solid"/>
          </a:ln>
          <a:effectLst>
            <a:outerShdw blurRad="76200" dist="25400" dir="8100000" algn="bl" rotWithShape="0">
              <a:srgbClr val="1A2414">
                <a:alpha val="7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394960" y="1984248"/>
            <a:ext cx="36576" cy="804672"/>
          </a:xfrm>
          <a:prstGeom prst="rect">
            <a:avLst/>
          </a:prstGeom>
          <a:solidFill>
            <a:srgbClr val="5C7A4A"/>
          </a:solidFill>
          <a:ln w="12700">
            <a:solidFill>
              <a:srgbClr val="5C7A4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550408" y="2057400"/>
            <a:ext cx="3035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C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.lower() for comparison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550408" y="2331720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7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normalise to lowercase before comparing strings. 'Shoes' ≠ 'shoes' without this.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5394960" y="2916936"/>
            <a:ext cx="3337560" cy="804672"/>
          </a:xfrm>
          <a:prstGeom prst="rect">
            <a:avLst/>
          </a:prstGeom>
          <a:solidFill>
            <a:srgbClr val="FDFCF8"/>
          </a:solidFill>
          <a:ln w="12700">
            <a:solidFill>
              <a:srgbClr val="D4CEBC"/>
            </a:solidFill>
            <a:prstDash val="solid"/>
          </a:ln>
          <a:effectLst>
            <a:outerShdw blurRad="76200" dist="25400" dir="8100000" algn="bl" rotWithShape="0">
              <a:srgbClr val="1A2414">
                <a:alpha val="7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394960" y="2916936"/>
            <a:ext cx="36576" cy="804672"/>
          </a:xfrm>
          <a:prstGeom prst="rect">
            <a:avLst/>
          </a:prstGeom>
          <a:solidFill>
            <a:srgbClr val="2D5A3D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550408" y="2990088"/>
            <a:ext cx="3035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seen = set()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5550408" y="3264408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7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set pattern: track what you've visited. O(1) lookup makes this efficient even with thousands of items.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5394960" y="3849624"/>
            <a:ext cx="3337560" cy="804672"/>
          </a:xfrm>
          <a:prstGeom prst="rect">
            <a:avLst/>
          </a:prstGeom>
          <a:solidFill>
            <a:srgbClr val="FDFCF8"/>
          </a:solidFill>
          <a:ln w="12700">
            <a:solidFill>
              <a:srgbClr val="D4CEBC"/>
            </a:solidFill>
            <a:prstDash val="solid"/>
          </a:ln>
          <a:effectLst>
            <a:outerShdw blurRad="76200" dist="25400" dir="8100000" algn="bl" rotWithShape="0">
              <a:srgbClr val="1A2414">
                <a:alpha val="7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5394960" y="3849624"/>
            <a:ext cx="36576" cy="804672"/>
          </a:xfrm>
          <a:prstGeom prst="rect">
            <a:avLst/>
          </a:prstGeom>
          <a:solidFill>
            <a:srgbClr val="2D5A3D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550408" y="3922776"/>
            <a:ext cx="3035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dupes = set()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5550408" y="4197096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7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a set for duplicates means each item is reported once — no repeated alerts.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5394960" y="4645152"/>
            <a:ext cx="3337560" cy="347472"/>
          </a:xfrm>
          <a:prstGeom prst="rect">
            <a:avLst/>
          </a:prstGeom>
          <a:solidFill>
            <a:srgbClr val="EBF2EC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532120" y="4690872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functions use concepts from today's theory — list comprehension (lists) + set for tracking (sets).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8065008" y="4846320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89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19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DFC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5C7A4A"/>
          </a:solidFill>
          <a:ln w="12700">
            <a:solidFill>
              <a:srgbClr val="5C7A4A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09728"/>
            <a:ext cx="420624" cy="4206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91440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8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 &amp; 5 — Sort, Stats &amp; Menu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11480" y="804672"/>
            <a:ext cx="4892040" cy="4224528"/>
          </a:xfrm>
          <a:prstGeom prst="rect">
            <a:avLst/>
          </a:prstGeom>
          <a:solidFill>
            <a:srgbClr val="E8E4D8"/>
          </a:solidFill>
          <a:ln w="12700">
            <a:solidFill>
              <a:srgbClr val="CAC5B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94360" y="941832"/>
            <a:ext cx="4526280" cy="3950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600" dirty="0">
                <a:solidFill>
                  <a:srgbClr val="5C7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sort_cart(by="name"):</a:t>
            </a:r>
            <a:r>
              <a:rPr lang="en-US" sz="1000" dirty="0">
                <a:solidFill>
                  <a:srgbClr val="5C7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600" dirty="0">
                <a:solidFill>
                  <a:srgbClr val="1A2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by == "name":</a:t>
            </a:r>
            <a:endParaRPr lang="en-US" sz="6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600" dirty="0">
                <a:solidFill>
                  <a:srgbClr val="1A2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cart.sort(</a:t>
            </a:r>
            <a:endParaRPr lang="en-US" sz="6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600" dirty="0">
                <a:solidFill>
                  <a:srgbClr val="3D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key=lambda item: item['name'].lower()</a:t>
            </a:r>
            <a:r>
              <a:rPr lang="en-US" sz="600" dirty="0">
                <a:solidFill>
                  <a:srgbClr val="1A2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6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600" dirty="0">
                <a:solidFill>
                  <a:srgbClr val="1A2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elif by == "price":</a:t>
            </a:r>
            <a:endParaRPr lang="en-US" sz="6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600" dirty="0">
                <a:solidFill>
                  <a:srgbClr val="1A2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cart.sort(</a:t>
            </a:r>
            <a:endParaRPr lang="en-US" sz="6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600" dirty="0">
                <a:solidFill>
                  <a:srgbClr val="3D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key=lambda item: item['price']</a:t>
            </a:r>
            <a:r>
              <a:rPr lang="en-US" sz="600" dirty="0">
                <a:solidFill>
                  <a:srgbClr val="1A2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def cart_stats():
    if not cart: return
    prices = </a:t>
            </a:r>
            <a:r>
              <a:rPr lang="en-US" sz="600" dirty="0">
                <a:solidFill>
                  <a:srgbClr val="5C7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[item['price'] for item in cart]
</a:t>
            </a:r>
            <a:r>
              <a:rPr lang="en-US" sz="600" dirty="0">
                <a:solidFill>
                  <a:srgbClr val="1A2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print(f"  Items:   {len(prices)}")</a:t>
            </a:r>
            <a:endParaRPr lang="en-US" sz="6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600" dirty="0">
                <a:solidFill>
                  <a:srgbClr val="1A2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print(f"  Total:  ${</a:t>
            </a:r>
            <a:endParaRPr lang="en-US" sz="6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600" dirty="0">
                <a:solidFill>
                  <a:srgbClr val="3D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sum(prices)</a:t>
            </a:r>
            <a:r>
              <a:rPr lang="en-US" sz="600" dirty="0">
                <a:solidFill>
                  <a:srgbClr val="1A2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:.2f}")</a:t>
            </a:r>
            <a:endParaRPr lang="en-US" sz="6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600" dirty="0">
                <a:solidFill>
                  <a:srgbClr val="1A2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print(f"  Avg:    ${sum(prices)/len(prices):.2f}")</a:t>
            </a:r>
            <a:endParaRPr lang="en-US" sz="6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600" dirty="0">
                <a:solidFill>
                  <a:srgbClr val="1A2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print(f"  Min:    ${</a:t>
            </a:r>
            <a:endParaRPr lang="en-US" sz="6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600" dirty="0">
                <a:solidFill>
                  <a:srgbClr val="3D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min(prices)</a:t>
            </a:r>
            <a:r>
              <a:rPr lang="en-US" sz="600" dirty="0">
                <a:solidFill>
                  <a:srgbClr val="1A2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:.2f}")</a:t>
            </a:r>
            <a:endParaRPr lang="en-US" sz="6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600" dirty="0">
                <a:solidFill>
                  <a:srgbClr val="1A2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print(f"  Max:    ${</a:t>
            </a:r>
            <a:endParaRPr lang="en-US" sz="6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600" dirty="0">
                <a:solidFill>
                  <a:srgbClr val="3D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max(prices)</a:t>
            </a:r>
            <a:r>
              <a:rPr lang="en-US" sz="600" dirty="0">
                <a:solidFill>
                  <a:srgbClr val="1A2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:.2f}")</a:t>
            </a:r>
            <a:endParaRPr lang="en-US" sz="600" dirty="0"/>
          </a:p>
          <a:p>
            <a:pPr marL="0" indent="0">
              <a:lnSpc>
                <a:spcPct val="160000"/>
              </a:lnSpc>
              <a:buNone/>
            </a:pPr>
            <a:endParaRPr lang="en-US" sz="6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600" dirty="0">
                <a:solidFill>
                  <a:srgbClr val="1A2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main():</a:t>
            </a:r>
            <a:endParaRPr lang="en-US" sz="6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600" dirty="0">
                <a:solidFill>
                  <a:srgbClr val="1A2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True:</a:t>
            </a:r>
            <a:endParaRPr lang="en-US" sz="6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600" dirty="0">
                <a:solidFill>
                  <a:srgbClr val="1A2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choice = input("  Choose (1-9): ").strip()</a:t>
            </a:r>
            <a:endParaRPr lang="en-US" sz="6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600" dirty="0">
                <a:solidFill>
                  <a:srgbClr val="1A2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  choice=='1': show_cart()</a:t>
            </a:r>
            <a:endParaRPr lang="en-US" sz="6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600" dirty="0">
                <a:solidFill>
                  <a:srgbClr val="1A2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elif choice=='2': add_item()</a:t>
            </a:r>
            <a:endParaRPr lang="en-US" sz="6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600" dirty="0">
                <a:solidFill>
                  <a:srgbClr val="1A2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elif choice=='9': break</a:t>
            </a:r>
            <a:endParaRPr lang="en-US" sz="6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600" dirty="0">
                <a:solidFill>
                  <a:srgbClr val="1A2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main()</a:t>
            </a:r>
            <a:endParaRPr lang="en-US" sz="600" dirty="0"/>
          </a:p>
        </p:txBody>
      </p:sp>
      <p:sp>
        <p:nvSpPr>
          <p:cNvPr id="7" name="Text 4"/>
          <p:cNvSpPr/>
          <p:nvPr/>
        </p:nvSpPr>
        <p:spPr>
          <a:xfrm>
            <a:off x="5394960" y="80467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2D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MOMENTS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5394960" y="1051560"/>
            <a:ext cx="3337560" cy="804672"/>
          </a:xfrm>
          <a:prstGeom prst="rect">
            <a:avLst/>
          </a:prstGeom>
          <a:solidFill>
            <a:srgbClr val="FDFCF8"/>
          </a:solidFill>
          <a:ln w="12700">
            <a:solidFill>
              <a:srgbClr val="D4CEBC"/>
            </a:solidFill>
            <a:prstDash val="solid"/>
          </a:ln>
          <a:effectLst>
            <a:outerShdw blurRad="76200" dist="25400" dir="8100000" algn="bl" rotWithShape="0">
              <a:srgbClr val="1A2414">
                <a:alpha val="7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394960" y="1051560"/>
            <a:ext cx="36576" cy="804672"/>
          </a:xfrm>
          <a:prstGeom prst="rect">
            <a:avLst/>
          </a:prstGeom>
          <a:solidFill>
            <a:srgbClr val="5C7A4A"/>
          </a:solidFill>
          <a:ln w="12700">
            <a:solidFill>
              <a:srgbClr val="5C7A4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550408" y="1124712"/>
            <a:ext cx="3035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C7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key=lambda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550408" y="139903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7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 of Day 5 lambdas. Read it as 'sort by this field'. Don't deep-dive yet.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5394960" y="1984248"/>
            <a:ext cx="3337560" cy="804672"/>
          </a:xfrm>
          <a:prstGeom prst="rect">
            <a:avLst/>
          </a:prstGeom>
          <a:solidFill>
            <a:srgbClr val="FDFCF8"/>
          </a:solidFill>
          <a:ln w="12700">
            <a:solidFill>
              <a:srgbClr val="D4CEBC"/>
            </a:solidFill>
            <a:prstDash val="solid"/>
          </a:ln>
          <a:effectLst>
            <a:outerShdw blurRad="76200" dist="25400" dir="8100000" algn="bl" rotWithShape="0">
              <a:srgbClr val="1A2414">
                <a:alpha val="7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394960" y="1984248"/>
            <a:ext cx="36576" cy="804672"/>
          </a:xfrm>
          <a:prstGeom prst="rect">
            <a:avLst/>
          </a:prstGeom>
          <a:solidFill>
            <a:srgbClr val="3D6B35"/>
          </a:solidFill>
          <a:ln w="12700">
            <a:solidFill>
              <a:srgbClr val="3D6B3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550408" y="2057400"/>
            <a:ext cx="3035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sum() min() max()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550408" y="2331720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7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built-ins on a list of floats. This is exactly how Pandas column stats work in Week 2.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5394960" y="2916936"/>
            <a:ext cx="3337560" cy="804672"/>
          </a:xfrm>
          <a:prstGeom prst="rect">
            <a:avLst/>
          </a:prstGeom>
          <a:solidFill>
            <a:srgbClr val="FDFCF8"/>
          </a:solidFill>
          <a:ln w="12700">
            <a:solidFill>
              <a:srgbClr val="D4CEBC"/>
            </a:solidFill>
            <a:prstDash val="solid"/>
          </a:ln>
          <a:effectLst>
            <a:outerShdw blurRad="76200" dist="25400" dir="8100000" algn="bl" rotWithShape="0">
              <a:srgbClr val="1A2414">
                <a:alpha val="7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394960" y="2916936"/>
            <a:ext cx="36576" cy="804672"/>
          </a:xfrm>
          <a:prstGeom prst="rect">
            <a:avLst/>
          </a:prstGeom>
          <a:solidFill>
            <a:srgbClr val="2D5A3D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550408" y="2990088"/>
            <a:ext cx="3035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5A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prices = [item['price']…]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5550408" y="3264408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7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Extracting one field from a list of dicts — the core pattern in data science.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5394960" y="3849624"/>
            <a:ext cx="3337560" cy="804672"/>
          </a:xfrm>
          <a:prstGeom prst="rect">
            <a:avLst/>
          </a:prstGeom>
          <a:solidFill>
            <a:srgbClr val="FDFCF8"/>
          </a:solidFill>
          <a:ln w="12700">
            <a:solidFill>
              <a:srgbClr val="D4CEBC"/>
            </a:solidFill>
            <a:prstDash val="solid"/>
          </a:ln>
          <a:effectLst>
            <a:outerShdw blurRad="76200" dist="25400" dir="8100000" algn="bl" rotWithShape="0">
              <a:srgbClr val="1A2414">
                <a:alpha val="7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5394960" y="3849624"/>
            <a:ext cx="36576" cy="804672"/>
          </a:xfrm>
          <a:prstGeom prst="rect">
            <a:avLst/>
          </a:prstGeom>
          <a:solidFill>
            <a:srgbClr val="3A4A5C"/>
          </a:solidFill>
          <a:ln w="12700">
            <a:solidFill>
              <a:srgbClr val="3A4A5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550408" y="3922776"/>
            <a:ext cx="3035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A4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True + break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5550408" y="4197096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7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standard menu loop. Valid and professional when the break condition is clear.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8065008" y="4846320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89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19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2D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HABIT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Your Work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8138160" cy="0"/>
          </a:xfrm>
          <a:prstGeom prst="line">
            <a:avLst/>
          </a:prstGeom>
          <a:noFill/>
          <a:ln w="12700">
            <a:solidFill>
              <a:srgbClr val="D4CEB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207008"/>
            <a:ext cx="8321040" cy="1719072"/>
          </a:xfrm>
          <a:prstGeom prst="rect">
            <a:avLst/>
          </a:prstGeom>
          <a:solidFill>
            <a:srgbClr val="E8E4D8"/>
          </a:solidFill>
          <a:ln w="12700">
            <a:solidFill>
              <a:srgbClr val="CAC5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344168"/>
            <a:ext cx="79552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7A72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 VSCode terminal  (Ctrl + `)
</a:t>
            </a:r>
            <a:r>
              <a:rPr lang="en-US" sz="1000" dirty="0">
                <a:solidFill>
                  <a:srgbClr val="2D5A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</a:t>
            </a:r>
            <a:r>
              <a:rPr lang="en-US" sz="1000" dirty="0">
                <a:solidFill>
                  <a:srgbClr val="1A2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day04/
</a:t>
            </a:r>
            <a:r>
              <a:rPr lang="en-US" sz="1000" dirty="0">
                <a:solidFill>
                  <a:srgbClr val="2D5A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status </a:t>
            </a:r>
            <a:r>
              <a:rPr lang="en-US" sz="1000" dirty="0">
                <a:solidFill>
                  <a:srgbClr val="7A72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# verify shopping_cart.py is staged
</a:t>
            </a:r>
            <a:r>
              <a:rPr lang="en-US" sz="1000" dirty="0">
                <a:solidFill>
                  <a:srgbClr val="2D5A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</a:t>
            </a:r>
            <a:r>
              <a:rPr lang="en-US" sz="1000" dirty="0">
                <a:solidFill>
                  <a:srgbClr val="1A2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-m </a:t>
            </a:r>
            <a:r>
              <a:rPr lang="en-US" sz="1000" dirty="0">
                <a:solidFill>
                  <a:srgbClr val="3D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"Day 4: lists tuples sets — shopping cart CLI"</a:t>
            </a:r>
            <a:endParaRPr lang="en-US" sz="10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2D5A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11480" y="3035808"/>
            <a:ext cx="8321040" cy="384048"/>
          </a:xfrm>
          <a:prstGeom prst="rect">
            <a:avLst/>
          </a:prstGeom>
          <a:solidFill>
            <a:srgbClr val="EBF2EC"/>
          </a:solidFill>
          <a:ln w="12700">
            <a:solidFill>
              <a:srgbClr val="2D5A3D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3154680"/>
            <a:ext cx="237744" cy="2377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14400" y="3154680"/>
            <a:ext cx="7635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Expected: python-ai-journey/day04/shopping_cart.py on GitHub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11480" y="354787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folder structure: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11480" y="3761701"/>
            <a:ext cx="4050791" cy="1321308"/>
          </a:xfrm>
          <a:prstGeom prst="rect">
            <a:avLst/>
          </a:prstGeom>
          <a:solidFill>
            <a:srgbClr val="E8E4D8"/>
          </a:solidFill>
          <a:ln w="12700">
            <a:solidFill>
              <a:srgbClr val="CAC5B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19682" y="3792650"/>
            <a:ext cx="3449398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600" dirty="0">
                <a:solidFill>
                  <a:srgbClr val="1A2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python-ai-journey/</a:t>
            </a:r>
            <a:endParaRPr lang="en-US" sz="6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600" dirty="0">
                <a:solidFill>
                  <a:srgbClr val="1A2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day01.py</a:t>
            </a:r>
            <a:endParaRPr lang="en-US" sz="6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600" dirty="0">
                <a:solidFill>
                  <a:srgbClr val="1A2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day02/</a:t>
            </a:r>
            <a:endParaRPr lang="en-US" sz="6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600" dirty="0">
                <a:solidFill>
                  <a:srgbClr val="1A2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day03/</a:t>
            </a:r>
            <a:endParaRPr lang="en-US" sz="6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600" dirty="0">
                <a:solidFill>
                  <a:srgbClr val="1A2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guessing_game.py</a:t>
            </a:r>
            <a:endParaRPr lang="en-US" sz="6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600" dirty="0">
                <a:solidFill>
                  <a:srgbClr val="1A2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fizzbuzz.py</a:t>
            </a:r>
            <a:endParaRPr lang="en-US" sz="6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600" dirty="0">
                <a:solidFill>
                  <a:srgbClr val="1A2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patterns.py</a:t>
            </a:r>
            <a:endParaRPr lang="en-US" sz="6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600" dirty="0">
                <a:solidFill>
                  <a:srgbClr val="1A2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day04/</a:t>
            </a:r>
            <a:endParaRPr lang="en-US" sz="6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600" dirty="0">
                <a:solidFill>
                  <a:srgbClr val="1A2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└── shopping_cart.py</a:t>
            </a:r>
            <a:endParaRPr lang="en-US" sz="600" dirty="0"/>
          </a:p>
        </p:txBody>
      </p:sp>
      <p:sp>
        <p:nvSpPr>
          <p:cNvPr id="13" name="Shape 10"/>
          <p:cNvSpPr/>
          <p:nvPr/>
        </p:nvSpPr>
        <p:spPr>
          <a:xfrm>
            <a:off x="4617720" y="3547872"/>
            <a:ext cx="4114800" cy="1499616"/>
          </a:xfrm>
          <a:prstGeom prst="rect">
            <a:avLst/>
          </a:prstGeom>
          <a:solidFill>
            <a:srgbClr val="FDFCF8"/>
          </a:solidFill>
          <a:ln w="12700">
            <a:solidFill>
              <a:srgbClr val="D4CEBC"/>
            </a:solidFill>
            <a:prstDash val="solid"/>
          </a:ln>
          <a:effectLst>
            <a:outerShdw blurRad="76200" dist="25400" dir="8100000" algn="bl" rotWithShape="0">
              <a:srgbClr val="1A2414">
                <a:alpha val="7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617719" y="3547872"/>
            <a:ext cx="45719" cy="1499616"/>
          </a:xfrm>
          <a:prstGeom prst="rect">
            <a:avLst/>
          </a:prstGeom>
          <a:solidFill>
            <a:srgbClr val="2D5A3D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773168" y="3602736"/>
            <a:ext cx="3767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D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cart demonstrates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4850892" y="3630168"/>
            <a:ext cx="3767328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800" b="1" dirty="0">
                <a:solidFill>
                  <a:srgbClr val="2D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Lists:</a:t>
            </a:r>
            <a:r>
              <a:rPr lang="en-US" sz="800" dirty="0">
                <a:solidFill>
                  <a:srgbClr val="7A7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cart items, sorted views, statistics
</a:t>
            </a:r>
            <a:r>
              <a:rPr lang="en-US" sz="800" b="1" dirty="0">
                <a:solidFill>
                  <a:srgbClr val="6B4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Tuples:</a:t>
            </a:r>
            <a:r>
              <a:rPr lang="en-US" sz="800" dirty="0">
                <a:solidFill>
                  <a:srgbClr val="7A7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(used implicitly in function returns)
</a:t>
            </a:r>
            <a:r>
              <a:rPr lang="en-US" sz="800" b="1" dirty="0">
                <a:solidFill>
                  <a:srgbClr val="3D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Sets:</a:t>
            </a:r>
            <a:r>
              <a:rPr lang="en-US" sz="800" dirty="0">
                <a:solidFill>
                  <a:srgbClr val="7A7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duplicate detection, seen tracking
</a:t>
            </a:r>
            <a:r>
              <a:rPr lang="en-US" sz="800" b="1" dirty="0">
                <a:solidFill>
                  <a:srgbClr val="5C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Comprehensions:</a:t>
            </a:r>
            <a:r>
              <a:rPr lang="en-US" sz="800" dirty="0">
                <a:solidFill>
                  <a:srgbClr val="7A7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search filter, price extraction
</a:t>
            </a:r>
            <a:r>
              <a:rPr lang="en-US" sz="800" b="1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loops:</a:t>
            </a:r>
            <a:r>
              <a:rPr lang="en-US" sz="800" dirty="0">
                <a:solidFill>
                  <a:srgbClr val="7A7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for, while, enumerate — all used
</a:t>
            </a:r>
            <a:r>
              <a:rPr lang="en-US" sz="800" b="1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casting:</a:t>
            </a:r>
            <a:r>
              <a:rPr lang="en-US" sz="800" dirty="0">
                <a:solidFill>
                  <a:srgbClr val="7A7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float(input()), int(input())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8065008" y="4846320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89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19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DFC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2D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OUT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Mistakes Today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005840"/>
            <a:ext cx="8138160" cy="0"/>
          </a:xfrm>
          <a:prstGeom prst="line">
            <a:avLst/>
          </a:prstGeom>
          <a:noFill/>
          <a:ln w="12700">
            <a:solidFill>
              <a:srgbClr val="D4CEB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115568"/>
            <a:ext cx="4160520" cy="1170432"/>
          </a:xfrm>
          <a:prstGeom prst="rect">
            <a:avLst/>
          </a:prstGeom>
          <a:solidFill>
            <a:srgbClr val="FDFCF8"/>
          </a:solidFill>
          <a:ln w="12700">
            <a:solidFill>
              <a:srgbClr val="D4CEBC"/>
            </a:solidFill>
            <a:prstDash val="solid"/>
          </a:ln>
          <a:effectLst>
            <a:outerShdw blurRad="76200" dist="25400" dir="8100000" algn="bl" rotWithShape="0">
              <a:srgbClr val="1A2414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115568"/>
            <a:ext cx="36576" cy="1170432"/>
          </a:xfrm>
          <a:prstGeom prst="rect">
            <a:avLst/>
          </a:prstGeom>
          <a:solidFill>
            <a:srgbClr val="6B4C2A"/>
          </a:solidFill>
          <a:ln w="12700">
            <a:solidFill>
              <a:srgbClr val="6B4C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1207008"/>
            <a:ext cx="2286000" cy="237744"/>
          </a:xfrm>
          <a:prstGeom prst="roundRect">
            <a:avLst>
              <a:gd name="adj" fmla="val 23077"/>
            </a:avLst>
          </a:prstGeom>
          <a:solidFill>
            <a:srgbClr val="EEE9DF"/>
          </a:solidFill>
          <a:ln w="12700">
            <a:solidFill>
              <a:srgbClr val="6B4C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0936" y="1207008"/>
            <a:ext cx="22311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B4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empty_set = {}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76072" y="1517904"/>
            <a:ext cx="3858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Creates an empty dict, not a set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76072" y="1847088"/>
            <a:ext cx="3858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7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Always use set() for an empty set. Test with type().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818888" y="1115568"/>
            <a:ext cx="4160520" cy="1170432"/>
          </a:xfrm>
          <a:prstGeom prst="rect">
            <a:avLst/>
          </a:prstGeom>
          <a:solidFill>
            <a:srgbClr val="FDFCF8"/>
          </a:solidFill>
          <a:ln w="12700">
            <a:solidFill>
              <a:srgbClr val="D4CEBC"/>
            </a:solidFill>
            <a:prstDash val="solid"/>
          </a:ln>
          <a:effectLst>
            <a:outerShdw blurRad="76200" dist="25400" dir="8100000" algn="bl" rotWithShape="0">
              <a:srgbClr val="1A2414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18888" y="1115568"/>
            <a:ext cx="36576" cy="1170432"/>
          </a:xfrm>
          <a:prstGeom prst="rect">
            <a:avLst/>
          </a:prstGeom>
          <a:solidFill>
            <a:srgbClr val="6B4C2A"/>
          </a:solidFill>
          <a:ln w="12700">
            <a:solidFill>
              <a:srgbClr val="6B4C2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983480" y="1207008"/>
            <a:ext cx="2286000" cy="237744"/>
          </a:xfrm>
          <a:prstGeom prst="roundRect">
            <a:avLst>
              <a:gd name="adj" fmla="val 23077"/>
            </a:avLst>
          </a:prstGeom>
          <a:solidFill>
            <a:srgbClr val="EEE9DF"/>
          </a:solidFill>
          <a:ln w="12700">
            <a:solidFill>
              <a:srgbClr val="6B4C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38344" y="1207008"/>
            <a:ext cx="22311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B4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= a  (not a copy)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83480" y="1517904"/>
            <a:ext cx="3858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Both variables point to the same list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983480" y="1847088"/>
            <a:ext cx="3858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7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Use b = a.copy() or b = a[:] for a real independent copy.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11480" y="2414016"/>
            <a:ext cx="4160520" cy="1170432"/>
          </a:xfrm>
          <a:prstGeom prst="rect">
            <a:avLst/>
          </a:prstGeom>
          <a:solidFill>
            <a:srgbClr val="FDFCF8"/>
          </a:solidFill>
          <a:ln w="12700">
            <a:solidFill>
              <a:srgbClr val="D4CEBC"/>
            </a:solidFill>
            <a:prstDash val="solid"/>
          </a:ln>
          <a:effectLst>
            <a:outerShdw blurRad="76200" dist="25400" dir="8100000" algn="bl" rotWithShape="0">
              <a:srgbClr val="1A2414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11480" y="2414016"/>
            <a:ext cx="36576" cy="1170432"/>
          </a:xfrm>
          <a:prstGeom prst="rect">
            <a:avLst/>
          </a:prstGeom>
          <a:solidFill>
            <a:srgbClr val="2D5A3D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76072" y="2505456"/>
            <a:ext cx="2286000" cy="237744"/>
          </a:xfrm>
          <a:prstGeom prst="roundRect">
            <a:avLst>
              <a:gd name="adj" fmla="val 23077"/>
            </a:avLst>
          </a:prstGeom>
          <a:solidFill>
            <a:srgbClr val="EEE9DF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936" y="2505456"/>
            <a:ext cx="22311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5A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sort() returns None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76072" y="2816352"/>
            <a:ext cx="3858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Assigns None: result = list.sort() — common mistake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76072" y="3145536"/>
            <a:ext cx="3858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7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sort() modifies in place. Use sorted(list) if you need the result.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818888" y="2414016"/>
            <a:ext cx="4160520" cy="1170432"/>
          </a:xfrm>
          <a:prstGeom prst="rect">
            <a:avLst/>
          </a:prstGeom>
          <a:solidFill>
            <a:srgbClr val="FDFCF8"/>
          </a:solidFill>
          <a:ln w="12700">
            <a:solidFill>
              <a:srgbClr val="D4CEBC"/>
            </a:solidFill>
            <a:prstDash val="solid"/>
          </a:ln>
          <a:effectLst>
            <a:outerShdw blurRad="76200" dist="25400" dir="8100000" algn="bl" rotWithShape="0">
              <a:srgbClr val="1A2414">
                <a:alpha val="7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18888" y="2414016"/>
            <a:ext cx="36576" cy="1170432"/>
          </a:xfrm>
          <a:prstGeom prst="rect">
            <a:avLst/>
          </a:prstGeom>
          <a:solidFill>
            <a:srgbClr val="2D5A3D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983480" y="2505456"/>
            <a:ext cx="2286000" cy="237744"/>
          </a:xfrm>
          <a:prstGeom prst="roundRect">
            <a:avLst>
              <a:gd name="adj" fmla="val 23077"/>
            </a:avLst>
          </a:prstGeom>
          <a:solidFill>
            <a:srgbClr val="EEE9DF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38344" y="2505456"/>
            <a:ext cx="22311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5A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set[0]  — no indexing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983480" y="2816352"/>
            <a:ext cx="3858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Sets have no order, so no index access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983480" y="3145536"/>
            <a:ext cx="3858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7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Convert to list first: list(my_set)[0] — but order not guaranteed.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11480" y="3712464"/>
            <a:ext cx="4160520" cy="1170432"/>
          </a:xfrm>
          <a:prstGeom prst="rect">
            <a:avLst/>
          </a:prstGeom>
          <a:solidFill>
            <a:srgbClr val="FDFCF8"/>
          </a:solidFill>
          <a:ln w="12700">
            <a:solidFill>
              <a:srgbClr val="D4CEBC"/>
            </a:solidFill>
            <a:prstDash val="solid"/>
          </a:ln>
          <a:effectLst>
            <a:outerShdw blurRad="76200" dist="25400" dir="8100000" algn="bl" rotWithShape="0">
              <a:srgbClr val="1A2414">
                <a:alpha val="7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11480" y="3712464"/>
            <a:ext cx="36576" cy="1170432"/>
          </a:xfrm>
          <a:prstGeom prst="rect">
            <a:avLst/>
          </a:prstGeom>
          <a:solidFill>
            <a:srgbClr val="3D6B35"/>
          </a:solidFill>
          <a:ln w="12700">
            <a:solidFill>
              <a:srgbClr val="3D6B3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76072" y="3803904"/>
            <a:ext cx="2286000" cy="237744"/>
          </a:xfrm>
          <a:prstGeom prst="roundRect">
            <a:avLst>
              <a:gd name="adj" fmla="val 23077"/>
            </a:avLst>
          </a:prstGeom>
          <a:solidFill>
            <a:srgbClr val="EEE9DF"/>
          </a:solidFill>
          <a:ln w="12700">
            <a:solidFill>
              <a:srgbClr val="3D6B3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0936" y="3803904"/>
            <a:ext cx="22311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(42)  is not a tuple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76072" y="4114800"/>
            <a:ext cx="3858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Parentheses alone don't make a tuple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76072" y="4443984"/>
            <a:ext cx="3858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7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Must have trailing comma: (42,). Run type() to verify.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818888" y="3712464"/>
            <a:ext cx="4160520" cy="1170432"/>
          </a:xfrm>
          <a:prstGeom prst="rect">
            <a:avLst/>
          </a:prstGeom>
          <a:solidFill>
            <a:srgbClr val="FDFCF8"/>
          </a:solidFill>
          <a:ln w="12700">
            <a:solidFill>
              <a:srgbClr val="D4CEBC"/>
            </a:solidFill>
            <a:prstDash val="solid"/>
          </a:ln>
          <a:effectLst>
            <a:outerShdw blurRad="76200" dist="25400" dir="8100000" algn="bl" rotWithShape="0">
              <a:srgbClr val="1A2414">
                <a:alpha val="7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818888" y="3712464"/>
            <a:ext cx="36576" cy="1170432"/>
          </a:xfrm>
          <a:prstGeom prst="rect">
            <a:avLst/>
          </a:prstGeom>
          <a:solidFill>
            <a:srgbClr val="3D6B35"/>
          </a:solidFill>
          <a:ln w="12700">
            <a:solidFill>
              <a:srgbClr val="3D6B3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983480" y="3803904"/>
            <a:ext cx="2286000" cy="237744"/>
          </a:xfrm>
          <a:prstGeom prst="roundRect">
            <a:avLst>
              <a:gd name="adj" fmla="val 23077"/>
            </a:avLst>
          </a:prstGeom>
          <a:solidFill>
            <a:srgbClr val="EEE9DF"/>
          </a:solidFill>
          <a:ln w="12700">
            <a:solidFill>
              <a:srgbClr val="3D6B3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38344" y="3803904"/>
            <a:ext cx="22311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Modify list while looping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983480" y="4114800"/>
            <a:ext cx="3858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Removing items inside a for loop skips items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983480" y="4443984"/>
            <a:ext cx="3858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7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Iterate over a copy: for item in list[:]:  or use list comprehension.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8065008" y="4846320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89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19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2D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CODE HABITS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Best Practices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005840"/>
            <a:ext cx="8138160" cy="0"/>
          </a:xfrm>
          <a:prstGeom prst="line">
            <a:avLst/>
          </a:prstGeom>
          <a:noFill/>
          <a:ln w="12700">
            <a:solidFill>
              <a:srgbClr val="D4CEB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115568"/>
            <a:ext cx="4160520" cy="2148840"/>
          </a:xfrm>
          <a:prstGeom prst="rect">
            <a:avLst/>
          </a:prstGeom>
          <a:solidFill>
            <a:srgbClr val="FDFCF8"/>
          </a:solidFill>
          <a:ln w="12700">
            <a:solidFill>
              <a:srgbClr val="D4CEBC"/>
            </a:solidFill>
            <a:prstDash val="solid"/>
          </a:ln>
          <a:effectLst>
            <a:outerShdw blurRad="76200" dist="25400" dir="8100000" algn="bl" rotWithShape="0">
              <a:srgbClr val="1A2414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115568"/>
            <a:ext cx="36576" cy="2148840"/>
          </a:xfrm>
          <a:prstGeom prst="rect">
            <a:avLst/>
          </a:prstGeom>
          <a:solidFill>
            <a:srgbClr val="2D5A3D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17043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D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right structure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66928" y="1444752"/>
            <a:ext cx="3840480" cy="1719072"/>
          </a:xfrm>
          <a:prstGeom prst="rect">
            <a:avLst/>
          </a:prstGeom>
          <a:solidFill>
            <a:srgbClr val="E8E4D8"/>
          </a:solidFill>
          <a:ln w="12700">
            <a:solidFill>
              <a:srgbClr val="CAC5B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1581912"/>
            <a:ext cx="347472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800" dirty="0">
                <a:solidFill>
                  <a:srgbClr val="6B4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Bad — list for unique-lookup
</a:t>
            </a:r>
            <a:r>
              <a:rPr lang="en-US" sz="800" dirty="0">
                <a:solidFill>
                  <a:srgbClr val="7A72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allowed = ["admin", "editor", "admin"]
if "admin" in allowed:  </a:t>
            </a:r>
            <a:r>
              <a:rPr lang="en-US" sz="800" dirty="0">
                <a:solidFill>
                  <a:srgbClr val="6B4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O(n) slow!
</a:t>
            </a:r>
            <a:r>
              <a:rPr lang="en-US" sz="800" dirty="0">
                <a:solidFill>
                  <a:srgbClr val="3D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Good — set for unique+fast
</a:t>
            </a:r>
            <a:r>
              <a:rPr lang="en-US" sz="800" dirty="0">
                <a:solidFill>
                  <a:srgbClr val="1A2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allowed = {"admin", "editor"}
if "admin" in allowed:  </a:t>
            </a:r>
            <a:r>
              <a:rPr lang="en-US" sz="800" dirty="0">
                <a:solidFill>
                  <a:srgbClr val="3D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O(1) instant!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663440" y="1115567"/>
            <a:ext cx="4069080" cy="2185413"/>
          </a:xfrm>
          <a:prstGeom prst="rect">
            <a:avLst/>
          </a:prstGeom>
          <a:solidFill>
            <a:srgbClr val="FDFCF8"/>
          </a:solidFill>
          <a:ln w="12700">
            <a:solidFill>
              <a:srgbClr val="D4CEBC"/>
            </a:solidFill>
            <a:prstDash val="solid"/>
          </a:ln>
          <a:effectLst>
            <a:outerShdw blurRad="76200" dist="25400" dir="8100000" algn="bl" rotWithShape="0">
              <a:srgbClr val="1A2414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126295"/>
            <a:ext cx="36576" cy="2148840"/>
          </a:xfrm>
          <a:prstGeom prst="rect">
            <a:avLst/>
          </a:prstGeom>
          <a:solidFill>
            <a:srgbClr val="6B4C2A"/>
          </a:solidFill>
          <a:ln w="12700">
            <a:solidFill>
              <a:srgbClr val="6B4C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28032" y="117043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B4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use list for membership checks in loops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828032" y="1444752"/>
            <a:ext cx="3813048" cy="1856228"/>
          </a:xfrm>
          <a:prstGeom prst="rect">
            <a:avLst/>
          </a:prstGeom>
          <a:solidFill>
            <a:srgbClr val="E8E4D8"/>
          </a:solidFill>
          <a:ln w="12700">
            <a:solidFill>
              <a:srgbClr val="CAC5B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10912" y="1581912"/>
            <a:ext cx="33832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800" dirty="0">
                <a:solidFill>
                  <a:srgbClr val="6B4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Bad — O(n²)
</a:t>
            </a:r>
            <a:r>
              <a:rPr lang="en-US" sz="800" dirty="0">
                <a:solidFill>
                  <a:srgbClr val="7A72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seen = []
for item in data:
    if item not in seen:
        seen.append(item)
</a:t>
            </a:r>
            <a:r>
              <a:rPr lang="en-US" sz="800" dirty="0">
                <a:solidFill>
                  <a:srgbClr val="3D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Good — O(n)
</a:t>
            </a:r>
            <a:r>
              <a:rPr lang="en-US" sz="800" dirty="0">
                <a:solidFill>
                  <a:srgbClr val="1A2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seen = set()</a:t>
            </a:r>
            <a:endParaRPr lang="en-US" sz="8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800" dirty="0">
                <a:solidFill>
                  <a:srgbClr val="1A2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item in data:</a:t>
            </a:r>
            <a:endParaRPr lang="en-US" sz="8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800" dirty="0">
                <a:solidFill>
                  <a:srgbClr val="1A2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item not in seen:</a:t>
            </a:r>
            <a:endParaRPr lang="en-US" sz="8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800" dirty="0">
                <a:solidFill>
                  <a:srgbClr val="1A2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seen.add(item</a:t>
            </a:r>
            <a:r>
              <a:rPr lang="en-US" sz="1000" dirty="0">
                <a:solidFill>
                  <a:srgbClr val="1A2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11480" y="3364992"/>
            <a:ext cx="4160520" cy="1508760"/>
          </a:xfrm>
          <a:prstGeom prst="rect">
            <a:avLst/>
          </a:prstGeom>
          <a:solidFill>
            <a:srgbClr val="FDFCF8"/>
          </a:solidFill>
          <a:ln w="12700">
            <a:solidFill>
              <a:srgbClr val="D4CEBC"/>
            </a:solidFill>
            <a:prstDash val="solid"/>
          </a:ln>
          <a:effectLst>
            <a:outerShdw blurRad="76200" dist="25400" dir="8100000" algn="bl" rotWithShape="0">
              <a:srgbClr val="1A2414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11480" y="3364992"/>
            <a:ext cx="36576" cy="1508760"/>
          </a:xfrm>
          <a:prstGeom prst="rect">
            <a:avLst/>
          </a:prstGeom>
          <a:solidFill>
            <a:srgbClr val="3D6B35"/>
          </a:solidFill>
          <a:ln w="12700">
            <a:solidFill>
              <a:srgbClr val="3D6B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341985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D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Comprehension limit — know when to stop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66928" y="3712464"/>
            <a:ext cx="3840480" cy="1078992"/>
          </a:xfrm>
          <a:prstGeom prst="rect">
            <a:avLst/>
          </a:prstGeom>
          <a:solidFill>
            <a:srgbClr val="E8E4D8"/>
          </a:solidFill>
          <a:ln w="12700">
            <a:solidFill>
              <a:srgbClr val="CAC5B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" y="3849624"/>
            <a:ext cx="3474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800" dirty="0">
                <a:solidFill>
                  <a:srgbClr val="3D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Good — simple, readable
</a:t>
            </a:r>
            <a:r>
              <a:rPr lang="en-US" sz="800" dirty="0">
                <a:solidFill>
                  <a:srgbClr val="1A2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evens = [n for n in nums if n%2==0]
</a:t>
            </a:r>
            <a:r>
              <a:rPr lang="en-US" sz="800" dirty="0">
                <a:solidFill>
                  <a:srgbClr val="6B4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Too complex → use a regular loop
</a:t>
            </a:r>
            <a:r>
              <a:rPr lang="en-US" sz="800" dirty="0">
                <a:solidFill>
                  <a:srgbClr val="7A72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[f(u,o) for u in users</a:t>
            </a:r>
            <a:endParaRPr lang="en-US" sz="8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800" dirty="0">
                <a:solidFill>
                  <a:srgbClr val="7A72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for o in u['orders']</a:t>
            </a:r>
            <a:endParaRPr lang="en-US" sz="8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800" dirty="0">
                <a:solidFill>
                  <a:srgbClr val="7A72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if o['status']=='done' and o['total']&gt;100]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663440" y="3364992"/>
            <a:ext cx="4069080" cy="1508760"/>
          </a:xfrm>
          <a:prstGeom prst="rect">
            <a:avLst/>
          </a:prstGeom>
          <a:solidFill>
            <a:srgbClr val="FDFCF8"/>
          </a:solidFill>
          <a:ln w="12700">
            <a:solidFill>
              <a:srgbClr val="D4CEBC"/>
            </a:solidFill>
            <a:prstDash val="solid"/>
          </a:ln>
          <a:effectLst>
            <a:outerShdw blurRad="76200" dist="25400" dir="8100000" algn="bl" rotWithShape="0">
              <a:srgbClr val="1A2414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3364992"/>
            <a:ext cx="36576" cy="1508760"/>
          </a:xfrm>
          <a:prstGeom prst="rect">
            <a:avLst/>
          </a:prstGeom>
          <a:solidFill>
            <a:srgbClr val="5C7A4A"/>
          </a:solidFill>
          <a:ln w="12700">
            <a:solidFill>
              <a:srgbClr val="5C7A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28032" y="341985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C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with a key function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828032" y="3712464"/>
            <a:ext cx="3749040" cy="1078992"/>
          </a:xfrm>
          <a:prstGeom prst="rect">
            <a:avLst/>
          </a:prstGeom>
          <a:solidFill>
            <a:srgbClr val="E8E4D8"/>
          </a:solidFill>
          <a:ln w="12700">
            <a:solidFill>
              <a:srgbClr val="CAC5B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10912" y="3849624"/>
            <a:ext cx="3383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800" dirty="0">
                <a:solidFill>
                  <a:srgbClr val="1A2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words.sort(key=len)             # by length
words.sort(key=str.lower)       # case-insensitive
items.sort(key=lambda x: x['price'])  # by field
items.sort(key=lambda x: x['price'], reverse=True)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065008" y="4846320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89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19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DFC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2D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Structures Power Real Apps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005840"/>
            <a:ext cx="8138160" cy="0"/>
          </a:xfrm>
          <a:prstGeom prst="line">
            <a:avLst/>
          </a:prstGeom>
          <a:noFill/>
          <a:ln w="12700">
            <a:solidFill>
              <a:srgbClr val="D4CEB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84048" y="1115568"/>
            <a:ext cx="2834640" cy="3822192"/>
          </a:xfrm>
          <a:prstGeom prst="rect">
            <a:avLst/>
          </a:prstGeom>
          <a:solidFill>
            <a:srgbClr val="FDFCF8"/>
          </a:solidFill>
          <a:ln w="12700">
            <a:solidFill>
              <a:srgbClr val="D4CEBC"/>
            </a:solidFill>
            <a:prstDash val="solid"/>
          </a:ln>
          <a:effectLst>
            <a:outerShdw blurRad="76200" dist="25400" dir="8100000" algn="bl" rotWithShape="0">
              <a:srgbClr val="1A2414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4048" y="1115568"/>
            <a:ext cx="2834640" cy="36576"/>
          </a:xfrm>
          <a:prstGeom prst="rect">
            <a:avLst/>
          </a:prstGeom>
          <a:solidFill>
            <a:srgbClr val="2D5A3D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20700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D5A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]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344168" y="1243584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66928" y="1664208"/>
            <a:ext cx="2468880" cy="0"/>
          </a:xfrm>
          <a:prstGeom prst="line">
            <a:avLst/>
          </a:prstGeom>
          <a:noFill/>
          <a:ln w="12700">
            <a:solidFill>
              <a:srgbClr val="2D5A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85216" y="1892808"/>
            <a:ext cx="64008" cy="64008"/>
          </a:xfrm>
          <a:prstGeom prst="rect">
            <a:avLst/>
          </a:prstGeom>
          <a:solidFill>
            <a:srgbClr val="2D5A3D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1783080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7A7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/ Flask: DB query results → list of objects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85216" y="2350008"/>
            <a:ext cx="64008" cy="64008"/>
          </a:xfrm>
          <a:prstGeom prst="rect">
            <a:avLst/>
          </a:prstGeom>
          <a:solidFill>
            <a:srgbClr val="2D5A3D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2240280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7A7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Pandas: CSV columns parsed as lists (Series)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85216" y="2807208"/>
            <a:ext cx="64008" cy="64008"/>
          </a:xfrm>
          <a:prstGeom prst="rect">
            <a:avLst/>
          </a:prstGeom>
          <a:solidFill>
            <a:srgbClr val="2D5A3D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" y="2697480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7A7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training: X_train is a list of feature vectors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85216" y="3264408"/>
            <a:ext cx="64008" cy="64008"/>
          </a:xfrm>
          <a:prstGeom prst="rect">
            <a:avLst/>
          </a:prstGeom>
          <a:solidFill>
            <a:srgbClr val="2D5A3D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" y="3154680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7A7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JSON arrays parse into Python lists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85216" y="3721608"/>
            <a:ext cx="64008" cy="64008"/>
          </a:xfrm>
          <a:prstGeom prst="rect">
            <a:avLst/>
          </a:prstGeom>
          <a:solidFill>
            <a:srgbClr val="2D5A3D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" y="3611880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7A7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row in csv_reader: — each row is a list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346704" y="1115568"/>
            <a:ext cx="2834640" cy="3822192"/>
          </a:xfrm>
          <a:prstGeom prst="rect">
            <a:avLst/>
          </a:prstGeom>
          <a:solidFill>
            <a:srgbClr val="FDFCF8"/>
          </a:solidFill>
          <a:ln w="12700">
            <a:solidFill>
              <a:srgbClr val="D4CEBC"/>
            </a:solidFill>
            <a:prstDash val="solid"/>
          </a:ln>
          <a:effectLst>
            <a:outerShdw blurRad="76200" dist="25400" dir="8100000" algn="bl" rotWithShape="0">
              <a:srgbClr val="1A2414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346704" y="1115568"/>
            <a:ext cx="2834640" cy="36576"/>
          </a:xfrm>
          <a:prstGeom prst="rect">
            <a:avLst/>
          </a:prstGeom>
          <a:solidFill>
            <a:srgbClr val="6B4C2A"/>
          </a:solidFill>
          <a:ln w="12700">
            <a:solidFill>
              <a:srgbClr val="6B4C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29584" y="120700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B4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 )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4306824" y="1243584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B4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Tuples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529584" y="1664208"/>
            <a:ext cx="2468880" cy="0"/>
          </a:xfrm>
          <a:prstGeom prst="line">
            <a:avLst/>
          </a:prstGeom>
          <a:noFill/>
          <a:ln w="12700">
            <a:solidFill>
              <a:srgbClr val="6B4C2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547872" y="1892808"/>
            <a:ext cx="64008" cy="64008"/>
          </a:xfrm>
          <a:prstGeom prst="rect">
            <a:avLst/>
          </a:prstGeom>
          <a:solidFill>
            <a:srgbClr val="6B4C2A"/>
          </a:solidFill>
          <a:ln w="12700">
            <a:solidFill>
              <a:srgbClr val="6B4C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712464" y="1783080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7A7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rows: sqlite3 returns tuples per row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547872" y="2350008"/>
            <a:ext cx="64008" cy="64008"/>
          </a:xfrm>
          <a:prstGeom prst="rect">
            <a:avLst/>
          </a:prstGeom>
          <a:solidFill>
            <a:srgbClr val="6B4C2A"/>
          </a:solidFill>
          <a:ln w="12700">
            <a:solidFill>
              <a:srgbClr val="6B4C2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712464" y="2240280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7A7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URL patterns: (path, view) pairs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547872" y="2807208"/>
            <a:ext cx="64008" cy="64008"/>
          </a:xfrm>
          <a:prstGeom prst="rect">
            <a:avLst/>
          </a:prstGeom>
          <a:solidFill>
            <a:srgbClr val="6B4C2A"/>
          </a:solidFill>
          <a:ln w="12700">
            <a:solidFill>
              <a:srgbClr val="6B4C2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712464" y="2697480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7A7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returning multiple values: return min, max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547872" y="3264408"/>
            <a:ext cx="64008" cy="64008"/>
          </a:xfrm>
          <a:prstGeom prst="rect">
            <a:avLst/>
          </a:prstGeom>
          <a:solidFill>
            <a:srgbClr val="6B4C2A"/>
          </a:solidFill>
          <a:ln w="12700">
            <a:solidFill>
              <a:srgbClr val="6B4C2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712464" y="3154680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7A7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tuples in geometry, games: Point(x=3, y=4)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547872" y="3721608"/>
            <a:ext cx="64008" cy="64008"/>
          </a:xfrm>
          <a:prstGeom prst="rect">
            <a:avLst/>
          </a:prstGeom>
          <a:solidFill>
            <a:srgbClr val="6B4C2A"/>
          </a:solidFill>
          <a:ln w="12700">
            <a:solidFill>
              <a:srgbClr val="6B4C2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712464" y="3611880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7A7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GPS: (latitude, longitude) — should never change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309360" y="1115568"/>
            <a:ext cx="2834640" cy="3822192"/>
          </a:xfrm>
          <a:prstGeom prst="rect">
            <a:avLst/>
          </a:prstGeom>
          <a:solidFill>
            <a:srgbClr val="FDFCF8"/>
          </a:solidFill>
          <a:ln w="12700">
            <a:solidFill>
              <a:srgbClr val="D4CEBC"/>
            </a:solidFill>
            <a:prstDash val="solid"/>
          </a:ln>
          <a:effectLst>
            <a:outerShdw blurRad="76200" dist="25400" dir="8100000" algn="bl" rotWithShape="0">
              <a:srgbClr val="1A2414">
                <a:alpha val="7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309360" y="1115568"/>
            <a:ext cx="2834640" cy="36576"/>
          </a:xfrm>
          <a:prstGeom prst="rect">
            <a:avLst/>
          </a:prstGeom>
          <a:solidFill>
            <a:srgbClr val="3D6B35"/>
          </a:solidFill>
          <a:ln w="12700">
            <a:solidFill>
              <a:srgbClr val="3D6B3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92240" y="120700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D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}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7269480" y="1243584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D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492240" y="1664208"/>
            <a:ext cx="2468880" cy="0"/>
          </a:xfrm>
          <a:prstGeom prst="line">
            <a:avLst/>
          </a:prstGeom>
          <a:noFill/>
          <a:ln w="12700">
            <a:solidFill>
              <a:srgbClr val="3D6B3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510528" y="1892808"/>
            <a:ext cx="64008" cy="64008"/>
          </a:xfrm>
          <a:prstGeom prst="rect">
            <a:avLst/>
          </a:prstGeom>
          <a:solidFill>
            <a:srgbClr val="3D6B35"/>
          </a:solidFill>
          <a:ln w="12700">
            <a:solidFill>
              <a:srgbClr val="3D6B3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675120" y="1783080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7A7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permissions: roles stored as a set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510528" y="2350008"/>
            <a:ext cx="64008" cy="64008"/>
          </a:xfrm>
          <a:prstGeom prst="rect">
            <a:avLst/>
          </a:prstGeom>
          <a:solidFill>
            <a:srgbClr val="3D6B35"/>
          </a:solidFill>
          <a:ln w="12700">
            <a:solidFill>
              <a:srgbClr val="3D6B3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675120" y="2240280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7A7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systems: find posts with a specific tag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510528" y="2807208"/>
            <a:ext cx="64008" cy="64008"/>
          </a:xfrm>
          <a:prstGeom prst="rect">
            <a:avLst/>
          </a:prstGeom>
          <a:solidFill>
            <a:srgbClr val="3D6B35"/>
          </a:solidFill>
          <a:ln w="12700">
            <a:solidFill>
              <a:srgbClr val="3D6B3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675120" y="2697480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7A7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duplicate analytics events before aggregation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6510528" y="3264408"/>
            <a:ext cx="64008" cy="64008"/>
          </a:xfrm>
          <a:prstGeom prst="rect">
            <a:avLst/>
          </a:prstGeom>
          <a:solidFill>
            <a:srgbClr val="3D6B35"/>
          </a:solidFill>
          <a:ln w="12700">
            <a:solidFill>
              <a:srgbClr val="3D6B3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675120" y="3154680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7A7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traversal: visited = set() — O(1) tracking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6510528" y="3721608"/>
            <a:ext cx="64008" cy="64008"/>
          </a:xfrm>
          <a:prstGeom prst="rect">
            <a:avLst/>
          </a:prstGeom>
          <a:solidFill>
            <a:srgbClr val="3D6B35"/>
          </a:solidFill>
          <a:ln w="12700">
            <a:solidFill>
              <a:srgbClr val="3D6B3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675120" y="3611880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7A7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 filter: blocked_domains as a set for instant lookup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8065008" y="4846320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89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19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2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2D5A3D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28600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8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85800" y="8686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A7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Colab — first correct answer wins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85800" y="1152144"/>
            <a:ext cx="8046720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1298448"/>
            <a:ext cx="2697480" cy="1691640"/>
          </a:xfrm>
          <a:prstGeom prst="rect">
            <a:avLst/>
          </a:prstGeom>
          <a:solidFill>
            <a:srgbClr val="1C1C1C"/>
          </a:solidFill>
          <a:ln w="12700">
            <a:solidFill>
              <a:srgbClr val="4A7B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389888"/>
            <a:ext cx="2441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A7B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Q1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49808" y="1645920"/>
            <a:ext cx="2441448" cy="841248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682496"/>
            <a:ext cx="229514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950" dirty="0">
                <a:solidFill>
                  <a:srgbClr val="F8F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nums = [10, 20, 30, 40, 50]</a:t>
            </a:r>
            <a:endParaRPr lang="en-US" sz="95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950" dirty="0">
                <a:solidFill>
                  <a:srgbClr val="F8F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print(nums[1:-1])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49808" y="2560320"/>
            <a:ext cx="2441448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2651760"/>
            <a:ext cx="2441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7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[20, 30, 40]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456432" y="1298448"/>
            <a:ext cx="2697480" cy="1691640"/>
          </a:xfrm>
          <a:prstGeom prst="rect">
            <a:avLst/>
          </a:prstGeom>
          <a:solidFill>
            <a:srgbClr val="1C1C1C"/>
          </a:solidFill>
          <a:ln w="12700">
            <a:solidFill>
              <a:srgbClr val="6B4C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84448" y="1389888"/>
            <a:ext cx="2441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B4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Q2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584448" y="1645920"/>
            <a:ext cx="2441448" cy="841248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0" y="1682496"/>
            <a:ext cx="229514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950" dirty="0">
                <a:solidFill>
                  <a:srgbClr val="F8F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[1, 2, 3]</a:t>
            </a:r>
            <a:endParaRPr lang="en-US" sz="95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950" dirty="0">
                <a:solidFill>
                  <a:srgbClr val="F8F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= a</a:t>
            </a:r>
            <a:endParaRPr lang="en-US" sz="95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950" dirty="0">
                <a:solidFill>
                  <a:srgbClr val="F8F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b.append(4)</a:t>
            </a:r>
            <a:endParaRPr lang="en-US" sz="95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950" dirty="0">
                <a:solidFill>
                  <a:srgbClr val="F8F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584448" y="2560320"/>
            <a:ext cx="2441448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84448" y="2651760"/>
            <a:ext cx="2441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4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[1, 2, 3, 4]  ← copy trap!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291072" y="1298448"/>
            <a:ext cx="2697480" cy="1691640"/>
          </a:xfrm>
          <a:prstGeom prst="rect">
            <a:avLst/>
          </a:prstGeom>
          <a:solidFill>
            <a:srgbClr val="1C1C1C"/>
          </a:solidFill>
          <a:ln w="12700">
            <a:solidFill>
              <a:srgbClr val="3D6B3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19088" y="1389888"/>
            <a:ext cx="2441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D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Q3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419088" y="1645920"/>
            <a:ext cx="2441448" cy="841248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92240" y="1682496"/>
            <a:ext cx="229514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950" dirty="0">
                <a:solidFill>
                  <a:srgbClr val="F8F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tags = {"a","b","a","c","b"}</a:t>
            </a:r>
            <a:endParaRPr lang="en-US" sz="95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950" dirty="0">
                <a:solidFill>
                  <a:srgbClr val="F8F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print(len(tags))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419088" y="2560320"/>
            <a:ext cx="2441448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19088" y="2651760"/>
            <a:ext cx="2441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3  — sets remove duplicates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21792" y="3200400"/>
            <a:ext cx="4069080" cy="1691640"/>
          </a:xfrm>
          <a:prstGeom prst="rect">
            <a:avLst/>
          </a:prstGeom>
          <a:solidFill>
            <a:srgbClr val="1C1C1C"/>
          </a:solidFill>
          <a:ln w="12700">
            <a:solidFill>
              <a:srgbClr val="4A7B5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9808" y="3291840"/>
            <a:ext cx="3813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A7B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Q4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49808" y="3547872"/>
            <a:ext cx="3813048" cy="841248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" y="3584448"/>
            <a:ext cx="366674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950" dirty="0">
                <a:solidFill>
                  <a:srgbClr val="F8F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 = (42)</a:t>
            </a:r>
            <a:endParaRPr lang="en-US" sz="95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950" dirty="0">
                <a:solidFill>
                  <a:srgbClr val="F8F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print(type(t))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49808" y="4462272"/>
            <a:ext cx="3813048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9808" y="4553712"/>
            <a:ext cx="3813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7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&lt;class 'int'&gt;  — needs (42,)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937760" y="3200400"/>
            <a:ext cx="4069080" cy="1691640"/>
          </a:xfrm>
          <a:prstGeom prst="rect">
            <a:avLst/>
          </a:prstGeom>
          <a:solidFill>
            <a:srgbClr val="1C1C1C"/>
          </a:solidFill>
          <a:ln w="12700">
            <a:solidFill>
              <a:srgbClr val="5C7A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65776" y="3291840"/>
            <a:ext cx="3813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C7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Q5 ★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065776" y="3547872"/>
            <a:ext cx="3813048" cy="841248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38928" y="3584448"/>
            <a:ext cx="366674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950" dirty="0">
                <a:solidFill>
                  <a:srgbClr val="F8F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Which is faster?</a:t>
            </a:r>
            <a:endParaRPr lang="en-US" sz="95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950" dirty="0">
                <a:solidFill>
                  <a:srgbClr val="F8F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x in [1,2,3,4,5]:</a:t>
            </a:r>
            <a:endParaRPr lang="en-US" sz="95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950" dirty="0">
                <a:solidFill>
                  <a:srgbClr val="F8F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x in {1,2,3,4,5}: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065776" y="4462272"/>
            <a:ext cx="3813048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65776" y="4553712"/>
            <a:ext cx="3813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Set {} — O(1) vs list O(n)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8065008" y="4846320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89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19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D5A3D"/>
          </a:solidFill>
          <a:ln w="12700">
            <a:solidFill>
              <a:srgbClr val="2D5A3D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09728"/>
            <a:ext cx="420624" cy="4206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91440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8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Daily Challenges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411480" y="749808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A7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all three to GitHub before tomorrow's class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11480" y="1078992"/>
            <a:ext cx="8321040" cy="804672"/>
          </a:xfrm>
          <a:prstGeom prst="rect">
            <a:avLst/>
          </a:prstGeom>
          <a:solidFill>
            <a:srgbClr val="FDFCF8"/>
          </a:solidFill>
          <a:ln w="12700">
            <a:solidFill>
              <a:srgbClr val="D4CEBC"/>
            </a:solidFill>
            <a:prstDash val="solid"/>
          </a:ln>
          <a:effectLst>
            <a:outerShdw blurRad="76200" dist="25400" dir="8100000" algn="bl" rotWithShape="0">
              <a:srgbClr val="1A2414">
                <a:alpha val="7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11480" y="1078992"/>
            <a:ext cx="36576" cy="804672"/>
          </a:xfrm>
          <a:prstGeom prst="rect">
            <a:avLst/>
          </a:prstGeom>
          <a:solidFill>
            <a:srgbClr val="2D5A3D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66928" y="1280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5A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078992" y="114300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 Operations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263640" y="1152144"/>
            <a:ext cx="1207008" cy="219456"/>
          </a:xfrm>
          <a:prstGeom prst="roundRect">
            <a:avLst>
              <a:gd name="adj" fmla="val 25000"/>
            </a:avLst>
          </a:prstGeom>
          <a:solidFill>
            <a:srgbClr val="E8E4D8"/>
          </a:solidFill>
          <a:ln w="12700">
            <a:solidFill>
              <a:srgbClr val="CAC5B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327648" y="117043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72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day04_matrix.py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078992" y="1463040"/>
            <a:ext cx="7516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7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lists: build a 3×3 matrix. Write functions to print it as a formatted grid, calculate the transpose, and add two matrices element by element. No NumPy — do it manually. This bridges directly to Week 2.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11480" y="2011680"/>
            <a:ext cx="8321040" cy="804672"/>
          </a:xfrm>
          <a:prstGeom prst="rect">
            <a:avLst/>
          </a:prstGeom>
          <a:solidFill>
            <a:srgbClr val="FDFCF8"/>
          </a:solidFill>
          <a:ln w="12700">
            <a:solidFill>
              <a:srgbClr val="D4CEBC"/>
            </a:solidFill>
            <a:prstDash val="solid"/>
          </a:ln>
          <a:effectLst>
            <a:outerShdw blurRad="76200" dist="25400" dir="8100000" algn="bl" rotWithShape="0">
              <a:srgbClr val="1A2414">
                <a:alpha val="7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11480" y="2011680"/>
            <a:ext cx="36576" cy="804672"/>
          </a:xfrm>
          <a:prstGeom prst="rect">
            <a:avLst/>
          </a:prstGeom>
          <a:solidFill>
            <a:srgbClr val="3D6B35"/>
          </a:solidFill>
          <a:ln w="12700">
            <a:solidFill>
              <a:srgbClr val="3D6B3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66928" y="2212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D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078992" y="207568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List Manager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263640" y="2084832"/>
            <a:ext cx="1207008" cy="219456"/>
          </a:xfrm>
          <a:prstGeom prst="roundRect">
            <a:avLst>
              <a:gd name="adj" fmla="val 25000"/>
            </a:avLst>
          </a:prstGeom>
          <a:solidFill>
            <a:srgbClr val="E8E4D8"/>
          </a:solidFill>
          <a:ln w="12700">
            <a:solidFill>
              <a:srgbClr val="CAC5B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27648" y="210312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72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day04_guests.py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078992" y="2395728"/>
            <a:ext cx="7516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7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guest sets: VIP and Regular. Find guests on both lists, only one list, total unique guests. Implement add, remove, membership check. Use all four set operations: &amp; | - ^.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411480" y="2944368"/>
            <a:ext cx="8321040" cy="804672"/>
          </a:xfrm>
          <a:prstGeom prst="rect">
            <a:avLst/>
          </a:prstGeom>
          <a:solidFill>
            <a:srgbClr val="FDFCF8"/>
          </a:solidFill>
          <a:ln w="12700">
            <a:solidFill>
              <a:srgbClr val="D4CEBC"/>
            </a:solidFill>
            <a:prstDash val="solid"/>
          </a:ln>
          <a:effectLst>
            <a:outerShdw blurRad="76200" dist="25400" dir="8100000" algn="bl" rotWithShape="0">
              <a:srgbClr val="1A2414">
                <a:alpha val="7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11480" y="2944368"/>
            <a:ext cx="36576" cy="804672"/>
          </a:xfrm>
          <a:prstGeom prst="rect">
            <a:avLst/>
          </a:prstGeom>
          <a:solidFill>
            <a:srgbClr val="6B4C2A"/>
          </a:solidFill>
          <a:ln w="12700">
            <a:solidFill>
              <a:srgbClr val="6B4C2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66928" y="31455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B4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1078992" y="3008376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Frequency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6263640" y="3017520"/>
            <a:ext cx="1404518" cy="219456"/>
          </a:xfrm>
          <a:prstGeom prst="roundRect">
            <a:avLst>
              <a:gd name="adj" fmla="val 25000"/>
            </a:avLst>
          </a:prstGeom>
          <a:solidFill>
            <a:srgbClr val="E8E4D8"/>
          </a:solidFill>
          <a:ln w="12700">
            <a:solidFill>
              <a:srgbClr val="CAC5B5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327648" y="303580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72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day04_wordcount.py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078992" y="3328416"/>
            <a:ext cx="7516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7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 paragraph string. Split into words. Count each word's frequency using .count(). Remove duplicates using a set. Print the top 5 most frequent sorted by count. Previews tomorrow's dict content.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411480" y="3877056"/>
            <a:ext cx="8321040" cy="804672"/>
          </a:xfrm>
          <a:prstGeom prst="rect">
            <a:avLst/>
          </a:prstGeom>
          <a:solidFill>
            <a:srgbClr val="FDFCF8"/>
          </a:solidFill>
          <a:ln w="12700">
            <a:solidFill>
              <a:srgbClr val="D4CEBC"/>
            </a:solidFill>
            <a:prstDash val="solid"/>
          </a:ln>
          <a:effectLst>
            <a:outerShdw blurRad="76200" dist="25400" dir="8100000" algn="bl" rotWithShape="0">
              <a:srgbClr val="1A2414">
                <a:alpha val="7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411480" y="3877056"/>
            <a:ext cx="36576" cy="804672"/>
          </a:xfrm>
          <a:prstGeom prst="rect">
            <a:avLst/>
          </a:prstGeom>
          <a:solidFill>
            <a:srgbClr val="3A4A5C"/>
          </a:solidFill>
          <a:ln w="12700">
            <a:solidFill>
              <a:srgbClr val="3A4A5C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66928" y="4078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A4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★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1078992" y="394106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Bonus: Inventory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6263640" y="3950208"/>
            <a:ext cx="1141171" cy="219456"/>
          </a:xfrm>
          <a:prstGeom prst="roundRect">
            <a:avLst>
              <a:gd name="adj" fmla="val 25000"/>
            </a:avLst>
          </a:prstGeom>
          <a:solidFill>
            <a:srgbClr val="E8E4D8"/>
          </a:solidFill>
          <a:ln w="12700">
            <a:solidFill>
              <a:srgbClr val="CAC5B5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327648" y="3968496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72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day04_bonus.py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8275320" y="3950208"/>
            <a:ext cx="603504" cy="219456"/>
          </a:xfrm>
          <a:prstGeom prst="roundRect">
            <a:avLst>
              <a:gd name="adj" fmla="val 41667"/>
            </a:avLst>
          </a:prstGeom>
          <a:solidFill>
            <a:srgbClr val="E8EDF2"/>
          </a:solidFill>
          <a:ln w="12700">
            <a:solidFill>
              <a:srgbClr val="3A4A5C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8275320" y="3959352"/>
            <a:ext cx="603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1078992" y="4261104"/>
            <a:ext cx="7516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7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as tuples: (name, quantity, price). All items in a list. Functions: add, update_quantity, total_value, low_stock_alert (quantity &lt; 5), sort by price or quantity. Professional inventory system.</a:t>
            </a:r>
            <a:endParaRPr lang="en-US" sz="1050" dirty="0"/>
          </a:p>
        </p:txBody>
      </p:sp>
      <p:sp>
        <p:nvSpPr>
          <p:cNvPr id="36" name="Text 33"/>
          <p:cNvSpPr/>
          <p:nvPr/>
        </p:nvSpPr>
        <p:spPr>
          <a:xfrm>
            <a:off x="8065008" y="4846320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89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19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DFC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2D5A3D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256032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Recap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841248"/>
            <a:ext cx="8001000" cy="0"/>
          </a:xfrm>
          <a:prstGeom prst="line">
            <a:avLst/>
          </a:prstGeom>
          <a:noFill/>
          <a:ln w="12700">
            <a:solidFill>
              <a:srgbClr val="D4CEB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987552"/>
            <a:ext cx="4041648" cy="713232"/>
          </a:xfrm>
          <a:prstGeom prst="rect">
            <a:avLst/>
          </a:prstGeom>
          <a:solidFill>
            <a:srgbClr val="FDFCF8"/>
          </a:solidFill>
          <a:ln w="12700">
            <a:solidFill>
              <a:srgbClr val="D4CEBC"/>
            </a:solidFill>
            <a:prstDash val="solid"/>
          </a:ln>
          <a:effectLst>
            <a:outerShdw blurRad="76200" dist="25400" dir="8100000" algn="bl" rotWithShape="0">
              <a:srgbClr val="1A2414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987552"/>
            <a:ext cx="36576" cy="713232"/>
          </a:xfrm>
          <a:prstGeom prst="rect">
            <a:avLst/>
          </a:prstGeom>
          <a:solidFill>
            <a:srgbClr val="2D5A3D"/>
          </a:solidFill>
          <a:ln w="12700">
            <a:solidFill>
              <a:srgbClr val="2D5A3D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1188720"/>
            <a:ext cx="237744" cy="2377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06424" y="1078992"/>
            <a:ext cx="3401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[ ]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106424" y="1371600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7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Ordered, mutable, duplicates OK — the workhorse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873752" y="987552"/>
            <a:ext cx="4041648" cy="713232"/>
          </a:xfrm>
          <a:prstGeom prst="rect">
            <a:avLst/>
          </a:prstGeom>
          <a:solidFill>
            <a:srgbClr val="FDFCF8"/>
          </a:solidFill>
          <a:ln w="12700">
            <a:solidFill>
              <a:srgbClr val="D4CEBC"/>
            </a:solidFill>
            <a:prstDash val="solid"/>
          </a:ln>
          <a:effectLst>
            <a:outerShdw blurRad="76200" dist="25400" dir="8100000" algn="bl" rotWithShape="0">
              <a:srgbClr val="1A2414">
                <a:alpha val="7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873752" y="987552"/>
            <a:ext cx="36576" cy="713232"/>
          </a:xfrm>
          <a:prstGeom prst="rect">
            <a:avLst/>
          </a:prstGeom>
          <a:solidFill>
            <a:srgbClr val="2D5A3D"/>
          </a:solidFill>
          <a:ln w="12700">
            <a:solidFill>
              <a:srgbClr val="2D5A3D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8344" y="1188720"/>
            <a:ext cx="237744" cy="2377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85816" y="1078992"/>
            <a:ext cx="3401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Indexing &amp; slicing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5385816" y="1371600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7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0-based · negative · [start:stop:step] · [::-1] for reverse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594360" y="1856232"/>
            <a:ext cx="4041648" cy="713232"/>
          </a:xfrm>
          <a:prstGeom prst="rect">
            <a:avLst/>
          </a:prstGeom>
          <a:solidFill>
            <a:srgbClr val="FDFCF8"/>
          </a:solidFill>
          <a:ln w="12700">
            <a:solidFill>
              <a:srgbClr val="D4CEBC"/>
            </a:solidFill>
            <a:prstDash val="solid"/>
          </a:ln>
          <a:effectLst>
            <a:outerShdw blurRad="76200" dist="25400" dir="8100000" algn="bl" rotWithShape="0">
              <a:srgbClr val="1A2414">
                <a:alpha val="7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94360" y="1856232"/>
            <a:ext cx="36576" cy="713232"/>
          </a:xfrm>
          <a:prstGeom prst="rect">
            <a:avLst/>
          </a:prstGeom>
          <a:solidFill>
            <a:srgbClr val="6B4C2A"/>
          </a:solidFill>
          <a:ln w="12700">
            <a:solidFill>
              <a:srgbClr val="6B4C2A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2057400"/>
            <a:ext cx="237744" cy="23774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106424" y="1947672"/>
            <a:ext cx="3401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copy trap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1106424" y="2240280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7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= a is NOT a copy — use .copy() or [:]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4873752" y="1856232"/>
            <a:ext cx="4041648" cy="713232"/>
          </a:xfrm>
          <a:prstGeom prst="rect">
            <a:avLst/>
          </a:prstGeom>
          <a:solidFill>
            <a:srgbClr val="FDFCF8"/>
          </a:solidFill>
          <a:ln w="12700">
            <a:solidFill>
              <a:srgbClr val="D4CEBC"/>
            </a:solidFill>
            <a:prstDash val="solid"/>
          </a:ln>
          <a:effectLst>
            <a:outerShdw blurRad="76200" dist="25400" dir="8100000" algn="bl" rotWithShape="0">
              <a:srgbClr val="1A2414">
                <a:alpha val="7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873752" y="1856232"/>
            <a:ext cx="36576" cy="713232"/>
          </a:xfrm>
          <a:prstGeom prst="rect">
            <a:avLst/>
          </a:prstGeom>
          <a:solidFill>
            <a:srgbClr val="3D6B35"/>
          </a:solidFill>
          <a:ln w="12700">
            <a:solidFill>
              <a:srgbClr val="3D6B35"/>
            </a:solidFill>
            <a:prstDash val="solid"/>
          </a:ln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8344" y="2057400"/>
            <a:ext cx="237744" cy="23774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385816" y="1947672"/>
            <a:ext cx="3401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comprehensions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5385816" y="2240280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7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 for n in nums if n%2==0] — filter + transform in one line</a:t>
            </a:r>
            <a:endParaRPr lang="en-US" sz="950" dirty="0"/>
          </a:p>
        </p:txBody>
      </p:sp>
      <p:sp>
        <p:nvSpPr>
          <p:cNvPr id="25" name="Shape 19"/>
          <p:cNvSpPr/>
          <p:nvPr/>
        </p:nvSpPr>
        <p:spPr>
          <a:xfrm>
            <a:off x="594360" y="2724912"/>
            <a:ext cx="4041648" cy="713232"/>
          </a:xfrm>
          <a:prstGeom prst="rect">
            <a:avLst/>
          </a:prstGeom>
          <a:solidFill>
            <a:srgbClr val="FDFCF8"/>
          </a:solidFill>
          <a:ln w="12700">
            <a:solidFill>
              <a:srgbClr val="D4CEBC"/>
            </a:solidFill>
            <a:prstDash val="solid"/>
          </a:ln>
          <a:effectLst>
            <a:outerShdw blurRad="76200" dist="25400" dir="8100000" algn="bl" rotWithShape="0">
              <a:srgbClr val="1A2414">
                <a:alpha val="7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594360" y="2724912"/>
            <a:ext cx="36576" cy="713232"/>
          </a:xfrm>
          <a:prstGeom prst="rect">
            <a:avLst/>
          </a:prstGeom>
          <a:solidFill>
            <a:srgbClr val="6B4C2A"/>
          </a:solidFill>
          <a:ln w="12700">
            <a:solidFill>
              <a:srgbClr val="6B4C2A"/>
            </a:solidFill>
            <a:prstDash val="solid"/>
          </a:ln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2926080"/>
            <a:ext cx="237744" cy="237744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106424" y="2816352"/>
            <a:ext cx="3401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Tuples ( )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1106424" y="3108960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7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— signals fixed data. Always (42,) not (42).</a:t>
            </a:r>
            <a:endParaRPr lang="en-US" sz="950" dirty="0"/>
          </a:p>
        </p:txBody>
      </p:sp>
      <p:sp>
        <p:nvSpPr>
          <p:cNvPr id="30" name="Shape 23"/>
          <p:cNvSpPr/>
          <p:nvPr/>
        </p:nvSpPr>
        <p:spPr>
          <a:xfrm>
            <a:off x="4873752" y="2724912"/>
            <a:ext cx="4041648" cy="713232"/>
          </a:xfrm>
          <a:prstGeom prst="rect">
            <a:avLst/>
          </a:prstGeom>
          <a:solidFill>
            <a:srgbClr val="FDFCF8"/>
          </a:solidFill>
          <a:ln w="12700">
            <a:solidFill>
              <a:srgbClr val="D4CEBC"/>
            </a:solidFill>
            <a:prstDash val="solid"/>
          </a:ln>
          <a:effectLst>
            <a:outerShdw blurRad="76200" dist="25400" dir="8100000" algn="bl" rotWithShape="0">
              <a:srgbClr val="1A2414">
                <a:alpha val="7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4873752" y="2724912"/>
            <a:ext cx="36576" cy="713232"/>
          </a:xfrm>
          <a:prstGeom prst="rect">
            <a:avLst/>
          </a:prstGeom>
          <a:solidFill>
            <a:srgbClr val="6B4C2A"/>
          </a:solidFill>
          <a:ln w="12700">
            <a:solidFill>
              <a:srgbClr val="6B4C2A"/>
            </a:solidFill>
            <a:prstDash val="solid"/>
          </a:ln>
        </p:spPr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8344" y="2926080"/>
            <a:ext cx="237744" cy="237744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5385816" y="2816352"/>
            <a:ext cx="3401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Tuple unpacking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5385816" y="3108960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7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x, y = point — the Day 2 swap trick is secretly this</a:t>
            </a:r>
            <a:endParaRPr lang="en-US" sz="950" dirty="0"/>
          </a:p>
        </p:txBody>
      </p:sp>
      <p:sp>
        <p:nvSpPr>
          <p:cNvPr id="35" name="Shape 27"/>
          <p:cNvSpPr/>
          <p:nvPr/>
        </p:nvSpPr>
        <p:spPr>
          <a:xfrm>
            <a:off x="594360" y="3593592"/>
            <a:ext cx="4041648" cy="713232"/>
          </a:xfrm>
          <a:prstGeom prst="rect">
            <a:avLst/>
          </a:prstGeom>
          <a:solidFill>
            <a:srgbClr val="FDFCF8"/>
          </a:solidFill>
          <a:ln w="12700">
            <a:solidFill>
              <a:srgbClr val="D4CEBC"/>
            </a:solidFill>
            <a:prstDash val="solid"/>
          </a:ln>
          <a:effectLst>
            <a:outerShdw blurRad="76200" dist="25400" dir="8100000" algn="bl" rotWithShape="0">
              <a:srgbClr val="1A2414">
                <a:alpha val="7000"/>
              </a:srgbClr>
            </a:outerShdw>
          </a:effectLst>
        </p:spPr>
      </p:sp>
      <p:sp>
        <p:nvSpPr>
          <p:cNvPr id="36" name="Shape 28"/>
          <p:cNvSpPr/>
          <p:nvPr/>
        </p:nvSpPr>
        <p:spPr>
          <a:xfrm>
            <a:off x="594360" y="3593592"/>
            <a:ext cx="36576" cy="713232"/>
          </a:xfrm>
          <a:prstGeom prst="rect">
            <a:avLst/>
          </a:prstGeom>
          <a:solidFill>
            <a:srgbClr val="3D6B35"/>
          </a:solidFill>
          <a:ln w="12700">
            <a:solidFill>
              <a:srgbClr val="3D6B35"/>
            </a:solidFill>
            <a:prstDash val="solid"/>
          </a:ln>
        </p:spPr>
      </p:sp>
      <p:pic>
        <p:nvPicPr>
          <p:cNvPr id="37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3794760"/>
            <a:ext cx="237744" cy="237744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1106424" y="3685032"/>
            <a:ext cx="3401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{ }</a:t>
            </a:r>
            <a:endParaRPr lang="en-US" sz="1200" dirty="0"/>
          </a:p>
        </p:txBody>
      </p:sp>
      <p:sp>
        <p:nvSpPr>
          <p:cNvPr id="39" name="Text 30"/>
          <p:cNvSpPr/>
          <p:nvPr/>
        </p:nvSpPr>
        <p:spPr>
          <a:xfrm>
            <a:off x="1106424" y="3977640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7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items, unordered, O(1) lookup. set() for empty.</a:t>
            </a:r>
            <a:endParaRPr lang="en-US" sz="950" dirty="0"/>
          </a:p>
        </p:txBody>
      </p:sp>
      <p:sp>
        <p:nvSpPr>
          <p:cNvPr id="40" name="Shape 31"/>
          <p:cNvSpPr/>
          <p:nvPr/>
        </p:nvSpPr>
        <p:spPr>
          <a:xfrm>
            <a:off x="4873752" y="3593592"/>
            <a:ext cx="4041648" cy="713232"/>
          </a:xfrm>
          <a:prstGeom prst="rect">
            <a:avLst/>
          </a:prstGeom>
          <a:solidFill>
            <a:srgbClr val="FDFCF8"/>
          </a:solidFill>
          <a:ln w="12700">
            <a:solidFill>
              <a:srgbClr val="D4CEBC"/>
            </a:solidFill>
            <a:prstDash val="solid"/>
          </a:ln>
          <a:effectLst>
            <a:outerShdw blurRad="76200" dist="25400" dir="8100000" algn="bl" rotWithShape="0">
              <a:srgbClr val="1A2414">
                <a:alpha val="7000"/>
              </a:srgbClr>
            </a:outerShdw>
          </a:effectLst>
        </p:spPr>
      </p:sp>
      <p:sp>
        <p:nvSpPr>
          <p:cNvPr id="41" name="Shape 32"/>
          <p:cNvSpPr/>
          <p:nvPr/>
        </p:nvSpPr>
        <p:spPr>
          <a:xfrm>
            <a:off x="4873752" y="3593592"/>
            <a:ext cx="36576" cy="713232"/>
          </a:xfrm>
          <a:prstGeom prst="rect">
            <a:avLst/>
          </a:prstGeom>
          <a:solidFill>
            <a:srgbClr val="3D6B35"/>
          </a:solidFill>
          <a:ln w="12700">
            <a:solidFill>
              <a:srgbClr val="3D6B35"/>
            </a:solidFill>
            <a:prstDash val="solid"/>
          </a:ln>
        </p:spPr>
      </p:sp>
      <p:pic>
        <p:nvPicPr>
          <p:cNvPr id="42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8344" y="3794760"/>
            <a:ext cx="237744" cy="237744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5385816" y="3685032"/>
            <a:ext cx="3401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operations</a:t>
            </a:r>
            <a:endParaRPr lang="en-US" sz="1200" dirty="0"/>
          </a:p>
        </p:txBody>
      </p:sp>
      <p:sp>
        <p:nvSpPr>
          <p:cNvPr id="44" name="Text 34"/>
          <p:cNvSpPr/>
          <p:nvPr/>
        </p:nvSpPr>
        <p:spPr>
          <a:xfrm>
            <a:off x="5385816" y="3977640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7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intersection · | union · - difference · ^ symmetric</a:t>
            </a:r>
            <a:endParaRPr lang="en-US" sz="950" dirty="0"/>
          </a:p>
        </p:txBody>
      </p:sp>
      <p:sp>
        <p:nvSpPr>
          <p:cNvPr id="45" name="Shape 35"/>
          <p:cNvSpPr/>
          <p:nvPr/>
        </p:nvSpPr>
        <p:spPr>
          <a:xfrm>
            <a:off x="594360" y="4498848"/>
            <a:ext cx="8138160" cy="502920"/>
          </a:xfrm>
          <a:prstGeom prst="rect">
            <a:avLst/>
          </a:prstGeom>
          <a:solidFill>
            <a:srgbClr val="EBF2EC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46" name="Text 36"/>
          <p:cNvSpPr/>
          <p:nvPr/>
        </p:nvSpPr>
        <p:spPr>
          <a:xfrm>
            <a:off x="777240" y="454456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D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 — Day 5:</a:t>
            </a:r>
            <a:endParaRPr lang="en-US" sz="1150" dirty="0"/>
          </a:p>
        </p:txBody>
      </p:sp>
      <p:sp>
        <p:nvSpPr>
          <p:cNvPr id="47" name="Text 37"/>
          <p:cNvSpPr/>
          <p:nvPr/>
        </p:nvSpPr>
        <p:spPr>
          <a:xfrm>
            <a:off x="2670048" y="4544568"/>
            <a:ext cx="58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7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Dictionaries &amp; Functions — the {'name': 'value'} pairs in your shopping cart get their own full lesson</a:t>
            </a:r>
            <a:endParaRPr lang="en-US" sz="1100" dirty="0"/>
          </a:p>
        </p:txBody>
      </p:sp>
      <p:sp>
        <p:nvSpPr>
          <p:cNvPr id="48" name="Text 38"/>
          <p:cNvSpPr/>
          <p:nvPr/>
        </p:nvSpPr>
        <p:spPr>
          <a:xfrm>
            <a:off x="777240" y="4782312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Day 4 challenges before class</a:t>
            </a:r>
            <a:endParaRPr lang="en-US" sz="950" dirty="0"/>
          </a:p>
        </p:txBody>
      </p:sp>
      <p:sp>
        <p:nvSpPr>
          <p:cNvPr id="49" name="Text 39"/>
          <p:cNvSpPr/>
          <p:nvPr/>
        </p:nvSpPr>
        <p:spPr>
          <a:xfrm>
            <a:off x="8065008" y="4846320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89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19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2D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THIS OPEN DURING CLASS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Quick Reference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005840"/>
            <a:ext cx="8138160" cy="0"/>
          </a:xfrm>
          <a:prstGeom prst="line">
            <a:avLst/>
          </a:prstGeom>
          <a:noFill/>
          <a:ln w="12700">
            <a:solidFill>
              <a:srgbClr val="D4CEB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115568"/>
            <a:ext cx="2743200" cy="329184"/>
          </a:xfrm>
          <a:prstGeom prst="rect">
            <a:avLst/>
          </a:prstGeom>
          <a:solidFill>
            <a:srgbClr val="2D5A3D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11556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8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essentials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11480" y="1481328"/>
            <a:ext cx="2697480" cy="3566160"/>
          </a:xfrm>
          <a:prstGeom prst="rect">
            <a:avLst/>
          </a:prstGeom>
          <a:solidFill>
            <a:srgbClr val="E8E4D8"/>
          </a:solidFill>
          <a:ln w="12700">
            <a:solidFill>
              <a:srgbClr val="CAC5B5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94360" y="1554479"/>
            <a:ext cx="23774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1A2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lst = [1, 2, 3]</a:t>
            </a:r>
            <a:endParaRPr lang="en-US" sz="10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1A2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lst[0]  lst[-1]</a:t>
            </a:r>
            <a:endParaRPr lang="en-US" sz="10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1A2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lst[1:3]  lst[::-1]</a:t>
            </a:r>
            <a:endParaRPr lang="en-US" sz="10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1A2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lst.append(x)</a:t>
            </a:r>
            <a:endParaRPr lang="en-US" sz="10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1A2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lst.pop()  lst.pop(i)</a:t>
            </a:r>
            <a:endParaRPr lang="en-US" sz="10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1A2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lst.remove(x)</a:t>
            </a:r>
            <a:endParaRPr lang="en-US" sz="10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1A2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lst.sort()  sorted(lst)</a:t>
            </a:r>
            <a:endParaRPr lang="en-US" sz="10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1A2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in lst  len(lst)</a:t>
            </a:r>
            <a:endParaRPr lang="en-US" sz="10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1A2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lst.copy()</a:t>
            </a:r>
            <a:endParaRPr lang="en-US" sz="10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1A2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[x for x in lst if x&gt;0]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91840" y="1115568"/>
            <a:ext cx="2743200" cy="329184"/>
          </a:xfrm>
          <a:prstGeom prst="rect">
            <a:avLst/>
          </a:prstGeom>
          <a:solidFill>
            <a:srgbClr val="6B4C2A"/>
          </a:solidFill>
          <a:ln w="12700">
            <a:solidFill>
              <a:srgbClr val="6B4C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111556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8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Tuple essentials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91840" y="1481328"/>
            <a:ext cx="2743200" cy="3200400"/>
          </a:xfrm>
          <a:prstGeom prst="rect">
            <a:avLst/>
          </a:prstGeom>
          <a:solidFill>
            <a:srgbClr val="E8E4D8"/>
          </a:solidFill>
          <a:ln w="12700">
            <a:solidFill>
              <a:srgbClr val="CAC5B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0" y="1618488"/>
            <a:ext cx="23774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1A2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 = (1, 2, 3)</a:t>
            </a:r>
            <a:endParaRPr lang="en-US" sz="10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1A2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 = (42,)  ← comma!</a:t>
            </a:r>
            <a:endParaRPr lang="en-US" sz="10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1A2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t[0]  t[-1]  t[1:3]</a:t>
            </a:r>
            <a:endParaRPr lang="en-US" sz="10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1A2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a, b, c = t</a:t>
            </a:r>
            <a:endParaRPr lang="en-US" sz="10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1A2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immutable — no changes</a:t>
            </a:r>
            <a:endParaRPr lang="en-US" sz="10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1A2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hashable — dict keys OK</a:t>
            </a:r>
            <a:endParaRPr lang="en-US" sz="10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1A2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list(t)  → convert to list</a:t>
            </a:r>
            <a:endParaRPr lang="en-US" sz="10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1A2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len(t)  x in 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26480" y="1115568"/>
            <a:ext cx="2743200" cy="329184"/>
          </a:xfrm>
          <a:prstGeom prst="rect">
            <a:avLst/>
          </a:prstGeom>
          <a:solidFill>
            <a:srgbClr val="3D6B35"/>
          </a:solidFill>
          <a:ln w="12700">
            <a:solidFill>
              <a:srgbClr val="3D6B3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0" y="111556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8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essentials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126480" y="1481328"/>
            <a:ext cx="2743200" cy="3566160"/>
          </a:xfrm>
          <a:prstGeom prst="rect">
            <a:avLst/>
          </a:prstGeom>
          <a:solidFill>
            <a:srgbClr val="E8E4D8"/>
          </a:solidFill>
          <a:ln w="12700">
            <a:solidFill>
              <a:srgbClr val="CAC5B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1618488"/>
            <a:ext cx="23774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1A2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= {1, 2, 3}</a:t>
            </a:r>
            <a:endParaRPr lang="en-US" sz="10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1A2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= set()  ← empty set!</a:t>
            </a:r>
            <a:endParaRPr lang="en-US" sz="10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1A2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s.add(x)  s.discard(x)</a:t>
            </a:r>
            <a:endParaRPr lang="en-US" sz="10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1A2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in s   len(s)</a:t>
            </a:r>
            <a:endParaRPr lang="en-US" sz="10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1A2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list(set(lst))  ← dedupe</a:t>
            </a:r>
            <a:endParaRPr lang="en-US" sz="10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1A2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&amp; b  intersection</a:t>
            </a:r>
            <a:endParaRPr lang="en-US" sz="10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1A2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| b  union</a:t>
            </a:r>
            <a:endParaRPr lang="en-US" sz="10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1A2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- b  difference</a:t>
            </a:r>
            <a:endParaRPr lang="en-US" sz="10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1A2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^ b  symmetric diff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065008" y="4846320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89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19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4190</Words>
  <Application>Microsoft Office PowerPoint</Application>
  <PresentationFormat>On-screen Show (16:9)</PresentationFormat>
  <Paragraphs>435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4 — Data Structures: Lists, Tuples &amp; Sets</dc:title>
  <dc:subject>PptxGenJS Presentation</dc:subject>
  <dc:creator>PptxGenJS</dc:creator>
  <cp:lastModifiedBy>Gagan Pradhan</cp:lastModifiedBy>
  <cp:revision>3</cp:revision>
  <dcterms:created xsi:type="dcterms:W3CDTF">2026-05-22T04:37:34Z</dcterms:created>
  <dcterms:modified xsi:type="dcterms:W3CDTF">2026-06-04T11:00:50Z</dcterms:modified>
</cp:coreProperties>
</file>