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Shape 180"/>
          <p:cNvSpPr/>
          <p:nvPr/>
        </p:nvSpPr>
        <p:spPr>
          <a:xfrm flipV="1">
            <a:off x="7013448" y="704088"/>
            <a:ext cx="699516" cy="310896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013448" y="1014984"/>
            <a:ext cx="699516" cy="466344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13448" y="1014984"/>
            <a:ext cx="699516" cy="1243584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7013448" y="704088"/>
            <a:ext cx="699516" cy="1243584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7013448" y="1481328"/>
            <a:ext cx="699516" cy="466344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13448" y="1947672"/>
            <a:ext cx="699516" cy="310896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712964" y="704088"/>
            <a:ext cx="699516" cy="77724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712964" y="1481328"/>
            <a:ext cx="699516" cy="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7712964" y="1481328"/>
            <a:ext cx="699516" cy="77724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49440" y="950976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949440" y="1883664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648956" y="64008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648956" y="141732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5" name="Shape 193"/>
          <p:cNvSpPr/>
          <p:nvPr/>
        </p:nvSpPr>
        <p:spPr>
          <a:xfrm>
            <a:off x="7648956" y="219456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348472" y="141732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7" name="Text 195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·  WEEK 3 BEGINS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Foundations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Neural Networks</a:t>
            </a:r>
            <a:endParaRPr lang="en-US" sz="3800" dirty="0"/>
          </a:p>
        </p:txBody>
      </p:sp>
      <p:sp>
        <p:nvSpPr>
          <p:cNvPr id="199" name="Text 197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 · activations · forward pass · backpropagation — built by hand in NumPy, rebuilt in Keras</a:t>
            </a:r>
            <a:endParaRPr lang="en-US" sz="1500" dirty="0"/>
          </a:p>
        </p:txBody>
      </p:sp>
      <p:sp>
        <p:nvSpPr>
          <p:cNvPr id="200" name="Text 198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New primary tool: TensorFlow / Keras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Deep Learning &amp; Computer Vision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· deliverable: YOLO Smart Surveillance System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457200" y="137160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D15</a:t>
            </a:r>
            <a:endParaRPr lang="en-US" sz="1700" dirty="0"/>
          </a:p>
        </p:txBody>
      </p:sp>
      <p:sp>
        <p:nvSpPr>
          <p:cNvPr id="187" name="Text 185"/>
          <p:cNvSpPr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2578608" y="137160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2715768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D16</a:t>
            </a:r>
            <a:endParaRPr lang="en-US" sz="1700" dirty="0"/>
          </a:p>
        </p:txBody>
      </p:sp>
      <p:sp>
        <p:nvSpPr>
          <p:cNvPr id="190" name="Text 188"/>
          <p:cNvSpPr/>
          <p:nvPr/>
        </p:nvSpPr>
        <p:spPr>
          <a:xfrm>
            <a:off x="2715768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191" name="Shape 189"/>
          <p:cNvSpPr/>
          <p:nvPr/>
        </p:nvSpPr>
        <p:spPr>
          <a:xfrm>
            <a:off x="4700016" y="137160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4837176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D17</a:t>
            </a:r>
            <a:endParaRPr lang="en-US" sz="1700" dirty="0"/>
          </a:p>
        </p:txBody>
      </p:sp>
      <p:sp>
        <p:nvSpPr>
          <p:cNvPr id="193" name="Text 191"/>
          <p:cNvSpPr/>
          <p:nvPr/>
        </p:nvSpPr>
        <p:spPr>
          <a:xfrm>
            <a:off x="4837176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250" dirty="0"/>
          </a:p>
        </p:txBody>
      </p:sp>
      <p:sp>
        <p:nvSpPr>
          <p:cNvPr id="194" name="Shape 192"/>
          <p:cNvSpPr/>
          <p:nvPr/>
        </p:nvSpPr>
        <p:spPr>
          <a:xfrm>
            <a:off x="6821424" y="137160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6958584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D18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6958584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197" name="Shape 195"/>
          <p:cNvSpPr/>
          <p:nvPr/>
        </p:nvSpPr>
        <p:spPr>
          <a:xfrm>
            <a:off x="457200" y="29260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594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D19</a:t>
            </a:r>
            <a:endParaRPr lang="en-US" sz="1700" dirty="0"/>
          </a:p>
        </p:txBody>
      </p:sp>
      <p:sp>
        <p:nvSpPr>
          <p:cNvPr id="199" name="Text 197"/>
          <p:cNvSpPr/>
          <p:nvPr/>
        </p:nvSpPr>
        <p:spPr>
          <a:xfrm>
            <a:off x="5943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50" dirty="0"/>
          </a:p>
        </p:txBody>
      </p:sp>
      <p:sp>
        <p:nvSpPr>
          <p:cNvPr id="200" name="Shape 198"/>
          <p:cNvSpPr/>
          <p:nvPr/>
        </p:nvSpPr>
        <p:spPr>
          <a:xfrm>
            <a:off x="2578608" y="29260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2715768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</a:t>
            </a:r>
            <a:endParaRPr lang="en-US" sz="1700" dirty="0"/>
          </a:p>
        </p:txBody>
      </p:sp>
      <p:sp>
        <p:nvSpPr>
          <p:cNvPr id="202" name="Text 200"/>
          <p:cNvSpPr/>
          <p:nvPr/>
        </p:nvSpPr>
        <p:spPr>
          <a:xfrm>
            <a:off x="2715768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50" dirty="0"/>
          </a:p>
        </p:txBody>
      </p:sp>
      <p:sp>
        <p:nvSpPr>
          <p:cNvPr id="203" name="Shape 201"/>
          <p:cNvSpPr/>
          <p:nvPr/>
        </p:nvSpPr>
        <p:spPr>
          <a:xfrm>
            <a:off x="4700016" y="29260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4837176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1700" dirty="0"/>
          </a:p>
        </p:txBody>
      </p:sp>
      <p:sp>
        <p:nvSpPr>
          <p:cNvPr id="205" name="Text 203"/>
          <p:cNvSpPr/>
          <p:nvPr/>
        </p:nvSpPr>
        <p:spPr>
          <a:xfrm>
            <a:off x="4837176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deployment</a:t>
            </a:r>
            <a:endParaRPr lang="en-US" sz="1250" dirty="0"/>
          </a:p>
        </p:txBody>
      </p:sp>
      <p:sp>
        <p:nvSpPr>
          <p:cNvPr id="206" name="Shape 204"/>
          <p:cNvSpPr/>
          <p:nvPr/>
        </p:nvSpPr>
        <p:spPr>
          <a:xfrm>
            <a:off x="6821424" y="29260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6958584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</a:t>
            </a:r>
            <a:endParaRPr lang="en-US" sz="1700" dirty="0"/>
          </a:p>
        </p:txBody>
      </p:sp>
      <p:sp>
        <p:nvSpPr>
          <p:cNvPr id="208" name="Text 206"/>
          <p:cNvSpPr/>
          <p:nvPr/>
        </p:nvSpPr>
        <p:spPr>
          <a:xfrm>
            <a:off x="6958584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capstone</a:t>
            </a:r>
            <a:endParaRPr lang="en-US" sz="1250" dirty="0"/>
          </a:p>
        </p:txBody>
      </p:sp>
      <p:sp>
        <p:nvSpPr>
          <p:cNvPr id="209" name="Text 207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conceptual foundation for all of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conceptual day of the course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1:00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 · activations · forward pass · loss · backprop · optimisers · Keras API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1:25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by hand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network in pure NumPy — every line understood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1:35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 Keras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lines become 6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Showdown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vs Linear Regression on 20,000 houses — an honest fight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Now?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from the 1980s — the world caught up to it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187" name="Text 185"/>
          <p:cNvSpPr/>
          <p:nvPr/>
        </p:nvSpPr>
        <p:spPr>
          <a:xfrm>
            <a:off x="685800" y="21031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produced labelled data at scale. ImageNet: 1.2M images. Your NEPSE files were thousands of rows.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3291840" y="137160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47472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190" name="Text 188"/>
          <p:cNvSpPr/>
          <p:nvPr/>
        </p:nvSpPr>
        <p:spPr>
          <a:xfrm>
            <a:off x="3474720" y="21031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cards happen to be matrix-multiplication machines — exactly what neural nets need.</a:t>
            </a:r>
            <a:endParaRPr lang="en-US" sz="1250" dirty="0"/>
          </a:p>
        </p:txBody>
      </p:sp>
      <p:sp>
        <p:nvSpPr>
          <p:cNvPr id="191" name="Shape 189"/>
          <p:cNvSpPr/>
          <p:nvPr/>
        </p:nvSpPr>
        <p:spPr>
          <a:xfrm>
            <a:off x="6080760" y="137160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26364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93" name="Text 191"/>
          <p:cNvSpPr/>
          <p:nvPr/>
        </p:nvSpPr>
        <p:spPr>
          <a:xfrm>
            <a:off x="6263640" y="21031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better weight initialisation, Adam — small fixes that unlocked deep stacks of layers.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already trained one — twice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activation( x₁·w₁ + x₂·w₂ + … + xₙ·wₙ + b )</a:t>
            </a:r>
            <a:endParaRPr lang="en-US" sz="20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9748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89" name="Text 187"/>
          <p:cNvSpPr/>
          <p:nvPr/>
        </p:nvSpPr>
        <p:spPr>
          <a:xfrm>
            <a:off x="73152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neuron with NO activation function. Day 10 was secretly today's warm-up.</a:t>
            </a:r>
            <a:endParaRPr lang="en-US" sz="12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69748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92" name="Text 190"/>
          <p:cNvSpPr/>
          <p:nvPr/>
        </p:nvSpPr>
        <p:spPr>
          <a:xfrm>
            <a:off x="493776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neuron with a SIGMOID activation. A neural network is just neurons stacked in layers.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Whiteboard: Compute One Neuron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[2, 3] · w = [0.5, −1] · b = 1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258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 =  2(0.5) + 3(−1) + 1  =  1 − 3 + 1  =  −1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ReLU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73152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−1) = 0</a:t>
            </a:r>
            <a:endParaRPr lang="en-US" sz="2000" dirty="0"/>
          </a:p>
        </p:txBody>
      </p:sp>
      <p:sp>
        <p:nvSpPr>
          <p:cNvPr id="190" name="Shape 188"/>
          <p:cNvSpPr/>
          <p:nvPr/>
        </p:nvSpPr>
        <p:spPr>
          <a:xfrm>
            <a:off x="4709160" y="260604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Sigmoid</a:t>
            </a:r>
            <a:endParaRPr lang="en-US" sz="1400" dirty="0"/>
          </a:p>
        </p:txBody>
      </p:sp>
      <p:sp>
        <p:nvSpPr>
          <p:cNvPr id="192" name="Text 190"/>
          <p:cNvSpPr/>
          <p:nvPr/>
        </p:nvSpPr>
        <p:spPr>
          <a:xfrm>
            <a:off x="493776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1/(1+e¹) ≈ 0.269</a:t>
            </a:r>
            <a:endParaRPr lang="en-US" sz="2000" dirty="0"/>
          </a:p>
        </p:txBody>
      </p:sp>
      <p:sp>
        <p:nvSpPr>
          <p:cNvPr id="193" name="Text 191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three students compute it out loud before revealing.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100 stacked layers collapse into Linear Regression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Formula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1/(1+e⁻ᶻ)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output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max(0, z)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∞)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layers (default)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eᶻⁱ / Σeᶻʲ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probs → sum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output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Shape 183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7" name="Text 184"/>
          <p:cNvSpPr/>
          <p:nvPr/>
        </p:nvSpPr>
        <p:spPr>
          <a:xfrm>
            <a:off x="777240" y="365760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ReLU won: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sigmoid's gradient maxes at 0.25 — signals vanish through deep stacks. ReLU's gradient is 1 for positive inputs: signals survive the trip backward.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learns a representation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640080" y="15544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6400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187" name="Text 185"/>
          <p:cNvSpPr/>
          <p:nvPr/>
        </p:nvSpPr>
        <p:spPr>
          <a:xfrm>
            <a:off x="6400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50" dirty="0"/>
          </a:p>
        </p:txBody>
      </p:sp>
      <p:sp>
        <p:nvSpPr>
          <p:cNvPr id="188" name="Text 186"/>
          <p:cNvSpPr/>
          <p:nvPr/>
        </p:nvSpPr>
        <p:spPr>
          <a:xfrm>
            <a:off x="2926080" y="15544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9" name="Shape 187"/>
          <p:cNvSpPr/>
          <p:nvPr/>
        </p:nvSpPr>
        <p:spPr>
          <a:xfrm>
            <a:off x="3520440" y="15544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352044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600" dirty="0"/>
          </a:p>
        </p:txBody>
      </p:sp>
      <p:sp>
        <p:nvSpPr>
          <p:cNvPr id="191" name="Text 189"/>
          <p:cNvSpPr/>
          <p:nvPr/>
        </p:nvSpPr>
        <p:spPr>
          <a:xfrm>
            <a:off x="352044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 the space</a:t>
            </a:r>
            <a:endParaRPr lang="en-US" sz="1250" dirty="0"/>
          </a:p>
        </p:txBody>
      </p:sp>
      <p:sp>
        <p:nvSpPr>
          <p:cNvPr id="192" name="Text 190"/>
          <p:cNvSpPr/>
          <p:nvPr/>
        </p:nvSpPr>
        <p:spPr>
          <a:xfrm>
            <a:off x="5806440" y="1554480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3" name="Shape 191"/>
          <p:cNvSpPr/>
          <p:nvPr/>
        </p:nvSpPr>
        <p:spPr>
          <a:xfrm>
            <a:off x="6400800" y="155448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400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95" name="Text 193"/>
          <p:cNvSpPr/>
          <p:nvPr/>
        </p:nvSpPr>
        <p:spPr>
          <a:xfrm>
            <a:off x="64008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line</a:t>
            </a:r>
            <a:endParaRPr lang="en-US" sz="1250" dirty="0"/>
          </a:p>
        </p:txBody>
      </p:sp>
      <p:sp>
        <p:nvSpPr>
          <p:cNvPr id="196" name="Shape 194"/>
          <p:cNvSpPr/>
          <p:nvPr/>
        </p:nvSpPr>
        <p:spPr>
          <a:xfrm>
            <a:off x="502920" y="329184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777240" y="329184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Foreshadow Day 17: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CNNs, early layers learn edges, later layers learn shapes and faces — the same principle at scale. Today's XOR hidden layer bends 4 points into linear separability; ImageNet layers bend a million photos into "cat vs dog".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loss to the task — always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25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450" dirty="0"/>
          </a:p>
        </p:txBody>
      </p:sp>
      <p:sp>
        <p:nvSpPr>
          <p:cNvPr id="187" name="Text 185"/>
          <p:cNvSpPr/>
          <p:nvPr/>
        </p:nvSpPr>
        <p:spPr>
          <a:xfrm>
            <a:off x="4480560" y="1325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350" dirty="0"/>
          </a:p>
        </p:txBody>
      </p:sp>
      <p:sp>
        <p:nvSpPr>
          <p:cNvPr id="188" name="Shape 186"/>
          <p:cNvSpPr/>
          <p:nvPr/>
        </p:nvSpPr>
        <p:spPr>
          <a:xfrm>
            <a:off x="502920" y="22402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777240" y="2240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450" dirty="0"/>
          </a:p>
        </p:txBody>
      </p:sp>
      <p:sp>
        <p:nvSpPr>
          <p:cNvPr id="190" name="Text 188"/>
          <p:cNvSpPr/>
          <p:nvPr/>
        </p:nvSpPr>
        <p:spPr>
          <a:xfrm>
            <a:off x="4480560" y="2240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350" dirty="0"/>
          </a:p>
        </p:txBody>
      </p:sp>
      <p:sp>
        <p:nvSpPr>
          <p:cNvPr id="191" name="Shape 189"/>
          <p:cNvSpPr/>
          <p:nvPr/>
        </p:nvSpPr>
        <p:spPr>
          <a:xfrm>
            <a:off x="502920" y="31546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50" dirty="0"/>
          </a:p>
        </p:txBody>
      </p:sp>
      <p:sp>
        <p:nvSpPr>
          <p:cNvPr id="193" name="Text 191"/>
          <p:cNvSpPr/>
          <p:nvPr/>
        </p:nvSpPr>
        <p:spPr>
          <a:xfrm>
            <a:off x="448056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— the same one from Day 10</a:t>
            </a:r>
            <a:endParaRPr lang="en-US" sz="1350" dirty="0"/>
          </a:p>
        </p:txBody>
      </p:sp>
      <p:sp>
        <p:nvSpPr>
          <p:cNvPr id="194" name="Text 192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in one sentence: it punishes confident wrong answers brutally.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= Passing Blame Backward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weight: nudge it up — does the loss go up or down?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 analogy: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review comes in (the loss). The manager traces blame backward — how much was the waiter, the chef, the supplier? Each adjusts in proportion to their share. Thousands of reviews later, the restaurant improves. The chain rule is just the bookkeeping.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9184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9184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step is Day 10's gradient descent, unchanged: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 − learning_rate × gradient. 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is only HOW the gradient gets computed through layers.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Optimisers: SGD vs Adam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step, in which direction, for each weight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700" dirty="0"/>
          </a:p>
        </p:txBody>
      </p:sp>
      <p:sp>
        <p:nvSpPr>
          <p:cNvPr id="187" name="Text 185"/>
          <p:cNvSpPr/>
          <p:nvPr/>
        </p:nvSpPr>
        <p:spPr>
          <a:xfrm>
            <a:off x="73152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 size for every weight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slow, can zigzag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first — worth knowing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470916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✓ default</a:t>
            </a:r>
            <a:endParaRPr lang="en-US" sz="1700" dirty="0"/>
          </a:p>
        </p:txBody>
      </p:sp>
      <p:sp>
        <p:nvSpPr>
          <p:cNvPr id="190" name="Text 188"/>
          <p:cNvSpPr/>
          <p:nvPr/>
        </p:nvSpPr>
        <p:spPr>
          <a:xfrm>
            <a:off x="4937760" y="19659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step size per weight from gradient history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problems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unless you have a reason not to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Keras Vocabulary of Week 3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you will type every day this week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2103120"/>
          </a:xfrm>
          <a:prstGeom prst="roundRect">
            <a:avLst>
              <a:gd name="adj" fmla="val 2174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keras.Sequential([...])       # 1. architecture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model.compile(optimizer, loss)        # 2. how to train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y, epochs=...)           # 3. train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model.predict(X_new)                  # 4. use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13632"/>
            <a:ext cx="457200" cy="45720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17320" y="36576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preview: </a:t>
            </a:r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falls, validation loss rises — the gap is the disease. Dropout &amp; EarlyStopping are the treatments. This afternoon you'll see a model where dropout makes things WORSE.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Shape 180"/>
          <p:cNvSpPr/>
          <p:nvPr/>
        </p:nvSpPr>
        <p:spPr>
          <a:xfrm flipV="1">
            <a:off x="7104888" y="749808"/>
            <a:ext cx="658368" cy="292608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04888" y="1042416"/>
            <a:ext cx="658368" cy="438912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04888" y="1042416"/>
            <a:ext cx="658368" cy="1170432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7104888" y="749808"/>
            <a:ext cx="658368" cy="1170432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7104888" y="1481328"/>
            <a:ext cx="658368" cy="438912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04888" y="1920240"/>
            <a:ext cx="658368" cy="292608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763256" y="749808"/>
            <a:ext cx="658368" cy="73152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763256" y="1481328"/>
            <a:ext cx="658368" cy="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7763256" y="1481328"/>
            <a:ext cx="658368" cy="731520"/>
          </a:xfrm>
          <a:prstGeom prst="line">
            <a:avLst/>
          </a:prstGeom>
          <a:noFill/>
          <a:ln w="15875">
            <a:solidFill>
              <a:srgbClr val="4C46A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040880" y="978408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2" name="Shape 190"/>
          <p:cNvSpPr/>
          <p:nvPr/>
        </p:nvSpPr>
        <p:spPr>
          <a:xfrm>
            <a:off x="7040880" y="1856232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699248" y="68580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699248" y="141732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5" name="Shape 193"/>
          <p:cNvSpPr/>
          <p:nvPr/>
        </p:nvSpPr>
        <p:spPr>
          <a:xfrm>
            <a:off x="7699248" y="214884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357616" y="1417320"/>
            <a:ext cx="128016" cy="128016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97" name="Text 195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60 MINUTES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By Hand,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Let Keras Do It</a:t>
            </a:r>
            <a:endParaRPr lang="en-US" sz="3600" dirty="0"/>
          </a:p>
        </p:txBody>
      </p:sp>
      <p:sp>
        <p:nvSpPr>
          <p:cNvPr id="199" name="Text 197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from scratch in NumPy  →  6-line Keras rebuild  →  ANN vs Linear Regression on 20,000 California houses</a:t>
            </a:r>
            <a:endParaRPr lang="en-US" sz="1450" dirty="0"/>
          </a:p>
        </p:txBody>
      </p:sp>
      <p:sp>
        <p:nvSpPr>
          <p:cNvPr id="200" name="Text 198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ahead was validated by real runs (seed 42).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XOR?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problem that froze neural network research for a decade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1234440" y="3840480"/>
            <a:ext cx="2651760" cy="0"/>
          </a:xfrm>
          <a:prstGeom prst="line">
            <a:avLst/>
          </a:prstGeom>
          <a:noFill/>
          <a:ln w="19050">
            <a:solidFill>
              <a:srgbClr val="5F5B8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234440" y="1691640"/>
            <a:ext cx="0" cy="2148840"/>
          </a:xfrm>
          <a:prstGeom prst="line">
            <a:avLst/>
          </a:prstGeom>
          <a:noFill/>
          <a:ln w="19050">
            <a:solidFill>
              <a:srgbClr val="5F5B8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06424" y="37124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106424" y="160934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0" name="Shape 188"/>
          <p:cNvSpPr/>
          <p:nvPr/>
        </p:nvSpPr>
        <p:spPr>
          <a:xfrm>
            <a:off x="3483864" y="371246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Shape 189"/>
          <p:cNvSpPr/>
          <p:nvPr/>
        </p:nvSpPr>
        <p:spPr>
          <a:xfrm>
            <a:off x="3483864" y="16093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2" name="Text 190"/>
          <p:cNvSpPr/>
          <p:nvPr/>
        </p:nvSpPr>
        <p:spPr>
          <a:xfrm>
            <a:off x="32461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324612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100" dirty="0"/>
          </a:p>
        </p:txBody>
      </p:sp>
      <p:sp>
        <p:nvSpPr>
          <p:cNvPr id="194" name="Shape 192"/>
          <p:cNvSpPr/>
          <p:nvPr/>
        </p:nvSpPr>
        <p:spPr>
          <a:xfrm>
            <a:off x="4892040" y="1280160"/>
            <a:ext cx="3749040" cy="3200400"/>
          </a:xfrm>
          <a:prstGeom prst="roundRect">
            <a:avLst>
              <a:gd name="adj" fmla="val 1714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5120640" y="15087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straight line separates the classes — a lone neuron CANNOT solve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1970s: this killed NN research funding for years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layer bends the space — then a line works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possible proof that depth matters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From Scratch — Setup &amp; Forward Pass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inputs → 4 hidden sigmoid neurons → 1 output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3017520"/>
          </a:xfrm>
          <a:prstGeom prst="roundRect">
            <a:avLst>
              <a:gd name="adj" fmla="val 151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np.array([[0,0],[0,1],[1,0],[1,1]]);  y = np.array([[0],[1],[1],[0]])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sigmoid(z): return 1 / (1 + np.exp(-z))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= np.random.randn(2, 4) * 0.5;  b1 = np.zeros((1, 4))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= np.random.randn(4, 1) * 0.5;  b2 = np.zeros((1, 1))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forward pass (inside the training loop) ----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= sigmoid(X @ W1 + b1)    # hidden layer activations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= sigmoid(a1 @ W2 + b2)   # output = prediction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-np.mean(y*np.log(a2) + (1-y)*np.log(1-a2))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50292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line by line — this is the equation from the theory block, in code.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Backward Pass — and It Works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of blame-passing, validated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5029200" cy="2148840"/>
          </a:xfrm>
          <a:prstGeom prst="roundRect">
            <a:avLst>
              <a:gd name="adj" fmla="val 2128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480974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  = a2 - y             # how wrong?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dW2 = a1.T @ d2 / 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  = (d2 @ W2.T)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 a1 * (1 - a1)    # blame backward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dW1 = X.T @ d1 / 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W2 -= lr*dW2;  W1 -= lr*dW1   # nudge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760720" y="1234440"/>
            <a:ext cx="2880360" cy="2148840"/>
          </a:xfrm>
          <a:prstGeom prst="roundRect">
            <a:avLst>
              <a:gd name="adj" fmla="val 255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trajectory (validated)</a:t>
            </a:r>
            <a:endParaRPr lang="en-US" sz="1250" dirty="0"/>
          </a:p>
        </p:txBody>
      </p:sp>
      <p:sp>
        <p:nvSpPr>
          <p:cNvPr id="189" name="Text 187"/>
          <p:cNvSpPr/>
          <p:nvPr/>
        </p:nvSpPr>
        <p:spPr>
          <a:xfrm>
            <a:off x="594360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0        0.7046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1,000  0.5939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5,000  0.0043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10,000 0.0017</a:t>
            </a:r>
            <a:endParaRPr lang="en-US" sz="1250" dirty="0"/>
          </a:p>
        </p:txBody>
      </p:sp>
      <p:sp>
        <p:nvSpPr>
          <p:cNvPr id="190" name="Shape 188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9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13632"/>
            <a:ext cx="457200" cy="457200"/>
          </a:xfrm>
          <a:prstGeom prst="rect">
            <a:avLst/>
          </a:prstGeom>
        </p:spPr>
      </p:pic>
      <p:sp>
        <p:nvSpPr>
          <p:cNvPr id="192" name="Text 189"/>
          <p:cNvSpPr/>
          <p:nvPr/>
        </p:nvSpPr>
        <p:spPr>
          <a:xfrm>
            <a:off x="1417320" y="36576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predictions [0.002, 0.998, 0.998, 0.001] → [0, 1, 1, 0].  </a:t>
            </a:r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plateau: loss barely moved for 1,000 epochs, then collapsed. Looking stuck ≠ being stuck.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 Keras — 25 Lines Become 6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now you know exactly what those 6 lines do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965960"/>
          </a:xfrm>
          <a:prstGeom prst="roundRect">
            <a:avLst>
              <a:gd name="adj" fmla="val 232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keras.layers.Dense(8, activation="relu", input_shape=(2,)),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keras.layers.Dense(1, activation="sigmoid")])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model.compile(optimizer=keras.optimizers.Adam(0.05),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loss="binary_crossentropy", metrics=["accuracy"])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y, epochs=500, verbose=0)   # -&gt; [0.002, 0.999, 0.999, 0.001]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52044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17320" y="356616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gotcha (validated): </a:t>
            </a:r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Dense(4) + default Adam this can stall at [0.21, 0.84, …]. Don't apologise — teach it: too little capacity, too small a learning rate. Bump to 8 units, lr=0.05. This is what tuning feels like.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Showdown: 20,000 California Houses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median house value — LinReg vs neural network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50292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20,433</a:t>
            </a:r>
            <a:endParaRPr lang="en-US" sz="2200" dirty="0"/>
          </a:p>
        </p:txBody>
      </p:sp>
      <p:sp>
        <p:nvSpPr>
          <p:cNvPr id="187" name="Text 185"/>
          <p:cNvSpPr/>
          <p:nvPr/>
        </p:nvSpPr>
        <p:spPr>
          <a:xfrm>
            <a:off x="64008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dropping 207 missing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3291840" y="132588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29184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90" name="Text 188"/>
          <p:cNvSpPr/>
          <p:nvPr/>
        </p:nvSpPr>
        <p:spPr>
          <a:xfrm>
            <a:off x="342900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one-hot encoding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6080760" y="132588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08076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200" dirty="0"/>
          </a:p>
        </p:txBody>
      </p:sp>
      <p:sp>
        <p:nvSpPr>
          <p:cNvPr id="193" name="Text 191"/>
          <p:cNvSpPr/>
          <p:nvPr/>
        </p:nvSpPr>
        <p:spPr>
          <a:xfrm>
            <a:off x="621792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seed 42, scaled</a:t>
            </a:r>
            <a:endParaRPr lang="en-US" sz="1100" dirty="0"/>
          </a:p>
        </p:txBody>
      </p:sp>
      <p:sp>
        <p:nvSpPr>
          <p:cNvPr id="194" name="Shape 192"/>
          <p:cNvSpPr/>
          <p:nvPr/>
        </p:nvSpPr>
        <p:spPr>
          <a:xfrm>
            <a:off x="502920" y="292608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12648" y="299923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".../ageron/handson-ml2/master/datasets/housing/housing.csv"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pd.read_csv(url).dropna()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pd.get_dummies(df, columns=["ocean_proximity"], drop_first=True)</a:t>
            </a:r>
            <a:endParaRPr lang="en-US" sz="1150" dirty="0"/>
          </a:p>
        </p:txBody>
      </p:sp>
      <p:sp>
        <p:nvSpPr>
          <p:cNvPr id="196" name="Text 194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fit_transform on train, transform on test — the Week 2 habit, unchanged.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 — Always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10 method takes under a second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9903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 = LinearRegression().fit(X_train_s, y_train)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lin.predict(X_test_s)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9748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89" name="Text 187"/>
          <p:cNvSpPr/>
          <p:nvPr/>
        </p:nvSpPr>
        <p:spPr>
          <a:xfrm>
            <a:off x="77724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$69,298</a:t>
            </a:r>
            <a:endParaRPr lang="en-US" sz="2800" dirty="0"/>
          </a:p>
        </p:txBody>
      </p:sp>
      <p:sp>
        <p:nvSpPr>
          <p:cNvPr id="190" name="Text 188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0.649   ·   trains in &lt; 1 second</a:t>
            </a:r>
            <a:endParaRPr lang="en-US" sz="1300" dirty="0"/>
          </a:p>
        </p:txBody>
      </p:sp>
      <p:sp>
        <p:nvSpPr>
          <p:cNvPr id="191" name="Text 189"/>
          <p:cNvSpPr/>
          <p:nvPr/>
        </p:nvSpPr>
        <p:spPr>
          <a:xfrm>
            <a:off x="5852160" y="30175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number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beat.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A Small ANN… Loses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of the day — let it sit in silence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 = keras.Sequential([Dense(64, relu), Dense(32, relu), Dense(1)])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ann.compile(optimizer="adam", loss="mse")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ann.fit(X_train_s, y_train, validation_split=0.2, epochs=50)   # ~29 s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88036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189" name="Text 187"/>
          <p:cNvSpPr/>
          <p:nvPr/>
        </p:nvSpPr>
        <p:spPr>
          <a:xfrm>
            <a:off x="73152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$69,298</a:t>
            </a:r>
            <a:endParaRPr lang="en-US" sz="2800" dirty="0"/>
          </a:p>
        </p:txBody>
      </p:sp>
      <p:sp>
        <p:nvSpPr>
          <p:cNvPr id="190" name="Shape 188"/>
          <p:cNvSpPr/>
          <p:nvPr/>
        </p:nvSpPr>
        <p:spPr>
          <a:xfrm>
            <a:off x="4709160" y="288036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64→32, 50 epochs</a:t>
            </a:r>
            <a:endParaRPr lang="en-US" sz="1350" dirty="0"/>
          </a:p>
        </p:txBody>
      </p:sp>
      <p:sp>
        <p:nvSpPr>
          <p:cNvPr id="192" name="Text 190"/>
          <p:cNvSpPr/>
          <p:nvPr/>
        </p:nvSpPr>
        <p:spPr>
          <a:xfrm>
            <a:off x="493776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$71,447</a:t>
            </a:r>
            <a:endParaRPr lang="en-US" sz="2800" dirty="0"/>
          </a:p>
        </p:txBody>
      </p:sp>
      <p:sp>
        <p:nvSpPr>
          <p:cNvPr id="193" name="Text 191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of neural network lost to under a second of LinReg. Ask the room: why?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Capacity + Epochs Buy the Win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128→64→32, 100 epochs (~61 s)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  <a:gridCol w="13716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64→32 · 50 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128→64→32 · 100 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</a:tbl>
          </a:graphicData>
        </a:graphic>
      </p:graphicFrame>
      <p:sp>
        <p:nvSpPr>
          <p:cNvPr id="186" name="Shape 183"/>
          <p:cNvSpPr/>
          <p:nvPr/>
        </p:nvSpPr>
        <p:spPr>
          <a:xfrm>
            <a:off x="502920" y="3611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86200"/>
            <a:ext cx="457200" cy="457200"/>
          </a:xfrm>
          <a:prstGeom prst="rect">
            <a:avLst/>
          </a:prstGeom>
        </p:spPr>
      </p:pic>
      <p:sp>
        <p:nvSpPr>
          <p:cNvPr id="188" name="Text 184"/>
          <p:cNvSpPr/>
          <p:nvPr/>
        </p:nvSpPr>
        <p:spPr>
          <a:xfrm>
            <a:off x="1417320" y="36118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~$5,300 better per prediction than LinReg.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nonlinearity payoff is real — but it must be BOUGHT with capacity and training time. Neural nets are not magic.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Loss Curves — Then Decide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is a treatment for a disease. Check for the disease first.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at epoch 100 (validated)</a:t>
            </a:r>
            <a:endParaRPr lang="en-US" sz="1250" dirty="0"/>
          </a:p>
        </p:txBody>
      </p:sp>
      <p:sp>
        <p:nvSpPr>
          <p:cNvPr id="187" name="Text 185"/>
          <p:cNvSpPr/>
          <p:nvPr/>
        </p:nvSpPr>
        <p:spPr>
          <a:xfrm>
            <a:off x="73152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RMSE ≈ $63.4k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RMSE   ≈ $63.7k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73152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track each other → NO meaningful overfitting.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3152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plt.plot(history.history["loss"] / ["val_loss"])</a:t>
            </a:r>
            <a:endParaRPr lang="en-US" sz="1050" dirty="0"/>
          </a:p>
        </p:txBody>
      </p:sp>
      <p:sp>
        <p:nvSpPr>
          <p:cNvPr id="190" name="Shape 188"/>
          <p:cNvSpPr/>
          <p:nvPr/>
        </p:nvSpPr>
        <p:spPr>
          <a:xfrm>
            <a:off x="4709160" y="128016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Dropout(0.3) anyway?</a:t>
            </a:r>
            <a:endParaRPr lang="en-US" sz="1350" dirty="0"/>
          </a:p>
        </p:txBody>
      </p:sp>
      <p:sp>
        <p:nvSpPr>
          <p:cNvPr id="192" name="Text 190"/>
          <p:cNvSpPr/>
          <p:nvPr/>
        </p:nvSpPr>
        <p:spPr>
          <a:xfrm>
            <a:off x="493776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$64,904</a:t>
            </a:r>
            <a:endParaRPr lang="en-US" sz="3000" dirty="0"/>
          </a:p>
        </p:txBody>
      </p:sp>
      <p:sp>
        <p:nvSpPr>
          <p:cNvPr id="193" name="Text 191"/>
          <p:cNvSpPr/>
          <p:nvPr/>
        </p:nvSpPr>
        <p:spPr>
          <a:xfrm>
            <a:off x="493776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without (validated). Medicine for a disease you don't have just makes you slower. On Day 18 — 2,000 images, hungry CNN — the disease will be real, and dropout will visibly save you.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Colab to GPU —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 before Day 17 makes it mandatory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716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→  Change runtime type  →  T4 GPU</a:t>
            </a:r>
            <a:endParaRPr lang="en-US" sz="2000" dirty="0"/>
          </a:p>
        </p:txBody>
      </p:sp>
      <p:sp>
        <p:nvSpPr>
          <p:cNvPr id="187" name="Text 185"/>
          <p:cNvSpPr/>
          <p:nvPr/>
        </p:nvSpPr>
        <p:spPr>
          <a:xfrm>
            <a:off x="502920" y="292608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models run fine on CPU (all timings above ARE CPU) — but the habit matters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17's CNNs: ~10× faster on GPU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with: tf.config.list_physical_devices("GPU")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before they cost 20 minutes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on the regression output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Dense(1) — NO activation</a:t>
            </a:r>
            <a:endParaRPr lang="en-US" sz="10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scale features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explodes / NaN — StandardScaler, fit on train</a:t>
            </a:r>
            <a:endParaRPr lang="en-US" sz="10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in hidden layers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in hidden layers — sigmoid vanishes</a:t>
            </a:r>
            <a:endParaRPr lang="en-US" sz="10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the net at epoch 5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Plateaus are normal — XOR sat still for 1,000 epochs</a:t>
            </a:r>
            <a:endParaRPr lang="en-US" sz="10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comparison</a:t>
            </a:r>
            <a:endParaRPr lang="en-US" sz="120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 first, always — Week 2 discipline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Fashion MNIST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images of clothing · 10 classes · pure Dense layers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2286000"/>
          </a:xfrm>
          <a:prstGeom prst="roundRect">
            <a:avLst>
              <a:gd name="adj" fmla="val 240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731520" cy="73152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920240" y="150876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87% test accuracy.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Dense hidden layers (try 256→128→64), softmax output, ~15–20 epochs. Remember Flatten(input_shape=(28,28)) first and pixel scaling /255. Then plot the confusion matrix — which clothing categories get confused? (Discover it yourself: shirts, coats, pullovers…)</a:t>
            </a:r>
            <a:endParaRPr lang="en-US" sz="1350" dirty="0"/>
          </a:p>
        </p:txBody>
      </p:sp>
      <p:sp>
        <p:nvSpPr>
          <p:cNvPr id="188" name="Text 185"/>
          <p:cNvSpPr/>
          <p:nvPr/>
        </p:nvSpPr>
        <p:spPr>
          <a:xfrm>
            <a:off x="502920" y="3931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15: ANN from scratch and in Keras"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week…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is inputs × weights + bias → activation. A network is neurons stacked. Training = loss → backprop → nudge → repeat.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are not magic: the small ANN LOST to Linear Regression. Depth + epochs bought the win.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 when the loss curves say so — dropout on a healthy model made it worse.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16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OpenCV</a:t>
            </a:r>
            <a:endParaRPr lang="en-US" sz="3800" dirty="0"/>
          </a:p>
        </p:txBody>
      </p:sp>
      <p:sp>
        <p:nvSpPr>
          <p:cNvPr id="184" name="Text 182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see: pixel grids, BGR vs RGB, blurring, Canny edges, contours, bounding boxes — the raw skills the Day 22 surveillance system is built from.</a:t>
            </a:r>
            <a:endParaRPr lang="en-US" sz="1450" dirty="0"/>
          </a:p>
        </p:txBody>
      </p:sp>
      <p:sp>
        <p:nvSpPr>
          <p:cNvPr id="185" name="Text 18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with today's notebook pushed — including the honest three-way RMSE table.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2026-07-22T08:59:48Z</dcterms:created>
  <dcterms:modified xsi:type="dcterms:W3CDTF">2026-07-22T08:59:48Z</dcterms:modified>
</cp:coreProperties>
</file>