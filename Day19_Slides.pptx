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·  WEEK 3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Pre-trained Models</a:t>
            </a:r>
            <a:endParaRPr lang="en-US" sz="3300" dirty="0"/>
          </a:p>
        </p:txBody>
      </p:sp>
      <p:sp>
        <p:nvSpPr>
          <p:cNvPr id="185" name="Text 18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model that already saw 1.2 million images. Freeze it, train a small new head.</a:t>
            </a:r>
            <a:endParaRPr lang="en-US" sz="1500" dirty="0"/>
          </a:p>
        </p:txBody>
      </p:sp>
      <p:sp>
        <p:nvSpPr>
          <p:cNvPr id="186" name="Text 183"/>
          <p:cNvSpPr/>
          <p:nvPr/>
        </p:nvSpPr>
        <p:spPr>
          <a:xfrm>
            <a:off x="64008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  ·  Base model: MobileNetV2 (ImageNet)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small-dataset fight almost entirely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18872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31520" y="14173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</p:sp>
      <p:sp>
        <p:nvSpPr>
          <p:cNvPr id="187" name="Text 185"/>
          <p:cNvSpPr/>
          <p:nvPr/>
        </p:nvSpPr>
        <p:spPr>
          <a:xfrm>
            <a:off x="73152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0:45</a:t>
            </a:r>
            <a:endParaRPr lang="en-US" sz="1050" dirty="0"/>
          </a:p>
        </p:txBody>
      </p:sp>
      <p:sp>
        <p:nvSpPr>
          <p:cNvPr id="188" name="Text 186"/>
          <p:cNvSpPr/>
          <p:nvPr/>
        </p:nvSpPr>
        <p:spPr>
          <a:xfrm>
            <a:off x="2331720" y="124358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500" dirty="0"/>
          </a:p>
        </p:txBody>
      </p:sp>
      <p:sp>
        <p:nvSpPr>
          <p:cNvPr id="189" name="Text 187"/>
          <p:cNvSpPr/>
          <p:nvPr/>
        </p:nvSpPr>
        <p:spPr>
          <a:xfrm>
            <a:off x="2331720" y="159105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transfer learning works · feature extraction vs fine-tuning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502920" y="2084832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Shape 189"/>
          <p:cNvSpPr/>
          <p:nvPr/>
        </p:nvSpPr>
        <p:spPr>
          <a:xfrm>
            <a:off x="731520" y="23134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3EDFD"/>
          </a:solidFill>
          <a:ln/>
        </p:spPr>
      </p:sp>
      <p:sp>
        <p:nvSpPr>
          <p:cNvPr id="192" name="Text 190"/>
          <p:cNvSpPr/>
          <p:nvPr/>
        </p:nvSpPr>
        <p:spPr>
          <a:xfrm>
            <a:off x="731520" y="2313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– 1:15</a:t>
            </a:r>
            <a:endParaRPr lang="en-US" sz="1050" dirty="0"/>
          </a:p>
        </p:txBody>
      </p:sp>
      <p:sp>
        <p:nvSpPr>
          <p:cNvPr id="193" name="Text 191"/>
          <p:cNvSpPr/>
          <p:nvPr/>
        </p:nvSpPr>
        <p:spPr>
          <a:xfrm>
            <a:off x="2331720" y="213969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&amp; train head</a:t>
            </a:r>
            <a:endParaRPr lang="en-US" sz="1500" dirty="0"/>
          </a:p>
        </p:txBody>
      </p:sp>
      <p:sp>
        <p:nvSpPr>
          <p:cNvPr id="194" name="Text 192"/>
          <p:cNvSpPr/>
          <p:nvPr/>
        </p:nvSpPr>
        <p:spPr>
          <a:xfrm>
            <a:off x="2331720" y="24871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MobileNetV2, add classification head, train Phase 1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502920" y="2980944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Shape 194"/>
          <p:cNvSpPr/>
          <p:nvPr/>
        </p:nvSpPr>
        <p:spPr>
          <a:xfrm>
            <a:off x="731520" y="320954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197" name="Text 195"/>
          <p:cNvSpPr/>
          <p:nvPr/>
        </p:nvSpPr>
        <p:spPr>
          <a:xfrm>
            <a:off x="731520" y="32095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1:45</a:t>
            </a:r>
            <a:endParaRPr lang="en-US" sz="1050" dirty="0"/>
          </a:p>
        </p:txBody>
      </p:sp>
      <p:sp>
        <p:nvSpPr>
          <p:cNvPr id="198" name="Text 196"/>
          <p:cNvSpPr/>
          <p:nvPr/>
        </p:nvSpPr>
        <p:spPr>
          <a:xfrm>
            <a:off x="2331720" y="303580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500" dirty="0"/>
          </a:p>
        </p:txBody>
      </p:sp>
      <p:sp>
        <p:nvSpPr>
          <p:cNvPr id="199" name="Text 197"/>
          <p:cNvSpPr/>
          <p:nvPr/>
        </p:nvSpPr>
        <p:spPr>
          <a:xfrm>
            <a:off x="2331720" y="33832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top 20 layers, tiny learning rate, Phase 2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502920" y="3877056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1" name="Shape 199"/>
          <p:cNvSpPr/>
          <p:nvPr/>
        </p:nvSpPr>
        <p:spPr>
          <a:xfrm>
            <a:off x="731520" y="41056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F2E2"/>
          </a:solidFill>
          <a:ln/>
        </p:spPr>
      </p:sp>
      <p:sp>
        <p:nvSpPr>
          <p:cNvPr id="202" name="Text 200"/>
          <p:cNvSpPr/>
          <p:nvPr/>
        </p:nvSpPr>
        <p:spPr>
          <a:xfrm>
            <a:off x="731520" y="4105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2:00</a:t>
            </a:r>
            <a:endParaRPr lang="en-US" sz="1050" dirty="0"/>
          </a:p>
        </p:txBody>
      </p:sp>
      <p:sp>
        <p:nvSpPr>
          <p:cNvPr id="203" name="Text 201"/>
          <p:cNvSpPr/>
          <p:nvPr/>
        </p:nvSpPr>
        <p:spPr>
          <a:xfrm>
            <a:off x="2331720" y="39319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04" name="Text 202"/>
          <p:cNvSpPr/>
          <p:nvPr/>
        </p:nvSpPr>
        <p:spPr>
          <a:xfrm>
            <a:off x="2331720" y="42793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food classifier from 50-100 self-collected images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Transfer Learning Works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million photos taught it universal visual building blocks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layers: edges, textures, shapes  →  Later layers: task-specific classification</a:t>
            </a:r>
            <a:endParaRPr lang="en-US" sz="16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51760"/>
            <a:ext cx="8138160" cy="1463040"/>
          </a:xfrm>
          <a:prstGeom prst="roundRect">
            <a:avLst>
              <a:gd name="adj" fmla="val 375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65176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Day 17: </a:t>
            </a:r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MNIST CNN learned edge-like filters from 60,000 grayscale digits. Now imagine that same process on 1.2 million full-color photos of everything. That's what's frozen inside MobileNetV2's early layers.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Mode: Freeze Everything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train a small new head on top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188720"/>
          </a:xfrm>
          <a:prstGeom prst="roundRect">
            <a:avLst>
              <a:gd name="adj" fmla="val 384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 = tf.keras.applications.MobileNetV2(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input_shape=(160,160,3), include_top=False, weights='imagenet')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base_model.trainable = False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06040"/>
            <a:ext cx="8138160" cy="1737360"/>
          </a:xfrm>
          <a:prstGeom prst="roundRect">
            <a:avLst>
              <a:gd name="adj" fmla="val 3158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88920"/>
            <a:ext cx="502920" cy="502920"/>
          </a:xfrm>
          <a:prstGeom prst="rect">
            <a:avLst/>
          </a:prstGeom>
        </p:spPr>
      </p:pic>
      <p:sp>
        <p:nvSpPr>
          <p:cNvPr id="189" name="Text 186"/>
          <p:cNvSpPr/>
          <p:nvPr/>
        </p:nvSpPr>
        <p:spPr>
          <a:xfrm>
            <a:off x="1463040" y="27889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this session</a:t>
            </a:r>
            <a:endParaRPr lang="en-US" sz="1350" dirty="0"/>
          </a:p>
        </p:txBody>
      </p:sp>
      <p:sp>
        <p:nvSpPr>
          <p:cNvPr id="190" name="Text 187"/>
          <p:cNvSpPr/>
          <p:nvPr/>
        </p:nvSpPr>
        <p:spPr>
          <a:xfrm>
            <a:off x="1463040" y="315468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154 layers trainable after freezing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328,450 trainable params vs 2,257,984 frozen — only ~13% training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Fast, Needs Little Data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relearning 'what is an edge' — that's already correct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8138160" cy="1645920"/>
          </a:xfrm>
          <a:prstGeom prst="roundRect">
            <a:avLst>
              <a:gd name="adj" fmla="val 3333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37160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only asking: given these pre-computed visual features, which of my classes is this?</a:t>
            </a:r>
            <a:endParaRPr lang="en-US" sz="1700" dirty="0"/>
          </a:p>
        </p:txBody>
      </p:sp>
      <p:sp>
        <p:nvSpPr>
          <p:cNvPr id="187" name="Shape 185"/>
          <p:cNvSpPr/>
          <p:nvPr/>
        </p:nvSpPr>
        <p:spPr>
          <a:xfrm>
            <a:off x="502920" y="320040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20040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much smaller, easier learning problem than training a CNN from scratch on the same tiny dataset.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Mode: Unfreeze the Top Layers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later base layers adapt slightly to YOUR dataset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371600"/>
          </a:xfrm>
          <a:prstGeom prst="roundRect">
            <a:avLst>
              <a:gd name="adj" fmla="val 3333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base_model.trainable = True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layer in base_model.layers[:-20]: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layer.trainable = False   # unfreeze only the LAST 20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model.compile(optimizer=Adam(learning_rate=1e-5), ...)   # tiny LR!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02920" y="283464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017520"/>
            <a:ext cx="502920" cy="502920"/>
          </a:xfrm>
          <a:prstGeom prst="rect">
            <a:avLst/>
          </a:prstGeom>
        </p:spPr>
      </p:pic>
      <p:sp>
        <p:nvSpPr>
          <p:cNvPr id="189" name="Text 186"/>
          <p:cNvSpPr/>
          <p:nvPr/>
        </p:nvSpPr>
        <p:spPr>
          <a:xfrm>
            <a:off x="1463040" y="30175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this session</a:t>
            </a:r>
            <a:endParaRPr lang="en-US" sz="1350" dirty="0"/>
          </a:p>
        </p:txBody>
      </p:sp>
      <p:sp>
        <p:nvSpPr>
          <p:cNvPr id="190" name="Text 187"/>
          <p:cNvSpPr/>
          <p:nvPr/>
        </p:nvSpPr>
        <p:spPr>
          <a:xfrm>
            <a:off x="146304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20 of 154 layers become trainable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 jump to 1,534,530 — over 4x more than Phase 1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Learning Rate Must Be Tiny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1e-5 instead of the usual 1e-3 — a hundred times smaller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8138160" cy="2468880"/>
          </a:xfrm>
          <a:prstGeom prst="roundRect">
            <a:avLst>
              <a:gd name="adj" fmla="val 2222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548640" cy="548640"/>
          </a:xfrm>
          <a:prstGeom prst="rect">
            <a:avLst/>
          </a:prstGeom>
        </p:spPr>
      </p:pic>
      <p:sp>
        <p:nvSpPr>
          <p:cNvPr id="187" name="Text 184"/>
          <p:cNvSpPr/>
          <p:nvPr/>
        </p:nvSpPr>
        <p:spPr>
          <a:xfrm>
            <a:off x="1554480" y="1371600"/>
            <a:ext cx="685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brakes analogy: </a:t>
            </a:r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base layers already contain good ImageNet knowledge. A normal-sized learning rate step would violently overwrite that in a few batches — like slamming the brakes when you only needed to tap them. A tiny LR lets weights nudge toward your dataset without destroying what they already know.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Base Model Has Its Own Preprocessing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trap: it trains fine, silently underperforms, no error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777240"/>
          </a:xfrm>
          <a:prstGeom prst="roundRect">
            <a:avLst>
              <a:gd name="adj" fmla="val 588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tensorflow.keras.applications.mobilenet_v2 import preprocess_input</a:t>
            </a:r>
            <a:endParaRPr lang="en-US" sz="1250" dirty="0"/>
          </a:p>
        </p:txBody>
      </p:sp>
      <p:sp>
        <p:nvSpPr>
          <p:cNvPr id="187" name="Shape 185"/>
          <p:cNvSpPr/>
          <p:nvPr/>
        </p:nvSpPr>
        <p:spPr>
          <a:xfrm>
            <a:off x="502920" y="228600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2860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preprocess_input() rescales pixels into [-1, 1] — NOT the [0,1] from Days 17-18</a:t>
            </a:r>
            <a:endParaRPr lang="en-US" sz="1400" dirty="0"/>
          </a:p>
        </p:txBody>
      </p:sp>
      <p:sp>
        <p:nvSpPr>
          <p:cNvPr id="189" name="Shape 187"/>
          <p:cNvSpPr/>
          <p:nvPr/>
        </p:nvSpPr>
        <p:spPr>
          <a:xfrm>
            <a:off x="502920" y="35661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77240" y="3566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kind of bug that costs an afternoon — nothing crashes, accuracy is just quietly worse.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Base Models — Speed vs Accuracy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MobileNetV2, for speed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MobileNetV2</a:t>
            </a:r>
            <a:endParaRPr lang="en-US" sz="1400" dirty="0"/>
          </a:p>
        </p:txBody>
      </p:sp>
      <p:sp>
        <p:nvSpPr>
          <p:cNvPr id="187" name="Text 185"/>
          <p:cNvSpPr/>
          <p:nvPr/>
        </p:nvSpPr>
        <p:spPr>
          <a:xfrm>
            <a:off x="3108960" y="12801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mobile-friendly, smaller — default choice</a:t>
            </a:r>
            <a:endParaRPr lang="en-US" sz="1250" dirty="0"/>
          </a:p>
        </p:txBody>
      </p:sp>
      <p:sp>
        <p:nvSpPr>
          <p:cNvPr id="188" name="Shape 186"/>
          <p:cNvSpPr/>
          <p:nvPr/>
        </p:nvSpPr>
        <p:spPr>
          <a:xfrm>
            <a:off x="502920" y="2121408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777240" y="21214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EfficientNetB0</a:t>
            </a:r>
            <a:endParaRPr lang="en-US" sz="1400" dirty="0"/>
          </a:p>
        </p:txBody>
      </p:sp>
      <p:sp>
        <p:nvSpPr>
          <p:cNvPr id="190" name="Text 188"/>
          <p:cNvSpPr/>
          <p:nvPr/>
        </p:nvSpPr>
        <p:spPr>
          <a:xfrm>
            <a:off x="3108960" y="212140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accuracy/size balance</a:t>
            </a:r>
            <a:endParaRPr lang="en-US" sz="1250" dirty="0"/>
          </a:p>
        </p:txBody>
      </p:sp>
      <p:sp>
        <p:nvSpPr>
          <p:cNvPr id="191" name="Shape 189"/>
          <p:cNvSpPr/>
          <p:nvPr/>
        </p:nvSpPr>
        <p:spPr>
          <a:xfrm>
            <a:off x="502920" y="2962656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777240" y="296265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ResNet50</a:t>
            </a:r>
            <a:endParaRPr lang="en-US" sz="1400" dirty="0"/>
          </a:p>
        </p:txBody>
      </p:sp>
      <p:sp>
        <p:nvSpPr>
          <p:cNvPr id="193" name="Text 191"/>
          <p:cNvSpPr/>
          <p:nvPr/>
        </p:nvSpPr>
        <p:spPr>
          <a:xfrm>
            <a:off x="3108960" y="2962656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classic, well-understood, larger</a:t>
            </a:r>
            <a:endParaRPr lang="en-US" sz="1250" dirty="0"/>
          </a:p>
        </p:txBody>
      </p:sp>
      <p:sp>
        <p:nvSpPr>
          <p:cNvPr id="194" name="Shape 192"/>
          <p:cNvSpPr/>
          <p:nvPr/>
        </p:nvSpPr>
        <p:spPr>
          <a:xfrm>
            <a:off x="502920" y="3803904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777240" y="380390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VGG16</a:t>
            </a:r>
            <a:endParaRPr lang="en-US" sz="1400" dirty="0"/>
          </a:p>
        </p:txBody>
      </p:sp>
      <p:sp>
        <p:nvSpPr>
          <p:cNvPr id="196" name="Text 194"/>
          <p:cNvSpPr/>
          <p:nvPr/>
        </p:nvSpPr>
        <p:spPr>
          <a:xfrm>
            <a:off x="3108960" y="3803904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largest — mostly teaching interest today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— 75 MINUTES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874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1.2 Million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of Knowledge</a:t>
            </a:r>
            <a:endParaRPr lang="en-US" sz="3000" dirty="0"/>
          </a:p>
        </p:txBody>
      </p:sp>
      <p:sp>
        <p:nvSpPr>
          <p:cNvPr id="185" name="Text 182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→ new head → Phase 1 train → unfreeze top 20 → Phase 2 fine-tune</a:t>
            </a:r>
            <a:endParaRPr lang="en-US" sz="1450" dirty="0"/>
          </a:p>
        </p:txBody>
      </p:sp>
      <p:sp>
        <p:nvSpPr>
          <p:cNvPr id="186" name="Text 183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mechanics validated live this session; accuracy figures are documented targets for this recipe.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1–2: Load Base, Add New Head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GlobalAveragePooling2D, not Flatten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2286000"/>
          </a:xfrm>
          <a:prstGeom prst="roundRect">
            <a:avLst>
              <a:gd name="adj" fmla="val 2000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tf.keras.Sequential([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Input(shape=(160,160,3)),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base_model,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GlobalAveragePooling2D(),   # 5x5x1280 -&gt; 1280 numbers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Dense(256, activation='relu'),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Dropout(0.5),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Dense(n_classes, activation='softmax'),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02920" y="370332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7033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base output (None,5,5,1280) → GlobalAvgPool → 1280 numbers, far fewer than Flatten's 32,000.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Phase 1 — Feature Extraction Training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faster than from-scratch CNNs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777240"/>
          </a:xfrm>
          <a:prstGeom prst="roundRect">
            <a:avLst>
              <a:gd name="adj" fmla="val 588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history_phase1 = model.fit(train_ds, validation_data=val_ds, epochs=5)</a:t>
            </a:r>
            <a:endParaRPr lang="en-US" sz="1250" dirty="0"/>
          </a:p>
        </p:txBody>
      </p:sp>
      <p:sp>
        <p:nvSpPr>
          <p:cNvPr id="187" name="Shape 185"/>
          <p:cNvSpPr/>
          <p:nvPr/>
        </p:nvSpPr>
        <p:spPr>
          <a:xfrm>
            <a:off x="502920" y="2286000"/>
            <a:ext cx="8138160" cy="1737360"/>
          </a:xfrm>
          <a:prstGeom prst="roundRect">
            <a:avLst>
              <a:gd name="adj" fmla="val 3158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4231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target for this recipe</a:t>
            </a:r>
            <a:endParaRPr lang="en-US" sz="1300" dirty="0"/>
          </a:p>
        </p:txBody>
      </p:sp>
      <p:sp>
        <p:nvSpPr>
          <p:cNvPr id="189" name="Text 187"/>
          <p:cNvSpPr/>
          <p:nvPr/>
        </p:nvSpPr>
        <p:spPr>
          <a:xfrm>
            <a:off x="777240" y="27889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validation accuracy within 5 epochs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Phase 2 — Fine-Tuning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out the last few percent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554480"/>
          </a:xfrm>
          <a:prstGeom prst="roundRect">
            <a:avLst>
              <a:gd name="adj" fmla="val 2941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base_model.trainable = True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layer in base_model.layers[:-20]: layer.trainable = False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model.compile(optimizer=Adam(learning_rate=1e-5), ...)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history_phase2 = model.fit(train_ds, validation_data=val_ds, epochs=5)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02920" y="3017520"/>
            <a:ext cx="8138160" cy="1463040"/>
          </a:xfrm>
          <a:prstGeom prst="roundRect">
            <a:avLst>
              <a:gd name="adj" fmla="val 3750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01752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target: +2-3% validation accuracy over Phase 1 alone, at the cost of slower epochs.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Compare Three Approaches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this in with your own run's numbers</a:t>
            </a:r>
            <a:endParaRPr lang="en-US" sz="1250" dirty="0"/>
          </a:p>
        </p:txBody>
      </p:sp>
      <p:sp>
        <p:nvSpPr>
          <p:cNvPr id="185" name="Text 183"/>
          <p:cNvSpPr/>
          <p:nvPr/>
        </p:nvSpPr>
        <p:spPr>
          <a:xfrm>
            <a:off x="50292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86" name="Text 184"/>
          <p:cNvSpPr/>
          <p:nvPr/>
        </p:nvSpPr>
        <p:spPr>
          <a:xfrm>
            <a:off x="2971800" y="1234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00" dirty="0"/>
          </a:p>
        </p:txBody>
      </p:sp>
      <p:sp>
        <p:nvSpPr>
          <p:cNvPr id="187" name="Text 185"/>
          <p:cNvSpPr/>
          <p:nvPr/>
        </p:nvSpPr>
        <p:spPr>
          <a:xfrm>
            <a:off x="470916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1200" dirty="0"/>
          </a:p>
        </p:txBody>
      </p:sp>
      <p:sp>
        <p:nvSpPr>
          <p:cNvPr id="188" name="Text 186"/>
          <p:cNvSpPr/>
          <p:nvPr/>
        </p:nvSpPr>
        <p:spPr>
          <a:xfrm>
            <a:off x="681228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</a:t>
            </a:r>
            <a:endParaRPr lang="en-US" sz="1200" dirty="0"/>
          </a:p>
        </p:txBody>
      </p:sp>
      <p:sp>
        <p:nvSpPr>
          <p:cNvPr id="189" name="Shape 187"/>
          <p:cNvSpPr/>
          <p:nvPr/>
        </p:nvSpPr>
        <p:spPr>
          <a:xfrm>
            <a:off x="502920" y="164592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594360" y="1645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CNN (Day 17)</a:t>
            </a:r>
            <a:endParaRPr lang="en-US" sz="1150" dirty="0"/>
          </a:p>
        </p:txBody>
      </p:sp>
      <p:sp>
        <p:nvSpPr>
          <p:cNvPr id="191" name="Text 189"/>
          <p:cNvSpPr/>
          <p:nvPr/>
        </p:nvSpPr>
        <p:spPr>
          <a:xfrm>
            <a:off x="3063240" y="1645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~15-20 epochs</a:t>
            </a:r>
            <a:endParaRPr lang="en-US" sz="1150" dirty="0"/>
          </a:p>
        </p:txBody>
      </p:sp>
      <p:sp>
        <p:nvSpPr>
          <p:cNvPr id="192" name="Text 190"/>
          <p:cNvSpPr/>
          <p:nvPr/>
        </p:nvSpPr>
        <p:spPr>
          <a:xfrm>
            <a:off x="4800600" y="1645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Lower, more variance</a:t>
            </a:r>
            <a:endParaRPr lang="en-US" sz="1150" dirty="0"/>
          </a:p>
        </p:txBody>
      </p:sp>
      <p:sp>
        <p:nvSpPr>
          <p:cNvPr id="193" name="Text 191"/>
          <p:cNvSpPr/>
          <p:nvPr/>
        </p:nvSpPr>
        <p:spPr>
          <a:xfrm>
            <a:off x="6903720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most data</a:t>
            </a:r>
            <a:endParaRPr lang="en-US" sz="1150" dirty="0"/>
          </a:p>
        </p:txBody>
      </p:sp>
      <p:sp>
        <p:nvSpPr>
          <p:cNvPr id="194" name="Shape 192"/>
          <p:cNvSpPr/>
          <p:nvPr/>
        </p:nvSpPr>
        <p:spPr>
          <a:xfrm>
            <a:off x="502920" y="224028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594360" y="2240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50" dirty="0"/>
          </a:p>
        </p:txBody>
      </p:sp>
      <p:sp>
        <p:nvSpPr>
          <p:cNvPr id="196" name="Text 194"/>
          <p:cNvSpPr/>
          <p:nvPr/>
        </p:nvSpPr>
        <p:spPr>
          <a:xfrm>
            <a:off x="3063240" y="2240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epochs</a:t>
            </a:r>
            <a:endParaRPr lang="en-US" sz="1150" dirty="0"/>
          </a:p>
        </p:txBody>
      </p:sp>
      <p:sp>
        <p:nvSpPr>
          <p:cNvPr id="197" name="Text 195"/>
          <p:cNvSpPr/>
          <p:nvPr/>
        </p:nvSpPr>
        <p:spPr>
          <a:xfrm>
            <a:off x="4800600" y="2240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fast</a:t>
            </a:r>
            <a:endParaRPr lang="en-US" sz="1150" dirty="0"/>
          </a:p>
        </p:txBody>
      </p:sp>
      <p:sp>
        <p:nvSpPr>
          <p:cNvPr id="198" name="Text 196"/>
          <p:cNvSpPr/>
          <p:nvPr/>
        </p:nvSpPr>
        <p:spPr>
          <a:xfrm>
            <a:off x="6903720" y="2240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very little data</a:t>
            </a:r>
            <a:endParaRPr lang="en-US" sz="1150" dirty="0"/>
          </a:p>
        </p:txBody>
      </p:sp>
      <p:sp>
        <p:nvSpPr>
          <p:cNvPr id="199" name="Shape 197"/>
          <p:cNvSpPr/>
          <p:nvPr/>
        </p:nvSpPr>
        <p:spPr>
          <a:xfrm>
            <a:off x="502920" y="283464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594360" y="2834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50" dirty="0"/>
          </a:p>
        </p:txBody>
      </p:sp>
      <p:sp>
        <p:nvSpPr>
          <p:cNvPr id="201" name="Text 199"/>
          <p:cNvSpPr/>
          <p:nvPr/>
        </p:nvSpPr>
        <p:spPr>
          <a:xfrm>
            <a:off x="3063240" y="2834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more</a:t>
            </a:r>
            <a:endParaRPr lang="en-US" sz="1150" dirty="0"/>
          </a:p>
        </p:txBody>
      </p:sp>
      <p:sp>
        <p:nvSpPr>
          <p:cNvPr id="202" name="Text 200"/>
          <p:cNvSpPr/>
          <p:nvPr/>
        </p:nvSpPr>
        <p:spPr>
          <a:xfrm>
            <a:off x="480060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150" dirty="0"/>
          </a:p>
        </p:txBody>
      </p:sp>
      <p:sp>
        <p:nvSpPr>
          <p:cNvPr id="203" name="Text 201"/>
          <p:cNvSpPr/>
          <p:nvPr/>
        </p:nvSpPr>
        <p:spPr>
          <a:xfrm>
            <a:off x="6903720" y="2834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data helps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these first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include_top=False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349240" y="12344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53212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with 1000-class ImageNet head</a:t>
            </a:r>
            <a:endParaRPr lang="en-US" sz="1000" dirty="0"/>
          </a:p>
        </p:txBody>
      </p:sp>
      <p:sp>
        <p:nvSpPr>
          <p:cNvPr id="189" name="Shape 187"/>
          <p:cNvSpPr/>
          <p:nvPr/>
        </p:nvSpPr>
        <p:spPr>
          <a:xfrm>
            <a:off x="502920" y="1929384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31520" y="19293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Wrong/missing preprocess_input</a:t>
            </a:r>
            <a:endParaRPr lang="en-US" sz="1150" dirty="0"/>
          </a:p>
        </p:txBody>
      </p:sp>
      <p:sp>
        <p:nvSpPr>
          <p:cNvPr id="191" name="Shape 189"/>
          <p:cNvSpPr/>
          <p:nvPr/>
        </p:nvSpPr>
        <p:spPr>
          <a:xfrm>
            <a:off x="5349240" y="1929384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553212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fine, silently underperforms</a:t>
            </a:r>
            <a:endParaRPr lang="en-US" sz="1000" dirty="0"/>
          </a:p>
        </p:txBody>
      </p:sp>
      <p:sp>
        <p:nvSpPr>
          <p:cNvPr id="193" name="Shape 191"/>
          <p:cNvSpPr/>
          <p:nvPr/>
        </p:nvSpPr>
        <p:spPr>
          <a:xfrm>
            <a:off x="502920" y="2624328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731520" y="2624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LR during fine-tuning</a:t>
            </a:r>
            <a:endParaRPr lang="en-US" sz="1150" dirty="0"/>
          </a:p>
        </p:txBody>
      </p:sp>
      <p:sp>
        <p:nvSpPr>
          <p:cNvPr id="195" name="Shape 193"/>
          <p:cNvSpPr/>
          <p:nvPr/>
        </p:nvSpPr>
        <p:spPr>
          <a:xfrm>
            <a:off x="5349240" y="262432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553212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ImageNet knowledge in batches</a:t>
            </a:r>
            <a:endParaRPr lang="en-US" sz="1000" dirty="0"/>
          </a:p>
        </p:txBody>
      </p:sp>
      <p:sp>
        <p:nvSpPr>
          <p:cNvPr id="197" name="Shape 195"/>
          <p:cNvSpPr/>
          <p:nvPr/>
        </p:nvSpPr>
        <p:spPr>
          <a:xfrm>
            <a:off x="502920" y="3319272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731520" y="33192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freeze before Phase 1</a:t>
            </a:r>
            <a:endParaRPr lang="en-US" sz="1150" dirty="0"/>
          </a:p>
        </p:txBody>
      </p:sp>
      <p:sp>
        <p:nvSpPr>
          <p:cNvPr id="199" name="Shape 197"/>
          <p:cNvSpPr/>
          <p:nvPr/>
        </p:nvSpPr>
        <p:spPr>
          <a:xfrm>
            <a:off x="5349240" y="3319272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553212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updates immediately — no point</a:t>
            </a:r>
            <a:endParaRPr lang="en-US" sz="1000" dirty="0"/>
          </a:p>
        </p:txBody>
      </p:sp>
      <p:sp>
        <p:nvSpPr>
          <p:cNvPr id="201" name="Shape 199"/>
          <p:cNvSpPr/>
          <p:nvPr/>
        </p:nvSpPr>
        <p:spPr>
          <a:xfrm>
            <a:off x="502920" y="4014216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731520" y="401421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Flatten instead of GlobalAvgPool</a:t>
            </a:r>
            <a:endParaRPr lang="en-US" sz="1150" dirty="0"/>
          </a:p>
        </p:txBody>
      </p:sp>
      <p:sp>
        <p:nvSpPr>
          <p:cNvPr id="203" name="Shape 201"/>
          <p:cNvSpPr/>
          <p:nvPr/>
        </p:nvSpPr>
        <p:spPr>
          <a:xfrm>
            <a:off x="5349240" y="401421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4" name="Text 202"/>
          <p:cNvSpPr/>
          <p:nvPr/>
        </p:nvSpPr>
        <p:spPr>
          <a:xfrm>
            <a:off x="5532120" y="40142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Dense layer, overfits more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5-Class Food Classifier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 self-collected images per class, target &gt;88%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48640" cy="548640"/>
          </a:xfrm>
          <a:prstGeom prst="rect">
            <a:avLst/>
          </a:prstGeom>
        </p:spPr>
      </p:pic>
      <p:sp>
        <p:nvSpPr>
          <p:cNvPr id="187" name="Text 184"/>
          <p:cNvSpPr/>
          <p:nvPr/>
        </p:nvSpPr>
        <p:spPr>
          <a:xfrm>
            <a:off x="1554480" y="12801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50-100 images per class, training from scratch would be nearly impossible. </a:t>
            </a:r>
            <a:pPr indent="0" marL="0"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is what makes a small, personally-collected dataset viable at all.</a:t>
            </a:r>
            <a:endParaRPr lang="en-US" sz="1350" dirty="0"/>
          </a:p>
        </p:txBody>
      </p:sp>
      <p:sp>
        <p:nvSpPr>
          <p:cNvPr id="188" name="Shape 185"/>
          <p:cNvSpPr/>
          <p:nvPr/>
        </p:nvSpPr>
        <p:spPr>
          <a:xfrm>
            <a:off x="502920" y="2880360"/>
            <a:ext cx="8138160" cy="914400"/>
          </a:xfrm>
          <a:prstGeom prst="roundRect">
            <a:avLst>
              <a:gd name="adj" fmla="val 5000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612648" y="2953512"/>
            <a:ext cx="79187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 = MobileNetV2(input_shape=(160,160,3), include_top=False, weights='imagenet')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head as today, but n_classes=5 instead of 2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else survives the day…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77240" y="151790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87" name="Text 185"/>
          <p:cNvSpPr/>
          <p:nvPr/>
        </p:nvSpPr>
        <p:spPr>
          <a:xfrm>
            <a:off x="77724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88" name="Text 186"/>
          <p:cNvSpPr/>
          <p:nvPr/>
        </p:nvSpPr>
        <p:spPr>
          <a:xfrm>
            <a:off x="1463040" y="135331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CNN layers learn universal features. Only the last layers are task-specific.</a:t>
            </a:r>
            <a:endParaRPr lang="en-US" sz="1250" dirty="0"/>
          </a:p>
        </p:txBody>
      </p:sp>
      <p:sp>
        <p:nvSpPr>
          <p:cNvPr id="189" name="Shape 187"/>
          <p:cNvSpPr/>
          <p:nvPr/>
        </p:nvSpPr>
        <p:spPr>
          <a:xfrm>
            <a:off x="502920" y="237744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Shape 188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1" name="Text 189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2" name="Text 190"/>
          <p:cNvSpPr/>
          <p:nvPr/>
        </p:nvSpPr>
        <p:spPr>
          <a:xfrm>
            <a:off x="1463040" y="245059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first (fast, little data). Fine-tune only if you need more accuracy.</a:t>
            </a:r>
            <a:endParaRPr lang="en-US" sz="1250" dirty="0"/>
          </a:p>
        </p:txBody>
      </p:sp>
      <p:sp>
        <p:nvSpPr>
          <p:cNvPr id="193" name="Shape 191"/>
          <p:cNvSpPr/>
          <p:nvPr/>
        </p:nvSpPr>
        <p:spPr>
          <a:xfrm>
            <a:off x="502920" y="347472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Shape 192"/>
          <p:cNvSpPr/>
          <p:nvPr/>
        </p:nvSpPr>
        <p:spPr>
          <a:xfrm>
            <a:off x="777240" y="37124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5" name="Text 193"/>
          <p:cNvSpPr/>
          <p:nvPr/>
        </p:nvSpPr>
        <p:spPr>
          <a:xfrm>
            <a:off x="7772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6" name="Text 194"/>
          <p:cNvSpPr/>
          <p:nvPr/>
        </p:nvSpPr>
        <p:spPr>
          <a:xfrm>
            <a:off x="1463040" y="354787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preprocess_input to your base model. Use a tiny LR (1e-5) whenever fine-tuning.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2" name="Text 18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20</a:t>
            </a:r>
            <a:endParaRPr lang="en-US" sz="1400" dirty="0"/>
          </a:p>
        </p:txBody>
      </p:sp>
      <p:sp>
        <p:nvSpPr>
          <p:cNvPr id="183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YOLO</a:t>
            </a:r>
            <a:endParaRPr lang="en-US" sz="3800" dirty="0"/>
          </a:p>
        </p:txBody>
      </p:sp>
      <p:sp>
        <p:nvSpPr>
          <p:cNvPr id="184" name="Text 182"/>
          <p:cNvSpPr/>
          <p:nvPr/>
        </p:nvSpPr>
        <p:spPr>
          <a:xfrm>
            <a:off x="640080" y="32461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models say WHAT. Tomorrow's YOLO says WHAT AND WHERE — a bounding box around every object, even multiple at once. Direct foundation for Day 22's surveillance capstone.</a:t>
            </a:r>
            <a:endParaRPr lang="en-US" sz="1350" dirty="0"/>
          </a:p>
        </p:txBody>
      </p:sp>
      <p:sp>
        <p:nvSpPr>
          <p:cNvPr id="185" name="Text 183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itself ships pretrained and gets fine-tuned the same way as today.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2026-08-03T05:48:17Z</dcterms:created>
  <dcterms:modified xsi:type="dcterms:W3CDTF">2026-08-03T05:48:17Z</dcterms:modified>
</cp:coreProperties>
</file>