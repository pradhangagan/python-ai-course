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8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685800" cy="6858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64008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AF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 ·  WEEK 2 CAPSTONE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40080" y="19202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Deep Dive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Mini-Project</a:t>
            </a:r>
            <a:endParaRPr lang="en-US" sz="4000" dirty="0"/>
          </a:p>
        </p:txBody>
      </p:sp>
      <p:sp>
        <p:nvSpPr>
          <p:cNvPr id="43" name="Text 40"/>
          <p:cNvSpPr/>
          <p:nvPr/>
        </p:nvSpPr>
        <p:spPr>
          <a:xfrm>
            <a:off x="640080" y="3429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· Merge Conflicts · Pull Requests  →  Spam Email Classifier shipped with Streamlit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day of Week 2 — built to be finished, not just started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23444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31520" y="15910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AF0F9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15910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0:30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331720" y="134416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Deep Dive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331720" y="170992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· merge conflicts · log / diff / stash · Pull Requests · .gitignore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02920" y="2404872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31520" y="2761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F6FA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27614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 – 1:45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331720" y="2514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Spam Classifier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331720" y="288036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TF-IDF → NB vs RF → save model → Streamlit app on a feature branch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02920" y="3575304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31520" y="3931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9F8F0"/>
          </a:solidFill>
          <a:ln/>
        </p:spPr>
      </p:sp>
      <p:sp>
        <p:nvSpPr>
          <p:cNvPr id="55" name="Text 53"/>
          <p:cNvSpPr/>
          <p:nvPr/>
        </p:nvSpPr>
        <p:spPr>
          <a:xfrm>
            <a:off x="731520" y="3931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– 2:00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2331720" y="36850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2331720" y="405079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Request · merge · README · commit history check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Branches Exist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so far assumed one person, one straight line of commits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234440"/>
            <a:ext cx="502920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651760"/>
            <a:ext cx="4297680" cy="0"/>
          </a:xfrm>
          <a:prstGeom prst="line">
            <a:avLst/>
          </a:prstGeom>
          <a:noFill/>
          <a:ln w="38100">
            <a:solidFill>
              <a:srgbClr val="2C487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4984" y="2569464"/>
            <a:ext cx="164592" cy="164592"/>
          </a:xfrm>
          <a:prstGeom prst="ellipse">
            <a:avLst/>
          </a:prstGeom>
          <a:solidFill>
            <a:srgbClr val="2C4870"/>
          </a:solidFill>
          <a:ln/>
        </p:spPr>
      </p:sp>
      <p:sp>
        <p:nvSpPr>
          <p:cNvPr id="46" name="Shape 44"/>
          <p:cNvSpPr/>
          <p:nvPr/>
        </p:nvSpPr>
        <p:spPr>
          <a:xfrm>
            <a:off x="1746504" y="2569464"/>
            <a:ext cx="164592" cy="164592"/>
          </a:xfrm>
          <a:prstGeom prst="ellipse">
            <a:avLst/>
          </a:prstGeom>
          <a:solidFill>
            <a:srgbClr val="2C4870"/>
          </a:solidFill>
          <a:ln/>
        </p:spPr>
      </p:sp>
      <p:sp>
        <p:nvSpPr>
          <p:cNvPr id="47" name="Shape 45"/>
          <p:cNvSpPr/>
          <p:nvPr/>
        </p:nvSpPr>
        <p:spPr>
          <a:xfrm>
            <a:off x="4123944" y="2569464"/>
            <a:ext cx="164592" cy="164592"/>
          </a:xfrm>
          <a:prstGeom prst="ellipse">
            <a:avLst/>
          </a:prstGeom>
          <a:solidFill>
            <a:srgbClr val="2C4870"/>
          </a:solidFill>
          <a:ln/>
        </p:spPr>
      </p:sp>
      <p:sp>
        <p:nvSpPr>
          <p:cNvPr id="48" name="Shape 46"/>
          <p:cNvSpPr/>
          <p:nvPr/>
        </p:nvSpPr>
        <p:spPr>
          <a:xfrm>
            <a:off x="4764024" y="2569464"/>
            <a:ext cx="164592" cy="164592"/>
          </a:xfrm>
          <a:prstGeom prst="ellipse">
            <a:avLst/>
          </a:prstGeom>
          <a:solidFill>
            <a:srgbClr val="2C4870"/>
          </a:solidFill>
          <a:ln/>
        </p:spPr>
      </p:sp>
      <p:sp>
        <p:nvSpPr>
          <p:cNvPr id="49" name="Shape 47"/>
          <p:cNvSpPr/>
          <p:nvPr/>
        </p:nvSpPr>
        <p:spPr>
          <a:xfrm flipV="1">
            <a:off x="1828800" y="1965960"/>
            <a:ext cx="640080" cy="685800"/>
          </a:xfrm>
          <a:prstGeom prst="line">
            <a:avLst/>
          </a:prstGeom>
          <a:noFill/>
          <a:ln w="38100">
            <a:solidFill>
              <a:srgbClr val="0E7C9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68880" y="1965960"/>
            <a:ext cx="1097280" cy="0"/>
          </a:xfrm>
          <a:prstGeom prst="line">
            <a:avLst/>
          </a:prstGeom>
          <a:noFill/>
          <a:ln w="38100">
            <a:solidFill>
              <a:srgbClr val="0E7C9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66160" y="1965960"/>
            <a:ext cx="640080" cy="685800"/>
          </a:xfrm>
          <a:prstGeom prst="line">
            <a:avLst/>
          </a:prstGeom>
          <a:noFill/>
          <a:ln w="38100">
            <a:solidFill>
              <a:srgbClr val="0E7C9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86584" y="1883664"/>
            <a:ext cx="164592" cy="164592"/>
          </a:xfrm>
          <a:prstGeom prst="ellipse">
            <a:avLst/>
          </a:prstGeom>
          <a:solidFill>
            <a:srgbClr val="0E7C9E"/>
          </a:solidFill>
          <a:ln/>
        </p:spPr>
      </p:sp>
      <p:sp>
        <p:nvSpPr>
          <p:cNvPr id="53" name="Shape 51"/>
          <p:cNvSpPr/>
          <p:nvPr/>
        </p:nvSpPr>
        <p:spPr>
          <a:xfrm>
            <a:off x="2935224" y="1883664"/>
            <a:ext cx="164592" cy="164592"/>
          </a:xfrm>
          <a:prstGeom prst="ellipse">
            <a:avLst/>
          </a:prstGeom>
          <a:solidFill>
            <a:srgbClr val="0E7C9E"/>
          </a:solidFill>
          <a:ln/>
        </p:spPr>
      </p:sp>
      <p:sp>
        <p:nvSpPr>
          <p:cNvPr id="54" name="Shape 52"/>
          <p:cNvSpPr/>
          <p:nvPr/>
        </p:nvSpPr>
        <p:spPr>
          <a:xfrm>
            <a:off x="3483864" y="1883664"/>
            <a:ext cx="164592" cy="164592"/>
          </a:xfrm>
          <a:prstGeom prst="ellipse">
            <a:avLst/>
          </a:prstGeom>
          <a:solidFill>
            <a:srgbClr val="0E7C9E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37744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streamlit-ui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97764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22960" y="35204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just a movable label pointing at a commit — creating one costs nothing.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5760720" y="1234440"/>
            <a:ext cx="2880360" cy="3383280"/>
          </a:xfrm>
          <a:prstGeom prst="roundRect">
            <a:avLst>
              <a:gd name="adj" fmla="val 1905"/>
            </a:avLst>
          </a:prstGeom>
          <a:solidFill>
            <a:srgbClr val="EAF0F9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598932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scenario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989320" y="182880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edit app.py at the same time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branches: overwritten work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branches: isolated work, controlled merge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use this workflow for real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Commands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 cover 95% of daily branching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280160"/>
            <a:ext cx="8138160" cy="1965960"/>
          </a:xfrm>
          <a:prstGeom prst="roundRect">
            <a:avLst>
              <a:gd name="adj" fmla="val 2326"/>
            </a:avLst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" y="1353312"/>
            <a:ext cx="7918704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                   # list branches — * marks where you are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streamlit-ui  # create AND switch in one step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main               # modern way to move between branches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streamlit-ui    # delete a branch after it's merged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02920" y="352044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FDF3E3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840480"/>
            <a:ext cx="457200" cy="45720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417320" y="3611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to build: 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 branch BEFORE you edit anything. Editing on the wrong branch is the #1 beginner mistake today.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Merge Conflict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isn't broken — it's asking you a question it can't answer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280160"/>
            <a:ext cx="5120640" cy="2286000"/>
          </a:xfrm>
          <a:prstGeom prst="roundRect">
            <a:avLst>
              <a:gd name="adj" fmla="val 2000"/>
            </a:avLst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" y="1353312"/>
            <a:ext cx="490118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from the branch you're 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from the branch merging IN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streamlit-ui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852160" y="1280160"/>
            <a:ext cx="2788920" cy="2286000"/>
          </a:xfrm>
          <a:prstGeom prst="roundRect">
            <a:avLst>
              <a:gd name="adj" fmla="val 2400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080760" y="1444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fix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080760" y="18288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markers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right content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+ git commit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02920" y="379476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8F6F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77240" y="37947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hatch: 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--abort returns everything to how it was before the merge. Nothing is lost.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Commands: log · diff · stash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professionals type dozens of times a day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280160"/>
            <a:ext cx="8138160" cy="1828800"/>
          </a:xfrm>
          <a:prstGeom prst="roundRect">
            <a:avLst>
              <a:gd name="adj" fmla="val 2500"/>
            </a:avLst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" y="1353312"/>
            <a:ext cx="791870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 --graph --all   # see the branch structure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                         # what changed since last commit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main..streamlit-ui       # what the branch changed vs main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 /  git stash pop       # shelve work-in-progress, restore later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02920" y="338328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F1ECF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77240" y="338328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stash: 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"Drop that, fix this bug NOW." Stash parks half-finished work without a garbage commit — switch branches, fix, come back, pop.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code enters main on every professional team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371600"/>
            <a:ext cx="1901952" cy="2377440"/>
          </a:xfrm>
          <a:prstGeom prst="roundRect">
            <a:avLst>
              <a:gd name="adj" fmla="val 2885"/>
            </a:avLst>
          </a:prstGeom>
          <a:solidFill>
            <a:srgbClr val="EAF0F9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179576" y="1600200"/>
            <a:ext cx="548640" cy="548640"/>
          </a:xfrm>
          <a:prstGeom prst="ellipse">
            <a:avLst/>
          </a:prstGeom>
          <a:solidFill>
            <a:srgbClr val="2C4870"/>
          </a:solidFill>
          <a:ln/>
        </p:spPr>
      </p:sp>
      <p:sp>
        <p:nvSpPr>
          <p:cNvPr id="45" name="Text 43"/>
          <p:cNvSpPr/>
          <p:nvPr/>
        </p:nvSpPr>
        <p:spPr>
          <a:xfrm>
            <a:off x="1179576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12648" y="22860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branch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12648" y="2816352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-u origin streamlit-ui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587752" y="1371600"/>
            <a:ext cx="1901952" cy="2377440"/>
          </a:xfrm>
          <a:prstGeom prst="roundRect">
            <a:avLst>
              <a:gd name="adj" fmla="val 2885"/>
            </a:avLst>
          </a:prstGeom>
          <a:solidFill>
            <a:srgbClr val="E8F6F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64408" y="1600200"/>
            <a:ext cx="548640" cy="548640"/>
          </a:xfrm>
          <a:prstGeom prst="ellipse">
            <a:avLst/>
          </a:prstGeom>
          <a:solidFill>
            <a:srgbClr val="0E7C9E"/>
          </a:solidFill>
          <a:ln/>
        </p:spPr>
      </p:sp>
      <p:sp>
        <p:nvSpPr>
          <p:cNvPr id="50" name="Text 48"/>
          <p:cNvSpPr/>
          <p:nvPr/>
        </p:nvSpPr>
        <p:spPr>
          <a:xfrm>
            <a:off x="326440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2697480" y="22860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 on GitHub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697480" y="2816352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pull request → describe the change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672584" y="1371600"/>
            <a:ext cx="1901952" cy="2377440"/>
          </a:xfrm>
          <a:prstGeom prst="roundRect">
            <a:avLst>
              <a:gd name="adj" fmla="val 2885"/>
            </a:avLst>
          </a:prstGeom>
          <a:solidFill>
            <a:srgbClr val="F1ECF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349240" y="1600200"/>
            <a:ext cx="548640" cy="548640"/>
          </a:xfrm>
          <a:prstGeom prst="ellipse">
            <a:avLst/>
          </a:prstGeom>
          <a:solidFill>
            <a:srgbClr val="6B4FA0"/>
          </a:solidFill>
          <a:ln/>
        </p:spPr>
      </p:sp>
      <p:sp>
        <p:nvSpPr>
          <p:cNvPr id="55" name="Text 53"/>
          <p:cNvSpPr/>
          <p:nvPr/>
        </p:nvSpPr>
        <p:spPr>
          <a:xfrm>
            <a:off x="5349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4782312" y="22860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782312" y="2816352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Changed tab · line comments · discussion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757416" y="1371600"/>
            <a:ext cx="1901952" cy="2377440"/>
          </a:xfrm>
          <a:prstGeom prst="roundRect">
            <a:avLst>
              <a:gd name="adj" fmla="val 2885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434072" y="1600200"/>
            <a:ext cx="548640" cy="548640"/>
          </a:xfrm>
          <a:prstGeom prst="ellipse">
            <a:avLst/>
          </a:prstGeom>
          <a:solidFill>
            <a:srgbClr val="1A8A5F"/>
          </a:solidFill>
          <a:ln/>
        </p:spPr>
      </p:sp>
      <p:sp>
        <p:nvSpPr>
          <p:cNvPr id="60" name="Text 58"/>
          <p:cNvSpPr/>
          <p:nvPr/>
        </p:nvSpPr>
        <p:spPr>
          <a:xfrm>
            <a:off x="7434072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6867144" y="22860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867144" y="2816352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button → branch lands in main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02920" y="4069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pushes to main directly. Today your Streamlit UI enters your project the professional way.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for ML Projects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OUT of the repository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280160"/>
            <a:ext cx="4206240" cy="3017520"/>
          </a:xfrm>
          <a:prstGeom prst="roundRect">
            <a:avLst>
              <a:gd name="adj" fmla="val 1515"/>
            </a:avLst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" y="1353312"/>
            <a:ext cx="398678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venv/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__pycache__/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.ipynb_checkpoints/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.DS_Store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*.pkl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!model/*.pkl   # exception!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4937760" y="1280160"/>
            <a:ext cx="370332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16636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exception?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5166360" y="18745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.pkl files are ignored — large &amp; regenerable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commits model/*.pkl deliberately: the repo is a self-contained portfolio piece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industry, models live in a registry (MLflow, S3), not Git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48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AF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MINI-PROJECT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" y="1783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3800" dirty="0"/>
          </a:p>
        </p:txBody>
      </p:sp>
      <p:sp>
        <p:nvSpPr>
          <p:cNvPr id="42" name="Text 40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5,572 real SMS messages  →  TF-IDF  →  Naive Bayes vs Random Forest  →  Streamlit  →  Pull Request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F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the next slides was validated on the real dataset.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Dataset: SMS Spam Collection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messages, real duplicates, real imbalance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325880"/>
            <a:ext cx="1901952" cy="137160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94360" y="14630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5,572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594360" y="20574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messages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87752" y="1325880"/>
            <a:ext cx="1901952" cy="1371600"/>
          </a:xfrm>
          <a:prstGeom prst="roundRect">
            <a:avLst>
              <a:gd name="adj" fmla="val 4000"/>
            </a:avLst>
          </a:prstGeom>
          <a:solidFill>
            <a:srgbClr val="FDF3E3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679192" y="14630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2679192" y="20574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duplicates removed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72584" y="1325880"/>
            <a:ext cx="1901952" cy="1371600"/>
          </a:xfrm>
          <a:prstGeom prst="roundRect">
            <a:avLst>
              <a:gd name="adj" fmla="val 4000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764024" y="14630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5,169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4764024" y="20574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messages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757416" y="1325880"/>
            <a:ext cx="1901952" cy="1371600"/>
          </a:xfrm>
          <a:prstGeom prst="roundRect">
            <a:avLst>
              <a:gd name="adj" fmla="val 4000"/>
            </a:avLst>
          </a:prstGeom>
          <a:solidFill>
            <a:srgbClr val="FCEAE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848856" y="14630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 / 12.6</a:t>
            </a:r>
            <a:endParaRPr lang="en-US" sz="2100" dirty="0"/>
          </a:p>
        </p:txBody>
      </p:sp>
      <p:sp>
        <p:nvSpPr>
          <p:cNvPr id="54" name="Text 52"/>
          <p:cNvSpPr/>
          <p:nvPr/>
        </p:nvSpPr>
        <p:spPr>
          <a:xfrm>
            <a:off x="6848856" y="20574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ham vs spam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02920" y="2971800"/>
            <a:ext cx="8138160" cy="1051560"/>
          </a:xfrm>
          <a:prstGeom prst="roundRect">
            <a:avLst>
              <a:gd name="adj" fmla="val 4348"/>
            </a:avLst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" y="3044952"/>
            <a:ext cx="791870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".../justmarkham/pycon-2016-tutorial/master/data/sms.tsv"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pd.read_csv(url, sep="\t", header=None, names=["label", "message"])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df.drop_duplicates().reset_index(drop=True)   # 5572 -&gt; 5169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02920" y="4206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drop duplicates BEFORE splitting? Identical messages in train AND test = leakage = inflated metrics.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What Does Spam Look Like?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required visuals, each with a plain-English markdown cell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28016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AF0F9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77240" y="138988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3566160" y="13898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 ham / 12.6% spam — accuracy alone will lie to us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02920" y="242316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8F6F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77240" y="253288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length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3566160" y="25328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≈ 71 chars · spam ≈ 138 chars — spam is 2× longer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502920" y="356616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1ECF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77240" y="367588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 in spam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3566160" y="36758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"free", "call", "txt", "win", "claim" dominate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Baseline — Again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10–11 discipline never goes away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325880"/>
            <a:ext cx="3931920" cy="3108960"/>
          </a:xfrm>
          <a:prstGeom prst="roundRect">
            <a:avLst>
              <a:gd name="adj" fmla="val 1765"/>
            </a:avLst>
          </a:prstGeom>
          <a:solidFill>
            <a:srgbClr val="FCEAE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315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Do-nothing model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31520" y="1920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</a:t>
            </a:r>
            <a:endParaRPr lang="en-US" sz="4400" dirty="0"/>
          </a:p>
        </p:txBody>
      </p:sp>
      <p:sp>
        <p:nvSpPr>
          <p:cNvPr id="46" name="Text 44"/>
          <p:cNvSpPr/>
          <p:nvPr/>
        </p:nvSpPr>
        <p:spPr>
          <a:xfrm>
            <a:off x="73152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just by always predicting "ham"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3152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"97% accurate" model is only ~10 points above doing nothing.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09160" y="1325880"/>
            <a:ext cx="3931920" cy="3108960"/>
          </a:xfrm>
          <a:prstGeom prst="roundRect">
            <a:avLst>
              <a:gd name="adj" fmla="val 1765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93776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selection metric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4937760" y="1920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(spam)</a:t>
            </a:r>
            <a:endParaRPr lang="en-US" sz="4000" dirty="0"/>
          </a:p>
        </p:txBody>
      </p:sp>
      <p:sp>
        <p:nvSpPr>
          <p:cNvPr id="51" name="Text 49"/>
          <p:cNvSpPr/>
          <p:nvPr/>
        </p:nvSpPr>
        <p:spPr>
          <a:xfrm>
            <a:off x="4937760" y="2834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precision (don't block real mail) and recall (catch the spam)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937760" y="34747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F1 + baseline in the README, not accuracy alone.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in One Line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5,169 text messages into numbers a model can use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28016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AF0F9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77240" y="128016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how often the word appears in THIS message  ×  penalty for appearing EVERYWHERE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02920" y="2606040"/>
            <a:ext cx="8138160" cy="1234440"/>
          </a:xfrm>
          <a:prstGeom prst="roundRect">
            <a:avLst>
              <a:gd name="adj" fmla="val 3704"/>
            </a:avLst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" y="2679192"/>
            <a:ext cx="791870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tfidf = TfidfVectorizer(max_features=5000, stop_words="english",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ngram_range=(1, 2))   # unigrams + bigrams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X_train_t = tfidf.fit_transform(X_train)   # -&gt; (4135, 5000) sparse matrix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02920" y="4069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"free" scores high in spam because it's frequent THERE but not EVERYWHERE.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Fit on Train, Transform on Test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twice — fitting on test data is leakage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325880"/>
            <a:ext cx="8138160" cy="1371600"/>
          </a:xfrm>
          <a:prstGeom prst="roundRect">
            <a:avLst>
              <a:gd name="adj" fmla="val 3333"/>
            </a:avLst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" y="1399032"/>
            <a:ext cx="79187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X_train_t = tfidf.fit_transform(X_train)   # FIT on train only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X_test_t  = tfidf.transform(X_test)        # TRANSFORM only — never fit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02920" y="297180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520440"/>
            <a:ext cx="457200" cy="45720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417320" y="306324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learned from training data only — the test set stays truly unseen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4709160" y="297180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CEAE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520440"/>
            <a:ext cx="457200" cy="45720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5623560" y="306324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fit_transform on the full dataset = the model has peeked at test vocabulary = inflated metrics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Two Models, Time Them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features, very different machines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280160"/>
            <a:ext cx="8138160" cy="2606040"/>
          </a:xfrm>
          <a:prstGeom prst="roundRect">
            <a:avLst>
              <a:gd name="adj" fmla="val 1754"/>
            </a:avLst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" y="1353312"/>
            <a:ext cx="791870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sklearn.naive_bayes import MultinomialNB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model in [("Naive Bayes", MultinomialNB()),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("Random Forest",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RandomForestClassifier(n_estimators=100, random_state=42))]: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t0 = time.time(); model.fit(X_train_t, y_train)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print(name, f"trained in {time.time()-t0:.3f}s")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print(classification_report(y_test, model.predict(X_test_t), digits=3))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clock: NB finishes in milliseconds, RF takes about a second. That gap becomes the whole discussion.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— Validated on Real Data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random_state=42, stratified 80/20 split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8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8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87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(spam)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(spam)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(spam)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hape 41"/>
          <p:cNvSpPr/>
          <p:nvPr/>
        </p:nvSpPr>
        <p:spPr>
          <a:xfrm>
            <a:off x="6263640" y="1280160"/>
            <a:ext cx="2377440" cy="2880360"/>
          </a:xfrm>
          <a:prstGeom prst="roundRect">
            <a:avLst>
              <a:gd name="adj" fmla="val 2308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508760"/>
            <a:ext cx="640080" cy="64008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640080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by F1:</a:t>
            </a:r>
            <a:endParaRPr lang="en-US" sz="1250" dirty="0"/>
          </a:p>
        </p:txBody>
      </p:sp>
      <p:sp>
        <p:nvSpPr>
          <p:cNvPr id="47" name="Text 43"/>
          <p:cNvSpPr/>
          <p:nvPr/>
        </p:nvSpPr>
        <p:spPr>
          <a:xfrm>
            <a:off x="640080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48" name="Text 44"/>
          <p:cNvSpPr/>
          <p:nvPr/>
        </p:nvSpPr>
        <p:spPr>
          <a:xfrm>
            <a:off x="640080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0.908 vs 0.861</a:t>
            </a:r>
            <a:endParaRPr lang="en-US" sz="1250" dirty="0"/>
          </a:p>
        </p:txBody>
      </p:sp>
      <p:sp>
        <p:nvSpPr>
          <p:cNvPr id="49" name="Text 45"/>
          <p:cNvSpPr/>
          <p:nvPr/>
        </p:nvSpPr>
        <p:spPr>
          <a:xfrm>
            <a:off x="640080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at ~400× the training cost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Confusion Matrices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blocked ZERO legitimate messages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40080" y="1207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40080" y="1572768"/>
            <a:ext cx="1572768" cy="1078992"/>
          </a:xfrm>
          <a:prstGeom prst="roundRect">
            <a:avLst>
              <a:gd name="adj" fmla="val 5085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0080" y="166420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903</a:t>
            </a:r>
            <a:endParaRPr lang="en-US" sz="2300" dirty="0"/>
          </a:p>
        </p:txBody>
      </p:sp>
      <p:sp>
        <p:nvSpPr>
          <p:cNvPr id="46" name="Text 44"/>
          <p:cNvSpPr/>
          <p:nvPr/>
        </p:nvSpPr>
        <p:spPr>
          <a:xfrm>
            <a:off x="640080" y="223113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— ham kept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331720" y="1572768"/>
            <a:ext cx="1572768" cy="1078992"/>
          </a:xfrm>
          <a:prstGeom prst="roundRect">
            <a:avLst>
              <a:gd name="adj" fmla="val 5085"/>
            </a:avLst>
          </a:prstGeom>
          <a:solidFill>
            <a:srgbClr val="FCEAE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331720" y="166420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300" dirty="0"/>
          </a:p>
        </p:txBody>
      </p:sp>
      <p:sp>
        <p:nvSpPr>
          <p:cNvPr id="49" name="Text 47"/>
          <p:cNvSpPr/>
          <p:nvPr/>
        </p:nvSpPr>
        <p:spPr>
          <a:xfrm>
            <a:off x="2331720" y="223113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— ham blocked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0080" y="2779776"/>
            <a:ext cx="1572768" cy="1078992"/>
          </a:xfrm>
          <a:prstGeom prst="roundRect">
            <a:avLst>
              <a:gd name="adj" fmla="val 5085"/>
            </a:avLst>
          </a:prstGeom>
          <a:solidFill>
            <a:srgbClr val="FDF3E3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0080" y="2871216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300" dirty="0"/>
          </a:p>
        </p:txBody>
      </p:sp>
      <p:sp>
        <p:nvSpPr>
          <p:cNvPr id="52" name="Text 50"/>
          <p:cNvSpPr/>
          <p:nvPr/>
        </p:nvSpPr>
        <p:spPr>
          <a:xfrm>
            <a:off x="640080" y="343814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— spam missed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331720" y="2779776"/>
            <a:ext cx="1572768" cy="1078992"/>
          </a:xfrm>
          <a:prstGeom prst="roundRect">
            <a:avLst>
              <a:gd name="adj" fmla="val 5085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331720" y="2871216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2300" dirty="0"/>
          </a:p>
        </p:txBody>
      </p:sp>
      <p:sp>
        <p:nvSpPr>
          <p:cNvPr id="55" name="Text 53"/>
          <p:cNvSpPr/>
          <p:nvPr/>
        </p:nvSpPr>
        <p:spPr>
          <a:xfrm>
            <a:off x="2331720" y="343814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— spam caught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20640" y="1207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5120640" y="1572768"/>
            <a:ext cx="1572768" cy="1078992"/>
          </a:xfrm>
          <a:prstGeom prst="roundRect">
            <a:avLst>
              <a:gd name="adj" fmla="val 5085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120640" y="166420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903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5120640" y="223113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— ham kept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12280" y="1572768"/>
            <a:ext cx="1572768" cy="1078992"/>
          </a:xfrm>
          <a:prstGeom prst="roundRect">
            <a:avLst>
              <a:gd name="adj" fmla="val 5085"/>
            </a:avLst>
          </a:prstGeom>
          <a:solidFill>
            <a:srgbClr val="FCEAE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812280" y="166420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6812280" y="223113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— ham blocked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120640" y="2779776"/>
            <a:ext cx="1572768" cy="1078992"/>
          </a:xfrm>
          <a:prstGeom prst="roundRect">
            <a:avLst>
              <a:gd name="adj" fmla="val 5085"/>
            </a:avLst>
          </a:prstGeom>
          <a:solidFill>
            <a:srgbClr val="FDF3E3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5120640" y="2871216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300" dirty="0"/>
          </a:p>
        </p:txBody>
      </p:sp>
      <p:sp>
        <p:nvSpPr>
          <p:cNvPr id="65" name="Text 63"/>
          <p:cNvSpPr/>
          <p:nvPr/>
        </p:nvSpPr>
        <p:spPr>
          <a:xfrm>
            <a:off x="5120640" y="343814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— spam missed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812280" y="2779776"/>
            <a:ext cx="1572768" cy="1078992"/>
          </a:xfrm>
          <a:prstGeom prst="roundRect">
            <a:avLst>
              <a:gd name="adj" fmla="val 5085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812280" y="2871216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2300" dirty="0"/>
          </a:p>
        </p:txBody>
      </p:sp>
      <p:sp>
        <p:nvSpPr>
          <p:cNvPr id="68" name="Text 66"/>
          <p:cNvSpPr/>
          <p:nvPr/>
        </p:nvSpPr>
        <p:spPr>
          <a:xfrm>
            <a:off x="6812280" y="343814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— spam caught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02920" y="42245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0 for both → perfect precision. A false positive means a REAL message vanishes — the one error a spam filter must not make.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Discussion: Is 400× Worth It?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right answer — argue it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325880"/>
            <a:ext cx="3931920" cy="3108960"/>
          </a:xfrm>
          <a:prstGeom prst="roundRect">
            <a:avLst>
              <a:gd name="adj" fmla="val 1765"/>
            </a:avLst>
          </a:prstGeom>
          <a:solidFill>
            <a:srgbClr val="E8F6F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315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for Naive Bayes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73152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in milliseconds — retrain constantly at scale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Gmail-scale systems prize speed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 fewer spams caught (32 vs 22 missed)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709160" y="1325880"/>
            <a:ext cx="3931920" cy="3108960"/>
          </a:xfrm>
          <a:prstGeom prst="roundRect">
            <a:avLst>
              <a:gd name="adj" fmla="val 1765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93776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for Random Forest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493776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F1: 0.908 vs 0.861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second is nothing for a fixed offline model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recall — 10 more spams stopped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Both Artefacts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vectoriser is as important as the model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325880"/>
            <a:ext cx="8138160" cy="1097280"/>
          </a:xfrm>
          <a:prstGeom prst="roundRect">
            <a:avLst>
              <a:gd name="adj" fmla="val 4167"/>
            </a:avLst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" y="1399032"/>
            <a:ext cx="79187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joblib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joblib.dump(model_rf, "model/spam_classifier.pkl")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joblib.dump(tfidf,    "model/tfidf_vectorizer.pkl")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502920" y="2743200"/>
            <a:ext cx="8138160" cy="1645920"/>
          </a:xfrm>
          <a:prstGeom prst="roundRect">
            <a:avLst>
              <a:gd name="adj" fmla="val 3333"/>
            </a:avLst>
          </a:prstGeom>
          <a:solidFill>
            <a:srgbClr val="FDF3E3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291840"/>
            <a:ext cx="548640" cy="54864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554480" y="28803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without the SAME FITTED vectoriser are garbage. </a:t>
            </a:r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vectoriser builds a different vocabulary — every column means something else. Save both, load both, always.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Use Today's Git Skills For Real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is built on a feature branch — not on main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325880"/>
            <a:ext cx="8138160" cy="685800"/>
          </a:xfrm>
          <a:prstGeom prst="roundRect">
            <a:avLst>
              <a:gd name="adj" fmla="val 6667"/>
            </a:avLst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" y="1399032"/>
            <a:ext cx="79187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streamlit-ui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02920" y="23774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AF0F9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02920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331720" y="237744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2651760" y="23774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8F6F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651760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app.py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480560" y="237744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800600" y="23774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1ECF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800600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+ push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629400" y="237744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6949440" y="23774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949440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→ merge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02920" y="3657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branch → PR → merge loop is today's real deliverable as much as the classifier itself.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The Whole UI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Streamlit: a working web app in ~15 lines of Python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188720"/>
            <a:ext cx="8138160" cy="3063240"/>
          </a:xfrm>
          <a:prstGeom prst="roundRect">
            <a:avLst>
              <a:gd name="adj" fmla="val 1493"/>
            </a:avLst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" y="1261872"/>
            <a:ext cx="7918704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streamlit as st, joblib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joblib.load("model/spam_classifier.pkl")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tfidf = joblib.load("model/tfidf_vectorizer.pkl")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st.title("SMS Spam Classifier")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st.text_area("Paste a message:")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st.button("Classify") and msg.strip():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tfidf.transform([msg])          # transform — NOT fit_transform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 = model.predict(X)[0]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 = model.predict_proba(X)[0][pred]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(st.error if pred == 1 else st.success)(f"{'SPAM' if pred else 'HAM'} — {conf:.1%}")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2920" y="43708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with:  streamlit run app.py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 — Validated Predictions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in front of the class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37160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FCEAE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772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"FREE entry to win $1000 cash! Text WIN to 80488 now!"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040880" y="18288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C13A3A"/>
          </a:solidFill>
          <a:ln/>
        </p:spPr>
      </p:sp>
      <p:sp>
        <p:nvSpPr>
          <p:cNvPr id="46" name="Text 44"/>
          <p:cNvSpPr/>
          <p:nvPr/>
        </p:nvSpPr>
        <p:spPr>
          <a:xfrm>
            <a:off x="704088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SPAM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2920" y="283464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77240" y="29718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"Hey, are we still on for lunch tomorrow?"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040880" y="32918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A8A5F"/>
          </a:solidFill>
          <a:ln/>
        </p:spPr>
      </p:sp>
      <p:sp>
        <p:nvSpPr>
          <p:cNvPr id="50" name="Text 48"/>
          <p:cNvSpPr/>
          <p:nvPr/>
        </p:nvSpPr>
        <p:spPr>
          <a:xfrm>
            <a:off x="7040880" y="3291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HAM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It: PR, Merge, README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15 minutes close out Week 2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02920" y="1280160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-u origin streamlit-ui  →  open the Pull Request on GitHub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one review comment (yours or a neighbour's) — practise the ritual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→ git checkout main → git pull → see the merge commit in git log --oneline --graph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README: description, F1 score with baseline, screenshot/GIF, install &amp; run instructions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502920" y="365760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AF0F9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904488"/>
            <a:ext cx="457200" cy="45720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417320" y="365760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(15% of grade): 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F1 reporting · working Streamlit UI · merged PR visible in the repo's PR tab · clean history.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Today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these before they cost you 20 minutes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23444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CEAE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31520" y="1234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TF-IDF on the full dataset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349240" y="123444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3212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fit_transform on train, transform on test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" y="1929384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CEAE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31520" y="192938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before dropping duplicates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349240" y="1929384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53212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drop_duplicates() FIRST — else leakage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02920" y="2624328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CEAE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31520" y="26243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 accuracy on an 87/13 dataset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349240" y="262432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53212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F1 (spam) + the 87.3% baseline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02920" y="3319272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CEAE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1520" y="33192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files on the wrong branch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349240" y="3319272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532120" y="33192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 before you touch anything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02920" y="4014216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CEAE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31520" y="401421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model without the vectoriser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349240" y="4014216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532120" y="40142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load BOTH .pkl files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feature, second branch, second PR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1371600"/>
            <a:ext cx="8138160" cy="2194560"/>
          </a:xfrm>
          <a:prstGeom prst="roundRect">
            <a:avLst>
              <a:gd name="adj" fmla="val 2500"/>
            </a:avLst>
          </a:prstGeom>
          <a:solidFill>
            <a:srgbClr val="F1ECFA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731520" cy="73152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920240" y="1554480"/>
            <a:ext cx="649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slider (0.5 – 0.95). </a:t>
            </a:r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whose spam probability falls below the slider show "Uncertain — review manually" instead of a hard label. Build it on a NEW feature branch and merge via a second Pull Request.</a:t>
            </a:r>
            <a:endParaRPr lang="en-US" sz="1450" dirty="0"/>
          </a:p>
        </p:txBody>
      </p:sp>
      <p:sp>
        <p:nvSpPr>
          <p:cNvPr id="46" name="Text 43"/>
          <p:cNvSpPr/>
          <p:nvPr/>
        </p:nvSpPr>
        <p:spPr>
          <a:xfrm>
            <a:off x="502920" y="38862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14: spam classifier shipped via PR"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One Connected Body of Work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seven disconnected days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384048" y="2103120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EAF0F9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84048" y="2103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 NumPy Pandas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463040" y="2103120"/>
            <a:ext cx="146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591056" y="2103120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EAF0F9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591056" y="2103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D9 EDA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670048" y="2103120"/>
            <a:ext cx="146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798064" y="2103120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EAF0F9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98064" y="2103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 Regression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877056" y="2103120"/>
            <a:ext cx="146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005072" y="2103120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EAF0F9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005072" y="2103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D11 Classif.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84064" y="2103120"/>
            <a:ext cx="146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212080" y="2103120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EAF0F9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212080" y="2103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 Clustering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91072" y="2103120"/>
            <a:ext cx="146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419088" y="2103120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EAF0F9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419088" y="2103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D13 Deploy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498080" y="2103120"/>
            <a:ext cx="146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626096" y="2103120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E9F8F0"/>
          </a:solidFill>
          <a:ln/>
          <a:effectLst>
            <a:outerShdw sx="100000" sy="100000" kx="0" ky="0" algn="bl" rotWithShape="0" blurRad="101600" dist="38100" dir="8100000">
              <a:srgbClr val="1A2233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626096" y="2103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D14 Capstone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2920" y="3383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insight → models → structure → deployment → a shipped, reviewed, merged product.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C48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3D5F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AF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WEEK 3 BEGINS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3800" dirty="0"/>
          </a:p>
        </p:txBody>
      </p:sp>
      <p:sp>
        <p:nvSpPr>
          <p:cNvPr id="42" name="Text 40"/>
          <p:cNvSpPr/>
          <p:nvPr/>
        </p:nvSpPr>
        <p:spPr>
          <a:xfrm>
            <a:off x="640080" y="3291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· activation functions · forward propagation · backpropagation — an ANN from scratch in NumPy, rebuilt in Keras. TensorFlow replaces scikit-learn as the primary tool.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F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with Week 2 closed out: Spam Classifier merged to main, README complete.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2026-07-22T08:15:01Z</dcterms:created>
  <dcterms:modified xsi:type="dcterms:W3CDTF">2026-07-22T08:15:01Z</dcterms:modified>
</cp:coreProperties>
</file>