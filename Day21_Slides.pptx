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2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pic>
        <p:nvPicPr>
          <p:cNvPr id="18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777240"/>
            <a:ext cx="777240" cy="777240"/>
          </a:xfrm>
          <a:prstGeom prst="rect">
            <a:avLst/>
          </a:prstGeom>
        </p:spPr>
      </p:pic>
      <p:sp>
        <p:nvSpPr>
          <p:cNvPr id="183" name="Text 180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  ·  WEEK 3</a:t>
            </a:r>
            <a:endParaRPr lang="en-US" sz="1400" dirty="0"/>
          </a:p>
        </p:txBody>
      </p:sp>
      <p:sp>
        <p:nvSpPr>
          <p:cNvPr id="184" name="Text 181"/>
          <p:cNvSpPr/>
          <p:nvPr/>
        </p:nvSpPr>
        <p:spPr>
          <a:xfrm>
            <a:off x="640080" y="1783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Deployment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FastAPI</a:t>
            </a:r>
            <a:endParaRPr lang="en-US" sz="3200" dirty="0"/>
          </a:p>
        </p:txBody>
      </p:sp>
      <p:sp>
        <p:nvSpPr>
          <p:cNvPr id="185" name="Text 182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in, JSON out. Wrapping a trained model behind a real REST API + Streamlit frontend.</a:t>
            </a:r>
            <a:endParaRPr lang="en-US" sz="1500" dirty="0"/>
          </a:p>
        </p:txBody>
      </p:sp>
      <p:sp>
        <p:nvSpPr>
          <p:cNvPr id="186" name="Text 183"/>
          <p:cNvSpPr/>
          <p:nvPr/>
        </p:nvSpPr>
        <p:spPr>
          <a:xfrm>
            <a:off x="64008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Python · AI · ML Curriculum  ·  Direct foundation for Day 22 capstone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exact deployment skeleton Day 22 sits on top of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188720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731520" y="14173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CEAFB"/>
          </a:solidFill>
          <a:ln/>
        </p:spPr>
      </p:sp>
      <p:sp>
        <p:nvSpPr>
          <p:cNvPr id="187" name="Text 185"/>
          <p:cNvSpPr/>
          <p:nvPr/>
        </p:nvSpPr>
        <p:spPr>
          <a:xfrm>
            <a:off x="731520" y="1417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0:40</a:t>
            </a:r>
            <a:endParaRPr lang="en-US" sz="1050" dirty="0"/>
          </a:p>
        </p:txBody>
      </p:sp>
      <p:sp>
        <p:nvSpPr>
          <p:cNvPr id="188" name="Text 186"/>
          <p:cNvSpPr/>
          <p:nvPr/>
        </p:nvSpPr>
        <p:spPr>
          <a:xfrm>
            <a:off x="2331720" y="1243584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500" dirty="0"/>
          </a:p>
        </p:txBody>
      </p:sp>
      <p:sp>
        <p:nvSpPr>
          <p:cNvPr id="189" name="Text 187"/>
          <p:cNvSpPr/>
          <p:nvPr/>
        </p:nvSpPr>
        <p:spPr>
          <a:xfrm>
            <a:off x="2331720" y="159105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UploadFile · BytesIO+PIL · preprocessing consistency · async · CORS</a:t>
            </a:r>
            <a:endParaRPr lang="en-US" sz="1100" dirty="0"/>
          </a:p>
        </p:txBody>
      </p:sp>
      <p:sp>
        <p:nvSpPr>
          <p:cNvPr id="190" name="Shape 188"/>
          <p:cNvSpPr/>
          <p:nvPr/>
        </p:nvSpPr>
        <p:spPr>
          <a:xfrm>
            <a:off x="502920" y="2084832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1" name="Shape 189"/>
          <p:cNvSpPr/>
          <p:nvPr/>
        </p:nvSpPr>
        <p:spPr>
          <a:xfrm>
            <a:off x="731520" y="231343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3EDFD"/>
          </a:solidFill>
          <a:ln/>
        </p:spPr>
      </p:sp>
      <p:sp>
        <p:nvSpPr>
          <p:cNvPr id="192" name="Text 190"/>
          <p:cNvSpPr/>
          <p:nvPr/>
        </p:nvSpPr>
        <p:spPr>
          <a:xfrm>
            <a:off x="731520" y="2313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0:40 – 1:20</a:t>
            </a:r>
            <a:endParaRPr lang="en-US" sz="1050" dirty="0"/>
          </a:p>
        </p:txBody>
      </p:sp>
      <p:sp>
        <p:nvSpPr>
          <p:cNvPr id="193" name="Text 191"/>
          <p:cNvSpPr/>
          <p:nvPr/>
        </p:nvSpPr>
        <p:spPr>
          <a:xfrm>
            <a:off x="2331720" y="213969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API</a:t>
            </a:r>
            <a:endParaRPr lang="en-US" sz="1500" dirty="0"/>
          </a:p>
        </p:txBody>
      </p:sp>
      <p:sp>
        <p:nvSpPr>
          <p:cNvPr id="194" name="Text 192"/>
          <p:cNvSpPr/>
          <p:nvPr/>
        </p:nvSpPr>
        <p:spPr>
          <a:xfrm>
            <a:off x="2331720" y="248716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model, build /predict, test in Swagger UI + curl</a:t>
            </a:r>
            <a:endParaRPr lang="en-US" sz="1100" dirty="0"/>
          </a:p>
        </p:txBody>
      </p:sp>
      <p:sp>
        <p:nvSpPr>
          <p:cNvPr id="195" name="Shape 193"/>
          <p:cNvSpPr/>
          <p:nvPr/>
        </p:nvSpPr>
        <p:spPr>
          <a:xfrm>
            <a:off x="502920" y="2980944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6" name="Shape 194"/>
          <p:cNvSpPr/>
          <p:nvPr/>
        </p:nvSpPr>
        <p:spPr>
          <a:xfrm>
            <a:off x="731520" y="320954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197" name="Text 195"/>
          <p:cNvSpPr/>
          <p:nvPr/>
        </p:nvSpPr>
        <p:spPr>
          <a:xfrm>
            <a:off x="731520" y="32095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 – 1:45</a:t>
            </a:r>
            <a:endParaRPr lang="en-US" sz="1050" dirty="0"/>
          </a:p>
        </p:txBody>
      </p:sp>
      <p:sp>
        <p:nvSpPr>
          <p:cNvPr id="198" name="Text 196"/>
          <p:cNvSpPr/>
          <p:nvPr/>
        </p:nvSpPr>
        <p:spPr>
          <a:xfrm>
            <a:off x="2331720" y="303580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frontend</a:t>
            </a:r>
            <a:endParaRPr lang="en-US" sz="1500" dirty="0"/>
          </a:p>
        </p:txBody>
      </p:sp>
      <p:sp>
        <p:nvSpPr>
          <p:cNvPr id="199" name="Text 197"/>
          <p:cNvSpPr/>
          <p:nvPr/>
        </p:nvSpPr>
        <p:spPr>
          <a:xfrm>
            <a:off x="2331720" y="338328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upload UI, bar chart of predictions</a:t>
            </a:r>
            <a:endParaRPr lang="en-US" sz="1100" dirty="0"/>
          </a:p>
        </p:txBody>
      </p:sp>
      <p:sp>
        <p:nvSpPr>
          <p:cNvPr id="200" name="Shape 198"/>
          <p:cNvSpPr/>
          <p:nvPr/>
        </p:nvSpPr>
        <p:spPr>
          <a:xfrm>
            <a:off x="502920" y="3877056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1" name="Shape 199"/>
          <p:cNvSpPr/>
          <p:nvPr/>
        </p:nvSpPr>
        <p:spPr>
          <a:xfrm>
            <a:off x="731520" y="41056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DF2E2"/>
          </a:solidFill>
          <a:ln/>
        </p:spPr>
      </p:sp>
      <p:sp>
        <p:nvSpPr>
          <p:cNvPr id="202" name="Text 200"/>
          <p:cNvSpPr/>
          <p:nvPr/>
        </p:nvSpPr>
        <p:spPr>
          <a:xfrm>
            <a:off x="731520" y="41056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 – 2:00</a:t>
            </a:r>
            <a:endParaRPr lang="en-US" sz="1050" dirty="0"/>
          </a:p>
        </p:txBody>
      </p:sp>
      <p:sp>
        <p:nvSpPr>
          <p:cNvPr id="203" name="Text 201"/>
          <p:cNvSpPr/>
          <p:nvPr/>
        </p:nvSpPr>
        <p:spPr>
          <a:xfrm>
            <a:off x="2331720" y="393192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challenge</a:t>
            </a:r>
            <a:endParaRPr lang="en-US" sz="1500" dirty="0"/>
          </a:p>
        </p:txBody>
      </p:sp>
      <p:sp>
        <p:nvSpPr>
          <p:cNvPr id="204" name="Text 202"/>
          <p:cNvSpPr/>
          <p:nvPr/>
        </p:nvSpPr>
        <p:spPr>
          <a:xfrm>
            <a:off x="2331720" y="427939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servers live at once · async /batch endpoint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Black-Box Deployment Model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doesn't know or care who's calling it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71600"/>
            <a:ext cx="8138160" cy="1554480"/>
          </a:xfrm>
          <a:prstGeom prst="roundRect">
            <a:avLst>
              <a:gd name="adj" fmla="val 3529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37160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goes in (image) → fixed, predictable shape → prediction comes out (JSON)</a:t>
            </a:r>
            <a:endParaRPr lang="en-US" sz="1800" dirty="0"/>
          </a:p>
        </p:txBody>
      </p:sp>
      <p:sp>
        <p:nvSpPr>
          <p:cNvPr id="187" name="Shape 185"/>
          <p:cNvSpPr/>
          <p:nvPr/>
        </p:nvSpPr>
        <p:spPr>
          <a:xfrm>
            <a:off x="502920" y="3108960"/>
            <a:ext cx="8138160" cy="1280160"/>
          </a:xfrm>
          <a:prstGeom prst="roundRect">
            <a:avLst>
              <a:gd name="adj" fmla="val 4286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310896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Notebook, website, phone app — all invisible to the caller. Everything about training and architecture is hidden behind the interface.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Advanced: UploadFile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 took JSON numbers. Today takes a real file.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097280"/>
          </a:xfrm>
          <a:prstGeom prst="roundRect">
            <a:avLst>
              <a:gd name="adj" fmla="val 4167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53312"/>
            <a:ext cx="791870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FastAPI, File, UploadFile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@app.post("/predict")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predict(file: UploadFile = File(...)):</a:t>
            </a:r>
            <a:endParaRPr lang="en-US" sz="1250" dirty="0"/>
          </a:p>
        </p:txBody>
      </p:sp>
      <p:sp>
        <p:nvSpPr>
          <p:cNvPr id="187" name="Shape 185"/>
          <p:cNvSpPr/>
          <p:nvPr/>
        </p:nvSpPr>
        <p:spPr>
          <a:xfrm>
            <a:off x="502920" y="2606040"/>
            <a:ext cx="8138160" cy="1691640"/>
          </a:xfrm>
          <a:prstGeom prst="roundRect">
            <a:avLst>
              <a:gd name="adj" fmla="val 3243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606040"/>
            <a:ext cx="7589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File(...) </a:t>
            </a:r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required file upload. UploadFile gives .filename, .content_type, and .read() — raw bytes that still need decoding into something the model understands.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 Uploaded Image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BytesIO → PIL → NumPy, line by line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1828800"/>
          </a:xfrm>
          <a:prstGeom prst="roundRect">
            <a:avLst>
              <a:gd name="adj" fmla="val 2500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io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PIL import Image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= Image.open(io.BytesIO(contents)).convert("RGB")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= img.resize((64, 64))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np.array(img, dtype="float32") / 255.0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np.expand_dims(arr, axis=0)   # batch dim: (1,64,64,3)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502920" y="3246120"/>
            <a:ext cx="8138160" cy="1417320"/>
          </a:xfrm>
          <a:prstGeom prst="roundRect">
            <a:avLst>
              <a:gd name="adj" fmla="val 3871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3246120"/>
            <a:ext cx="7589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.convert('RGB') guards against grayscale/RGBA uploads. resize() and /255.0 must mirror training EXACTLY — expand_dims adds the batch dim every Keras model expects.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Invisible Bug: Preprocessing Mismatch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crash. No error. Just quietly wrong predictions.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71600"/>
            <a:ext cx="8138160" cy="2560320"/>
          </a:xfrm>
          <a:prstGeom prst="roundRect">
            <a:avLst>
              <a:gd name="adj" fmla="val 2143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pic>
        <p:nvPicPr>
          <p:cNvPr id="18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548640" cy="548640"/>
          </a:xfrm>
          <a:prstGeom prst="rect">
            <a:avLst/>
          </a:prstGeom>
        </p:spPr>
      </p:pic>
      <p:sp>
        <p:nvSpPr>
          <p:cNvPr id="187" name="Text 184"/>
          <p:cNvSpPr/>
          <p:nvPr/>
        </p:nvSpPr>
        <p:spPr>
          <a:xfrm>
            <a:off x="1554480" y="1371600"/>
            <a:ext cx="6858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3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common, hardest-to-spot bugs in deployed ML. </a:t>
            </a:r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64x64, pixels scaled 0-1? The API must resize to 64x64 and scale to 0-1 — not 128x128, not raw 0-255. The model has no way to tell you it's receiving different data than it learned from.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Endpoints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other requests while waiting on I/O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005840"/>
          </a:xfrm>
          <a:prstGeom prst="roundRect">
            <a:avLst>
              <a:gd name="adj" fmla="val 4545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53312"/>
            <a:ext cx="79187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predict(file: UploadFile = File(...)):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contents = await file.read()</a:t>
            </a:r>
            <a:endParaRPr lang="en-US" sz="1300" dirty="0"/>
          </a:p>
        </p:txBody>
      </p:sp>
      <p:sp>
        <p:nvSpPr>
          <p:cNvPr id="187" name="Shape 185"/>
          <p:cNvSpPr/>
          <p:nvPr/>
        </p:nvSpPr>
        <p:spPr>
          <a:xfrm>
            <a:off x="502920" y="2514600"/>
            <a:ext cx="8138160" cy="1554480"/>
          </a:xfrm>
          <a:prstGeom prst="roundRect">
            <a:avLst>
              <a:gd name="adj" fmla="val 3529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51460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lightweight endpoint the difference is invisible. It matters once many requests arrive concurrently — the server isn't blocked idle waiting for one slow file read.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Middleware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Streamlit's request is silently blocked — by the browser, not the server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188720"/>
          </a:xfrm>
          <a:prstGeom prst="roundRect">
            <a:avLst>
              <a:gd name="adj" fmla="val 3846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53312"/>
            <a:ext cx="791870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fastapi.middleware.cors import CORSMiddleware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app.add_middleware(CORSMiddleware, allow_origins=["*"],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allow_methods=["*"], allow_headers=["*"])</a:t>
            </a:r>
            <a:endParaRPr lang="en-US" sz="1150" dirty="0"/>
          </a:p>
        </p:txBody>
      </p:sp>
      <p:sp>
        <p:nvSpPr>
          <p:cNvPr id="187" name="Shape 185"/>
          <p:cNvSpPr/>
          <p:nvPr/>
        </p:nvSpPr>
        <p:spPr>
          <a:xfrm>
            <a:off x="502920" y="2651760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FDF2E2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65176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block a page on one port (Streamlit :8501) calling an API on another (FastAPI :8000) unless explicitly allowed. allow_origins=['*'] is fine locally; production restricts to known domains.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22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pic>
        <p:nvPicPr>
          <p:cNvPr id="18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777240"/>
            <a:ext cx="777240" cy="777240"/>
          </a:xfrm>
          <a:prstGeom prst="rect">
            <a:avLst/>
          </a:prstGeom>
        </p:spPr>
      </p:pic>
      <p:sp>
        <p:nvSpPr>
          <p:cNvPr id="183" name="Text 180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— 80 MINUTES</a:t>
            </a:r>
            <a:endParaRPr lang="en-US" sz="1400" dirty="0"/>
          </a:p>
        </p:txBody>
      </p:sp>
      <p:sp>
        <p:nvSpPr>
          <p:cNvPr id="184" name="Text 181"/>
          <p:cNvSpPr/>
          <p:nvPr/>
        </p:nvSpPr>
        <p:spPr>
          <a:xfrm>
            <a:off x="640080" y="18745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It, Test It</a:t>
            </a:r>
            <a:endParaRPr lang="en-US" sz="3800" dirty="0"/>
          </a:p>
        </p:txBody>
      </p:sp>
      <p:sp>
        <p:nvSpPr>
          <p:cNvPr id="185" name="Text 182"/>
          <p:cNvSpPr/>
          <p:nvPr/>
        </p:nvSpPr>
        <p:spPr>
          <a:xfrm>
            <a:off x="640080" y="3383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D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model -&gt; FastAPI endpoint -&gt; Swagger test -&gt; Streamlit frontend -&gt; both live at once</a:t>
            </a:r>
            <a:endParaRPr lang="en-US" sz="1450" dirty="0"/>
          </a:p>
        </p:txBody>
      </p:sp>
      <p:sp>
        <p:nvSpPr>
          <p:cNvPr id="186" name="Text 183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ahead: a real server was started and hit with real HTTP requests this session.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Save a Trained Model for Serving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Keras format, not legacy .h5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777240"/>
          </a:xfrm>
          <a:prstGeom prst="roundRect">
            <a:avLst>
              <a:gd name="adj" fmla="val 5882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53312"/>
            <a:ext cx="79187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model.save("shape_classifier.keras")</a:t>
            </a:r>
            <a:endParaRPr lang="en-US" sz="1300" dirty="0"/>
          </a:p>
        </p:txBody>
      </p:sp>
      <p:sp>
        <p:nvSpPr>
          <p:cNvPr id="187" name="Shape 185"/>
          <p:cNvSpPr/>
          <p:nvPr/>
        </p:nvSpPr>
        <p:spPr>
          <a:xfrm>
            <a:off x="502920" y="2331720"/>
            <a:ext cx="8138160" cy="1645920"/>
          </a:xfrm>
          <a:prstGeom prst="roundRect">
            <a:avLst>
              <a:gd name="adj" fmla="val 3333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33172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a 3-class shape classifier (square/circle/triangle), trained 15 epochs, reached 100% validation accuracy — deliberately simple so class time goes to deployment, not model-tuning.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Build the FastAPI Endpoint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once, at module level — never inside the route function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2651760"/>
          </a:xfrm>
          <a:prstGeom prst="roundRect">
            <a:avLst>
              <a:gd name="adj" fmla="val 1724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tf.keras.models.load_model("shape_classifier.keras")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CLASS_NAMES = ["square", "circle", "triangle"]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@app.post("/predict", response_model=PredictResponse)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predict(file: UploadFile = File(...)):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contents = await file.read()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 = Image.open(io.BytesIO(contents)).convert("RGB").resize((64,64))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 = np.expand_dims(np.array(img,dtype="float32")/255.0, axis=0)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probs = model.predict(arr, verbose=0)[0]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ranked = sorted(zip(CLASS_NAMES, probs), key=lambda x: x[1], reverse=True)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PredictResponse(predictions=[...])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Test in Swagger UI and curl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http://localhost:8000/docs — auto-generated from Pydantic models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777240"/>
          </a:xfrm>
          <a:prstGeom prst="roundRect">
            <a:avLst>
              <a:gd name="adj" fmla="val 5882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http://localhost:8000/predict -F "file=@test_shape.jpg"</a:t>
            </a:r>
            <a:endParaRPr lang="en-US" sz="1150" dirty="0"/>
          </a:p>
        </p:txBody>
      </p:sp>
      <p:sp>
        <p:nvSpPr>
          <p:cNvPr id="187" name="Shape 185"/>
          <p:cNvSpPr/>
          <p:nvPr/>
        </p:nvSpPr>
        <p:spPr>
          <a:xfrm>
            <a:off x="502920" y="2286000"/>
            <a:ext cx="8138160" cy="1737360"/>
          </a:xfrm>
          <a:prstGeom prst="roundRect">
            <a:avLst>
              <a:gd name="adj" fmla="val 3158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4231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live response</a:t>
            </a:r>
            <a:endParaRPr lang="en-US" sz="1300" dirty="0"/>
          </a:p>
        </p:txBody>
      </p:sp>
      <p:sp>
        <p:nvSpPr>
          <p:cNvPr id="189" name="Text 187"/>
          <p:cNvSpPr/>
          <p:nvPr/>
        </p:nvSpPr>
        <p:spPr>
          <a:xfrm>
            <a:off x="777240" y="278892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square: 97.82%   circle: 2.17%   triangle: 0.0%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Build the Streamlit Frontend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-&gt; POST to API -&gt; bar chart of predictions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2606040"/>
          </a:xfrm>
          <a:prstGeom prst="roundRect">
            <a:avLst>
              <a:gd name="adj" fmla="val 1754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uploaded_file = st.file_uploader("Choose an image")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uploaded_file and st.button("Predict"):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files = {"file": (uploaded_file.name, uploaded_file.getvalue())}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requests.post(API_URL, files=files, timeout=10)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predictions = response.json()["predictions"]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st.success(f"Prediction: {predictions[0]['class_name']}")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pd.DataFrame(predictions)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st.bar_chart(df.set_index("class_name")["confidence"])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Both Servers, Live, at Once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terminal tabs — same pattern as Day 13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25880"/>
            <a:ext cx="3931920" cy="1828800"/>
          </a:xfrm>
          <a:prstGeom prst="roundRect">
            <a:avLst>
              <a:gd name="adj" fmla="val 3000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800" dirty="0"/>
          </a:p>
        </p:txBody>
      </p:sp>
      <p:sp>
        <p:nvSpPr>
          <p:cNvPr id="187" name="Text 185"/>
          <p:cNvSpPr/>
          <p:nvPr/>
        </p:nvSpPr>
        <p:spPr>
          <a:xfrm>
            <a:off x="77724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8000</a:t>
            </a:r>
            <a:endParaRPr lang="en-US" sz="1400" dirty="0"/>
          </a:p>
        </p:txBody>
      </p:sp>
      <p:sp>
        <p:nvSpPr>
          <p:cNvPr id="188" name="Text 186"/>
          <p:cNvSpPr/>
          <p:nvPr/>
        </p:nvSpPr>
        <p:spPr>
          <a:xfrm>
            <a:off x="77724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/predict endpoint</a:t>
            </a:r>
            <a:endParaRPr lang="en-US" sz="1200" dirty="0"/>
          </a:p>
        </p:txBody>
      </p:sp>
      <p:sp>
        <p:nvSpPr>
          <p:cNvPr id="189" name="Shape 187"/>
          <p:cNvSpPr/>
          <p:nvPr/>
        </p:nvSpPr>
        <p:spPr>
          <a:xfrm>
            <a:off x="4663440" y="1325880"/>
            <a:ext cx="3931920" cy="1828800"/>
          </a:xfrm>
          <a:prstGeom prst="roundRect">
            <a:avLst>
              <a:gd name="adj" fmla="val 3000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4937760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800" dirty="0"/>
          </a:p>
        </p:txBody>
      </p:sp>
      <p:sp>
        <p:nvSpPr>
          <p:cNvPr id="191" name="Text 189"/>
          <p:cNvSpPr/>
          <p:nvPr/>
        </p:nvSpPr>
        <p:spPr>
          <a:xfrm>
            <a:off x="493776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8501</a:t>
            </a:r>
            <a:endParaRPr lang="en-US" sz="1400" dirty="0"/>
          </a:p>
        </p:txBody>
      </p:sp>
      <p:sp>
        <p:nvSpPr>
          <p:cNvPr id="192" name="Text 190"/>
          <p:cNvSpPr/>
          <p:nvPr/>
        </p:nvSpPr>
        <p:spPr>
          <a:xfrm>
            <a:off x="493776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calls FastAPI via requests</a:t>
            </a:r>
            <a:endParaRPr lang="en-US" sz="1200" dirty="0"/>
          </a:p>
        </p:txBody>
      </p:sp>
      <p:sp>
        <p:nvSpPr>
          <p:cNvPr id="193" name="Shape 191"/>
          <p:cNvSpPr/>
          <p:nvPr/>
        </p:nvSpPr>
        <p:spPr>
          <a:xfrm>
            <a:off x="502920" y="3383280"/>
            <a:ext cx="8138160" cy="1188720"/>
          </a:xfrm>
          <a:prstGeom prst="roundRect">
            <a:avLst>
              <a:gd name="adj" fmla="val 4615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4" name="Text 192"/>
          <p:cNvSpPr/>
          <p:nvPr/>
        </p:nvSpPr>
        <p:spPr>
          <a:xfrm>
            <a:off x="777240" y="338328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ran both simultaneously, confirmed both reachable via HTTP at once — the real two-process architecture, not a simulation.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Today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these first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31520" y="12344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mismatch (resize/scale)</a:t>
            </a:r>
            <a:endParaRPr lang="en-US" sz="1100" dirty="0"/>
          </a:p>
        </p:txBody>
      </p:sp>
      <p:sp>
        <p:nvSpPr>
          <p:cNvPr id="187" name="Shape 185"/>
          <p:cNvSpPr/>
          <p:nvPr/>
        </p:nvSpPr>
        <p:spPr>
          <a:xfrm>
            <a:off x="5349240" y="123444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5532120" y="12344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crash — just wrong/low-confidence predictions</a:t>
            </a:r>
            <a:endParaRPr lang="en-US" sz="950" dirty="0"/>
          </a:p>
        </p:txBody>
      </p:sp>
      <p:sp>
        <p:nvSpPr>
          <p:cNvPr id="189" name="Shape 187"/>
          <p:cNvSpPr/>
          <p:nvPr/>
        </p:nvSpPr>
        <p:spPr>
          <a:xfrm>
            <a:off x="502920" y="1929384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731520" y="192938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.convert('RGB')</a:t>
            </a:r>
            <a:endParaRPr lang="en-US" sz="1100" dirty="0"/>
          </a:p>
        </p:txBody>
      </p:sp>
      <p:sp>
        <p:nvSpPr>
          <p:cNvPr id="191" name="Shape 189"/>
          <p:cNvSpPr/>
          <p:nvPr/>
        </p:nvSpPr>
        <p:spPr>
          <a:xfrm>
            <a:off x="5349240" y="1929384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5532120" y="19293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on grayscale or RGBA uploads</a:t>
            </a:r>
            <a:endParaRPr lang="en-US" sz="950" dirty="0"/>
          </a:p>
        </p:txBody>
      </p:sp>
      <p:sp>
        <p:nvSpPr>
          <p:cNvPr id="193" name="Shape 191"/>
          <p:cNvSpPr/>
          <p:nvPr/>
        </p:nvSpPr>
        <p:spPr>
          <a:xfrm>
            <a:off x="502920" y="2624328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4" name="Text 192"/>
          <p:cNvSpPr/>
          <p:nvPr/>
        </p:nvSpPr>
        <p:spPr>
          <a:xfrm>
            <a:off x="731520" y="262432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expand_dims for batch</a:t>
            </a:r>
            <a:endParaRPr lang="en-US" sz="1100" dirty="0"/>
          </a:p>
        </p:txBody>
      </p:sp>
      <p:sp>
        <p:nvSpPr>
          <p:cNvPr id="195" name="Shape 193"/>
          <p:cNvSpPr/>
          <p:nvPr/>
        </p:nvSpPr>
        <p:spPr>
          <a:xfrm>
            <a:off x="5349240" y="2624328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6" name="Text 194"/>
          <p:cNvSpPr/>
          <p:nvPr/>
        </p:nvSpPr>
        <p:spPr>
          <a:xfrm>
            <a:off x="5532120" y="26243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error: model expects (None,H,W,C)</a:t>
            </a:r>
            <a:endParaRPr lang="en-US" sz="950" dirty="0"/>
          </a:p>
        </p:txBody>
      </p:sp>
      <p:sp>
        <p:nvSpPr>
          <p:cNvPr id="197" name="Shape 195"/>
          <p:cNvSpPr/>
          <p:nvPr/>
        </p:nvSpPr>
        <p:spPr>
          <a:xfrm>
            <a:off x="502920" y="3319272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8" name="Text 196"/>
          <p:cNvSpPr/>
          <p:nvPr/>
        </p:nvSpPr>
        <p:spPr>
          <a:xfrm>
            <a:off x="731520" y="331927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CORS middleware</a:t>
            </a:r>
            <a:endParaRPr lang="en-US" sz="1100" dirty="0"/>
          </a:p>
        </p:txBody>
      </p:sp>
      <p:sp>
        <p:nvSpPr>
          <p:cNvPr id="199" name="Shape 197"/>
          <p:cNvSpPr/>
          <p:nvPr/>
        </p:nvSpPr>
        <p:spPr>
          <a:xfrm>
            <a:off x="5349240" y="3319272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0" name="Text 198"/>
          <p:cNvSpPr/>
          <p:nvPr/>
        </p:nvSpPr>
        <p:spPr>
          <a:xfrm>
            <a:off x="5532120" y="33192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Streamlit's request silently fails in browser</a:t>
            </a:r>
            <a:endParaRPr lang="en-US" sz="950" dirty="0"/>
          </a:p>
        </p:txBody>
      </p:sp>
      <p:sp>
        <p:nvSpPr>
          <p:cNvPr id="201" name="Shape 199"/>
          <p:cNvSpPr/>
          <p:nvPr/>
        </p:nvSpPr>
        <p:spPr>
          <a:xfrm>
            <a:off x="502920" y="4014216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2" name="Text 200"/>
          <p:cNvSpPr/>
          <p:nvPr/>
        </p:nvSpPr>
        <p:spPr>
          <a:xfrm>
            <a:off x="731520" y="401421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model inside the endpoint</a:t>
            </a:r>
            <a:endParaRPr lang="en-US" sz="1100" dirty="0"/>
          </a:p>
        </p:txBody>
      </p:sp>
      <p:sp>
        <p:nvSpPr>
          <p:cNvPr id="203" name="Shape 201"/>
          <p:cNvSpPr/>
          <p:nvPr/>
        </p:nvSpPr>
        <p:spPr>
          <a:xfrm>
            <a:off x="5349240" y="4014216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4" name="Text 202"/>
          <p:cNvSpPr/>
          <p:nvPr/>
        </p:nvSpPr>
        <p:spPr>
          <a:xfrm>
            <a:off x="5532120" y="401421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Reloads from disk every request — very slow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Challenge: Async /batch Endpoint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images, processed concurrently with asyncio.gather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1280160"/>
          </a:xfrm>
          <a:prstGeom prst="roundRect">
            <a:avLst>
              <a:gd name="adj" fmla="val 3571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@app.post("/batch")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batch_predict(files: list[UploadFile] = File(...)):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await asyncio.gather(*(classify_one(f) for f in files))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results</a:t>
            </a:r>
            <a:endParaRPr lang="en-US" sz="1150" dirty="0"/>
          </a:p>
        </p:txBody>
      </p:sp>
      <p:sp>
        <p:nvSpPr>
          <p:cNvPr id="187" name="Shape 185"/>
          <p:cNvSpPr/>
          <p:nvPr/>
        </p:nvSpPr>
        <p:spPr>
          <a:xfrm>
            <a:off x="502920" y="2743200"/>
            <a:ext cx="8138160" cy="1280160"/>
          </a:xfrm>
          <a:prstGeom prst="roundRect">
            <a:avLst>
              <a:gd name="adj" fmla="val 4286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74320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2 real images in one request, both correctly classified — square: 97.82%, circle: 99.98% — concurrent processing kept results correctly separated.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Remember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nothing else survives the day…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777240" y="1517904"/>
            <a:ext cx="457200" cy="45720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87" name="Text 185"/>
          <p:cNvSpPr/>
          <p:nvPr/>
        </p:nvSpPr>
        <p:spPr>
          <a:xfrm>
            <a:off x="777240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88" name="Text 186"/>
          <p:cNvSpPr/>
          <p:nvPr/>
        </p:nvSpPr>
        <p:spPr>
          <a:xfrm>
            <a:off x="1463040" y="135331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= fixed interface: input in, JSON out. Everything else is hidden.</a:t>
            </a:r>
            <a:endParaRPr lang="en-US" sz="1250" dirty="0"/>
          </a:p>
        </p:txBody>
      </p:sp>
      <p:sp>
        <p:nvSpPr>
          <p:cNvPr id="189" name="Shape 187"/>
          <p:cNvSpPr/>
          <p:nvPr/>
        </p:nvSpPr>
        <p:spPr>
          <a:xfrm>
            <a:off x="502920" y="237744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Shape 188"/>
          <p:cNvSpPr/>
          <p:nvPr/>
        </p:nvSpPr>
        <p:spPr>
          <a:xfrm>
            <a:off x="777240" y="261518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1" name="Text 189"/>
          <p:cNvSpPr/>
          <p:nvPr/>
        </p:nvSpPr>
        <p:spPr>
          <a:xfrm>
            <a:off x="77724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92" name="Text 190"/>
          <p:cNvSpPr/>
          <p:nvPr/>
        </p:nvSpPr>
        <p:spPr>
          <a:xfrm>
            <a:off x="1463040" y="245059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must match training EXACTLY — mismatches fail silently, not loudly.</a:t>
            </a:r>
            <a:endParaRPr lang="en-US" sz="1250" dirty="0"/>
          </a:p>
        </p:txBody>
      </p:sp>
      <p:sp>
        <p:nvSpPr>
          <p:cNvPr id="193" name="Shape 191"/>
          <p:cNvSpPr/>
          <p:nvPr/>
        </p:nvSpPr>
        <p:spPr>
          <a:xfrm>
            <a:off x="502920" y="347472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4" name="Shape 192"/>
          <p:cNvSpPr/>
          <p:nvPr/>
        </p:nvSpPr>
        <p:spPr>
          <a:xfrm>
            <a:off x="777240" y="371246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5" name="Text 193"/>
          <p:cNvSpPr/>
          <p:nvPr/>
        </p:nvSpPr>
        <p:spPr>
          <a:xfrm>
            <a:off x="77724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6" name="Text 194"/>
          <p:cNvSpPr/>
          <p:nvPr/>
        </p:nvSpPr>
        <p:spPr>
          <a:xfrm>
            <a:off x="1463040" y="354787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model once, at startup. CORS is required the moment two ports are involved.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622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2" name="Text 180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22</a:t>
            </a:r>
            <a:endParaRPr lang="en-US" sz="1400" dirty="0"/>
          </a:p>
        </p:txBody>
      </p:sp>
      <p:sp>
        <p:nvSpPr>
          <p:cNvPr id="183" name="Text 181"/>
          <p:cNvSpPr/>
          <p:nvPr/>
        </p:nvSpPr>
        <p:spPr>
          <a:xfrm>
            <a:off x="640080" y="1783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Capstone: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Surveillance System</a:t>
            </a:r>
            <a:endParaRPr lang="en-US" sz="3000" dirty="0"/>
          </a:p>
        </p:txBody>
      </p:sp>
      <p:sp>
        <p:nvSpPr>
          <p:cNvPr id="184" name="Text 182"/>
          <p:cNvSpPr/>
          <p:nvPr/>
        </p:nvSpPr>
        <p:spPr>
          <a:xfrm>
            <a:off x="640080" y="3246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FastAPI + Streamlit pattern becomes the backbone: YOLO detection on video frames, SQLite logging, /logs and /stats endpoints, a live dashboard. Every piece from Days 16-21 comes together.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2026-08-04T07:11:30Z</dcterms:created>
  <dcterms:modified xsi:type="dcterms:W3CDTF">2026-08-04T07:11:30Z</dcterms:modified>
</cp:coreProperties>
</file>