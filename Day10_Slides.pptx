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7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132" y="-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4100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8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3D5F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DAY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to Machine Learning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B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Logistic Regression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27432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5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models, two datasets each. The first machine learning you've ever shipped.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8229600" cy="1051560"/>
          </a:xfrm>
          <a:prstGeom prst="rect">
            <a:avLst/>
          </a:prstGeom>
          <a:solidFill>
            <a:srgbClr val="24406B"/>
          </a:solidFill>
          <a:ln w="12700">
            <a:solidFill>
              <a:srgbClr val="0E7C9E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1188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43000" y="3520440"/>
            <a:ext cx="7360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D5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NABIL_clean.csv — the file YOU exported yesterday — becomes your portfolio project. House Prices &amp; Titanic prove you know the industry-standard playbook too.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minutes of theory, 85+ minutes of hands-on modelling across four mini-projects.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1152144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325880"/>
            <a:ext cx="84124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1325880"/>
            <a:ext cx="54864" cy="786384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548640" y="1709928"/>
            <a:ext cx="594360" cy="20116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170535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2651760" y="143560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AI/ML/DL · supervised learning · the ML workflow · Linear Regression · train/test split · overfitting · regression metrics · Logistic Regression · classification metrics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65760" y="2221992"/>
            <a:ext cx="84124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65760" y="2221992"/>
            <a:ext cx="54864" cy="786384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2313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— Primary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48640" y="2606040"/>
            <a:ext cx="594360" cy="20116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260146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2651760" y="23317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NABIL_clean.csv · engineer Next_Close &amp; Direction targets · Project A: Linear Regression on NABIL · Project B: Logistic Regression on NABIL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65760" y="3118104"/>
            <a:ext cx="84124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65760" y="3118104"/>
            <a:ext cx="54864" cy="786384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32095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— Secondary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548640" y="3502152"/>
            <a:ext cx="594360" cy="20116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" y="349758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2651760" y="3227832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Prices: Linear Regression (the classic ML dataset) · Titanic: Logistic Regression (the classic classification dataset) · compare all four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65760" y="4014216"/>
            <a:ext cx="841248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365760" y="4014216"/>
            <a:ext cx="54864" cy="786384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8640" y="41056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548640" y="4398264"/>
            <a:ext cx="800100" cy="201168"/>
          </a:xfrm>
          <a:prstGeom prst="roundRect">
            <a:avLst>
              <a:gd name="adj" fmla="val 31818"/>
            </a:avLst>
          </a:prstGeom>
          <a:solidFill>
            <a:srgbClr val="FFFFFF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48640" y="4393692"/>
            <a:ext cx="800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2651760" y="4123944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PolynomialFeatures(degree=2) to NABIL — does more complexity actually help with ~170 rows?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· 1.1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Machine Learning &amp; Deep Learning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nested circles — and where the next three weeks of this course live.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371600"/>
            <a:ext cx="4023360" cy="3108960"/>
          </a:xfrm>
          <a:prstGeom prst="ellipse">
            <a:avLst/>
          </a:prstGeom>
          <a:solidFill>
            <a:srgbClr val="DCE6F5"/>
          </a:solidFill>
          <a:ln w="19050">
            <a:solidFill>
              <a:srgbClr val="2C487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60120" y="1828800"/>
            <a:ext cx="2834640" cy="2194560"/>
          </a:xfrm>
          <a:prstGeom prst="ellipse">
            <a:avLst/>
          </a:prstGeom>
          <a:solidFill>
            <a:srgbClr val="E8F6FA"/>
          </a:solidFill>
          <a:ln w="19050">
            <a:solidFill>
              <a:srgbClr val="0E7C9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00200" y="2331720"/>
            <a:ext cx="1554480" cy="11887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B4FA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1508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60120" y="1965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600200" y="2788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4892040" y="1325880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892040" y="1325880"/>
            <a:ext cx="54864" cy="91440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74920" y="14173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the goal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5074920" y="16916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system that mimics intelligent behaviour — even hard-coded rules count.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892040" y="2359152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892040" y="2359152"/>
            <a:ext cx="54864" cy="91440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74920" y="245059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— the method (Days 8–14)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5074920" y="272491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patterns FROM data instead of hand-coding rules. Today — no neural nets yet.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892040" y="3392424"/>
            <a:ext cx="3886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892040" y="3392424"/>
            <a:ext cx="54864" cy="91440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74920" y="348386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 — a subset of ML (Days 15–22)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5074920" y="375818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using neural networks specifically. Week 3 — coming soon.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65760" y="443484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365760" y="4434840"/>
            <a:ext cx="54864" cy="54864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8640" y="4434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Hand-coding "contains FREE MONEY → spam" is AI, not ML. Learning that rule from 10,000 labelled emails is ML.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31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· 1.2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Supervised, Unsupervised &amp; Reinforcement Learning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is 100% supervised — every row comes with a known correct answer.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32588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1325880"/>
            <a:ext cx="54864" cy="91440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8640" y="1435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2468880" y="1453896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labelled examples (input → known correct output)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943600" y="145389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we know the actual next-day price AND direction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65760" y="237744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365760" y="2377440"/>
            <a:ext cx="54864" cy="91440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2487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2468880" y="2505456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structure with NO labels at all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943600" y="250545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Day 12: customer segmentation with K-Means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65760" y="342900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65760" y="3429000"/>
            <a:ext cx="54864" cy="91440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35387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2468880" y="3557016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by trial and error, guided by rewards/penalties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943600" y="3557016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hands-on this course — e.g. game-playing agents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· 1.3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ML Workflow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skeleton of every ML project for the rest of this course — today, concretely.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4048" y="1371600"/>
            <a:ext cx="1042416" cy="137160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" y="144475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411480" y="1755648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11480" y="2011680"/>
            <a:ext cx="987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00" dirty="0">
                <a:solidFill>
                  <a:srgbClr val="E5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NABIL_clean.csv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1389888" y="16002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517904" y="1371600"/>
            <a:ext cx="1042416" cy="137160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17904" y="144475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1545336" y="1755648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545336" y="2011680"/>
            <a:ext cx="987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00" dirty="0">
                <a:solidFill>
                  <a:srgbClr val="E5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High, Low, Volume, MA20, MA50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2523744" y="16002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651760" y="1371600"/>
            <a:ext cx="1042416" cy="137160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51760" y="144475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2679192" y="1755648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2679192" y="2011680"/>
            <a:ext cx="987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00" dirty="0">
                <a:solidFill>
                  <a:srgbClr val="E5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LinearRegression() / LogisticRegression()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657600" y="16002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785616" y="1371600"/>
            <a:ext cx="1042416" cy="137160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85616" y="144475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3813048" y="1755648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3813048" y="2011680"/>
            <a:ext cx="987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00" dirty="0">
                <a:solidFill>
                  <a:srgbClr val="E5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.fit(X_train, y_train)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4791456" y="16002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4919472" y="1371600"/>
            <a:ext cx="1042416" cy="137160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919472" y="144475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4946904" y="1755648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4946904" y="2011680"/>
            <a:ext cx="987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00" dirty="0">
                <a:solidFill>
                  <a:srgbClr val="E5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RMSE/R² · accuracy/F1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925312" y="16002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053328" y="1371600"/>
            <a:ext cx="1042416" cy="1371600"/>
          </a:xfrm>
          <a:prstGeom prst="rect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053328" y="144475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71" name="Text 69"/>
          <p:cNvSpPr/>
          <p:nvPr/>
        </p:nvSpPr>
        <p:spPr>
          <a:xfrm>
            <a:off x="6080760" y="1755648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6080760" y="2011680"/>
            <a:ext cx="987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00" dirty="0">
                <a:solidFill>
                  <a:srgbClr val="E5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different feature sets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7059168" y="1600200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7187184" y="1371600"/>
            <a:ext cx="1042416" cy="137160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187184" y="1444752"/>
            <a:ext cx="1042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76" name="Text 74"/>
          <p:cNvSpPr/>
          <p:nvPr/>
        </p:nvSpPr>
        <p:spPr>
          <a:xfrm>
            <a:off x="7214616" y="1755648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7214616" y="2011680"/>
            <a:ext cx="987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700" dirty="0">
                <a:solidFill>
                  <a:srgbClr val="E5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13 — FastAPI + Streamlit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365760" y="3063240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365760" y="3063240"/>
            <a:ext cx="54864" cy="105156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48640" y="306324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seven-step skeleton returns on Day 11 (Trees &amp; Forests), Day 12 (Clustering), and Day 15 (Neural Networks). Recognise it as a recurring pattern — not a one-off diagram.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31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· 1.4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Regression: The Line of Best Fit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line that minimises the distance between predictions and reality.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777240"/>
          </a:xfrm>
          <a:prstGeom prst="rect">
            <a:avLst/>
          </a:prstGeom>
          <a:solidFill>
            <a:srgbClr val="EAF0F9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13533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4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m₁x₁ + m₂x₂ + ... + mₙxₙ + b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548640" y="1737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one feature: y = mx + b (school algebra). With 6 features (today), each gets its own weight, plus one bias term.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65760" y="219456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65760" y="2194560"/>
            <a:ext cx="54864" cy="91440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228600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Function — MSE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48640" y="25420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MSE = (1/n) × Σ(actual − predicted)²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48640" y="28346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Squaring punishes big errors more and keeps positive/negative errors from cancelling out.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65760" y="3246120"/>
            <a:ext cx="8412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65760" y="3246120"/>
            <a:ext cx="54864" cy="146304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pic>
        <p:nvPicPr>
          <p:cNvPr id="5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364992"/>
            <a:ext cx="274320" cy="274320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914400" y="336499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— the intuition</a:t>
            </a:r>
            <a:endParaRPr lang="en-US" sz="1200" dirty="0"/>
          </a:p>
        </p:txBody>
      </p:sp>
      <p:sp>
        <p:nvSpPr>
          <p:cNvPr id="56" name="Text 53"/>
          <p:cNvSpPr/>
          <p:nvPr/>
        </p:nvSpPr>
        <p:spPr>
          <a:xfrm>
            <a:off x="548640" y="36576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standing on a hilly landscape where height = MSE and position = the model's weights. Gradient descent takes small steps DOWNHILL — always the steepest direction — until it reaches the bottom (the weights that minimise error). sklearn actually solves this analytically today, but this concept is universal: it's exactly how neural networks learn in Week 3.</a:t>
            </a:r>
            <a:endParaRPr lang="en-US" sz="950" dirty="0"/>
          </a:p>
        </p:txBody>
      </p:sp>
      <p:sp>
        <p:nvSpPr>
          <p:cNvPr id="57" name="Text 54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· 1.5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 — Why It Matters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on data the model already saw measures memorisation, not learning.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105156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" y="1371600"/>
            <a:ext cx="8119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train_test_split</a:t>
            </a: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train_test_split(</a:t>
            </a: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X, y, test_size=0.2, shuffle=False   # NEVER shuffle</a:t>
            </a: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                                     # time-series data!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246888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2468880"/>
            <a:ext cx="54864" cy="50292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2514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70–80% train / 20–30% test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3383280" y="254203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learns only from train. Test is held back completely, touched only at the end.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65760" y="3108960"/>
            <a:ext cx="84124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65760" y="3108960"/>
            <a:ext cx="54864" cy="1600200"/>
          </a:xfrm>
          <a:prstGeom prst="rect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pic>
        <p:nvPicPr>
          <p:cNvPr id="5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27832"/>
            <a:ext cx="274320" cy="274320"/>
          </a:xfrm>
          <a:prstGeom prst="rect">
            <a:avLst/>
          </a:prstGeom>
        </p:spPr>
      </p:pic>
      <p:sp>
        <p:nvSpPr>
          <p:cNvPr id="53" name="Text 50"/>
          <p:cNvSpPr/>
          <p:nvPr/>
        </p:nvSpPr>
        <p:spPr>
          <a:xfrm>
            <a:off x="914400" y="32186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time series must NEVER be shuffled</a:t>
            </a:r>
            <a:endParaRPr lang="en-US" sz="1250" dirty="0"/>
          </a:p>
        </p:txBody>
      </p:sp>
      <p:sp>
        <p:nvSpPr>
          <p:cNvPr id="54" name="Text 51"/>
          <p:cNvSpPr/>
          <p:nvPr/>
        </p:nvSpPr>
        <p:spPr>
          <a:xfrm>
            <a:off x="548640" y="353872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shuffle=True (the default) can put a Tuesday in training and the preceding Monday in test — the model "sees the future." For NABIL's daily prices, the test set must always be the MOST RECENT slice of time, exactly like real use: you always predict tomorrow, never yesterday.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your test set contains a date earlier than a date in your training set, your evaluation is lying to you."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31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· 1.6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vs Underfitting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bias-variance trade-off — today's Challenge will show this happening live.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1280160"/>
            <a:ext cx="54864" cy="1920240"/>
          </a:xfrm>
          <a:prstGeom prst="rect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0352" y="1371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530352" y="16642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Train: Poor   Test: Poor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30352" y="1965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too simple, misses real patterns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30352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who didn't study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227832" y="128016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227832" y="1280160"/>
            <a:ext cx="54864" cy="192024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392424" y="1371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Fit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3392424" y="16642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Train: Good   Test: Good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392424" y="1965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captures the true signal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3392424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who understood the material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089904" y="128016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089904" y="1280160"/>
            <a:ext cx="54864" cy="192024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54496" y="1371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6254496" y="16642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Train: Excellent   Test: Poor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254496" y="1965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memorised noise specific to training data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254496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who memorised last year's exact exam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65760" y="3429000"/>
            <a:ext cx="8412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365760" y="3429000"/>
            <a:ext cx="54864" cy="12801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8640" y="353872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Foreshadowing today's Challenge: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548640" y="37947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PolynomialFeatures(degree=2) on ~170 rows can make test R² get WORSE, not better — you'll likely watch overfitting happen on your own data today.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31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· 1.7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Metrics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measure "wrong" for a number prediction?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1371600" cy="512064"/>
          </a:xfrm>
          <a:prstGeom prst="rect">
            <a:avLst/>
          </a:prstGeom>
          <a:solidFill>
            <a:srgbClr val="2C487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133502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737360" y="1280160"/>
            <a:ext cx="5577840" cy="512064"/>
          </a:xfrm>
          <a:prstGeom prst="rect">
            <a:avLst/>
          </a:prstGeom>
          <a:solidFill>
            <a:srgbClr val="2C487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28800" y="1335024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tells you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315200" y="1280160"/>
            <a:ext cx="1371600" cy="512064"/>
          </a:xfrm>
          <a:prstGeom prst="rect">
            <a:avLst/>
          </a:prstGeom>
          <a:solidFill>
            <a:srgbClr val="2C487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06640" y="133502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65760" y="1847088"/>
            <a:ext cx="1371600" cy="51206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19019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737360" y="1847088"/>
            <a:ext cx="5577840" cy="51206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828800" y="1901952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squared errors — punishes big errors heavily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315200" y="1847088"/>
            <a:ext cx="1371600" cy="51206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06640" y="190195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 units (awkward)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65760" y="2414016"/>
            <a:ext cx="1371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246888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1737360" y="2414016"/>
            <a:ext cx="55778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828800" y="2468880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√MSE — same info, back in original units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315200" y="2414016"/>
            <a:ext cx="1371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06640" y="246888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target (NPR)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65760" y="2980944"/>
            <a:ext cx="1371600" cy="51206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30358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1737360" y="2980944"/>
            <a:ext cx="5577840" cy="51206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828800" y="3035808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error size, less sensitive to outliers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315200" y="2980944"/>
            <a:ext cx="1371600" cy="51206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406640" y="30358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target (NPR)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365760" y="3547872"/>
            <a:ext cx="1371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7200" y="360273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1737360" y="3547872"/>
            <a:ext cx="55778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828800" y="3602736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variance explained (1.0 = perfect, 0 = no better than guessing the mean)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315200" y="3547872"/>
            <a:ext cx="1371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406640" y="360273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Unitless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65760" y="416052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365760" y="4160520"/>
            <a:ext cx="54864" cy="77724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48640" y="4160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is what you'd tell a non-technical stakeholder: "typically off by about 9 NPR." R² answers "how good, overall?" — but RMSE/MAE tell you if that's good enough for the actual use case.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· 1.8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&amp; the Sigmoid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the name — this is a CLASSIFICATION algorithm, not regression.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4114800" cy="1828800"/>
          </a:xfrm>
          <a:prstGeom prst="rect">
            <a:avLst/>
          </a:prstGeom>
          <a:solidFill>
            <a:srgbClr val="EAF0F9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14173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4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σ(z) = 1 / (1 + e⁻ᶻ)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48640" y="18745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the same linear equation, then squashes it through the sigmoid so the output always lands between 0 and 1 — a probability.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48640" y="24688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Large positive z → output near 1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Large negative z → output near 0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z = 0 → output exactly 0.5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63440" y="128016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63440" y="1280160"/>
            <a:ext cx="54864" cy="182880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46320" y="13898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target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846320" y="16916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Direction = 1 if tomorrow's Close &gt; today's Close, else 0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846320" y="21945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outputs P(price goes up tomorrow). Apply a 0.5 threshold to turn that probability into a label.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65760" y="3291840"/>
            <a:ext cx="8412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65760" y="3291840"/>
            <a:ext cx="54864" cy="141732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8640" y="340156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gotcha worth saying out loud in class: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548640" y="367588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i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"Logistic Regression" predicts CATEGORIES (Up/Down), not numbers — the name is historical, not descriptive. Students ask about this every year.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31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· 1.9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Metrics &amp; the Confusion Matrix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alone can hide a lot — four numbers tell the full story.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3108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365760" y="1280160"/>
            <a:ext cx="54864" cy="169164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13716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2920" y="169164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Pred Down   Pred Up</a:t>
            </a:r>
            <a:endParaRPr lang="en-US" sz="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 Down      TN          FP</a:t>
            </a:r>
            <a:endParaRPr lang="en-US" sz="8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8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 Up        FN          TP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657600" y="1280160"/>
            <a:ext cx="1005840" cy="310896"/>
          </a:xfrm>
          <a:prstGeom prst="rect">
            <a:avLst/>
          </a:prstGeom>
          <a:solidFill>
            <a:srgbClr val="2C4870"/>
          </a:solidFill>
          <a:ln w="6350">
            <a:solidFill>
              <a:srgbClr val="E1E7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12464" y="13075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709160" y="1280160"/>
            <a:ext cx="1188720" cy="310896"/>
          </a:xfrm>
          <a:prstGeom prst="rect">
            <a:avLst/>
          </a:prstGeom>
          <a:solidFill>
            <a:srgbClr val="2C4870"/>
          </a:solidFill>
          <a:ln w="6350">
            <a:solidFill>
              <a:srgbClr val="E1E7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64024" y="130759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943600" y="1280160"/>
            <a:ext cx="2834640" cy="310896"/>
          </a:xfrm>
          <a:prstGeom prst="rect">
            <a:avLst/>
          </a:prstGeom>
          <a:solidFill>
            <a:srgbClr val="2C4870"/>
          </a:solidFill>
          <a:ln w="6350">
            <a:solidFill>
              <a:srgbClr val="E1E7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98464" y="1307592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it answers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657600" y="1618488"/>
            <a:ext cx="1005840" cy="310896"/>
          </a:xfrm>
          <a:prstGeom prst="rect">
            <a:avLst/>
          </a:prstGeom>
          <a:solidFill>
            <a:srgbClr val="EAF0F9"/>
          </a:solidFill>
          <a:ln w="6350">
            <a:solidFill>
              <a:srgbClr val="E1E7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12464" y="1645920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709160" y="1618488"/>
            <a:ext cx="1188720" cy="310896"/>
          </a:xfrm>
          <a:prstGeom prst="rect">
            <a:avLst/>
          </a:prstGeom>
          <a:solidFill>
            <a:srgbClr val="EAF0F9"/>
          </a:solidFill>
          <a:ln w="6350">
            <a:solidFill>
              <a:srgbClr val="E1E7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64024" y="164592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(TP+TN) / Total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943600" y="1618488"/>
            <a:ext cx="2834640" cy="310896"/>
          </a:xfrm>
          <a:prstGeom prst="rect">
            <a:avLst/>
          </a:prstGeom>
          <a:solidFill>
            <a:srgbClr val="EAF0F9"/>
          </a:solidFill>
          <a:ln w="6350">
            <a:solidFill>
              <a:srgbClr val="E1E7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998464" y="1645920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Overall, what fraction did we get right?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657600" y="1956816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1E7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712464" y="1984248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709160" y="1956816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1E7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64024" y="1984248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(TP+FP)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5943600" y="1956816"/>
            <a:ext cx="28346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1E7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998464" y="1984248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predicted "Up," how much was really Up?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657600" y="2295144"/>
            <a:ext cx="1005840" cy="310896"/>
          </a:xfrm>
          <a:prstGeom prst="rect">
            <a:avLst/>
          </a:prstGeom>
          <a:solidFill>
            <a:srgbClr val="EAF0F9"/>
          </a:solidFill>
          <a:ln w="6350">
            <a:solidFill>
              <a:srgbClr val="E1E7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712464" y="2322576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4709160" y="2295144"/>
            <a:ext cx="1188720" cy="310896"/>
          </a:xfrm>
          <a:prstGeom prst="rect">
            <a:avLst/>
          </a:prstGeom>
          <a:solidFill>
            <a:srgbClr val="EAF0F9"/>
          </a:solidFill>
          <a:ln w="6350">
            <a:solidFill>
              <a:srgbClr val="E1E7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764024" y="2322576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TP / (TP+FN)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5943600" y="2295144"/>
            <a:ext cx="2834640" cy="310896"/>
          </a:xfrm>
          <a:prstGeom prst="rect">
            <a:avLst/>
          </a:prstGeom>
          <a:solidFill>
            <a:srgbClr val="EAF0F9"/>
          </a:solidFill>
          <a:ln w="6350">
            <a:solidFill>
              <a:srgbClr val="E1E7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998464" y="2322576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actual "Up" days, how much did we catch?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3657600" y="2633472"/>
            <a:ext cx="10058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1E7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712464" y="2660904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4709160" y="2633472"/>
            <a:ext cx="11887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1E7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64024" y="2660904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Harmonic mean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5943600" y="2633472"/>
            <a:ext cx="28346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1E7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998464" y="2660904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balancing precision &amp; recall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365760" y="3200400"/>
            <a:ext cx="8412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365760" y="3200400"/>
            <a:ext cx="54864" cy="150876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48640" y="3310128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 trade-off, three examples:</a:t>
            </a:r>
            <a:endParaRPr lang="en-US" sz="1150" dirty="0"/>
          </a:p>
        </p:txBody>
      </p:sp>
      <p:sp>
        <p:nvSpPr>
          <p:cNvPr id="81" name="Text 79"/>
          <p:cNvSpPr/>
          <p:nvPr/>
        </p:nvSpPr>
        <p:spPr>
          <a:xfrm>
            <a:off x="548640" y="3584448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filter → wants high precision (a real email marked spam is costly). Cancer screening → wants high recall (missing a real case can be fatal). Stock direction (today) → discuss: which would YOU want for a trading signal?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48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4406B"/>
          </a:solidFill>
          <a:ln w="12700">
            <a:solidFill>
              <a:srgbClr val="24406B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097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Practical: Building the Models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9D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TWO-DAY ARC PAYS OFF — PLUS TWO INDUSTRY CLASSICS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365760" y="1280160"/>
            <a:ext cx="8412480" cy="1005840"/>
          </a:xfrm>
          <a:prstGeom prst="rect">
            <a:avLst/>
          </a:prstGeom>
          <a:solidFill>
            <a:srgbClr val="24406B"/>
          </a:solidFill>
          <a:ln w="12700">
            <a:solidFill>
              <a:srgbClr val="0E7C9E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444752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141732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cleaned it yesterday. You model it today.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960120" y="170992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D5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NABIL_clean.csv from Day 9 feeds straight into two models below — your portfolio's differentiator. Then we repeat both patterns on House Prices and Titanic, the two datasets every ML tutorial and interview uses.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365760" y="2468880"/>
            <a:ext cx="4069080" cy="914400"/>
          </a:xfrm>
          <a:prstGeom prst="rect">
            <a:avLst/>
          </a:prstGeom>
          <a:solidFill>
            <a:srgbClr val="24406B"/>
          </a:solidFill>
          <a:ln w="19050">
            <a:solidFill>
              <a:srgbClr val="0E7C9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48640" y="2606040"/>
            <a:ext cx="662940" cy="201168"/>
          </a:xfrm>
          <a:prstGeom prst="roundRect">
            <a:avLst>
              <a:gd name="adj" fmla="val 31818"/>
            </a:avLst>
          </a:prstGeom>
          <a:solidFill>
            <a:srgbClr val="1A2E52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640" y="2601468"/>
            <a:ext cx="6629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548640" y="2852928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NABIL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8640" y="309067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— next-day CLOSING PRICE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617720" y="2468880"/>
            <a:ext cx="4069080" cy="914400"/>
          </a:xfrm>
          <a:prstGeom prst="rect">
            <a:avLst/>
          </a:prstGeom>
          <a:solidFill>
            <a:srgbClr val="24406B"/>
          </a:solidFill>
          <a:ln w="19050">
            <a:solidFill>
              <a:srgbClr val="6B4FA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800600" y="2606040"/>
            <a:ext cx="800100" cy="201168"/>
          </a:xfrm>
          <a:prstGeom prst="roundRect">
            <a:avLst>
              <a:gd name="adj" fmla="val 31818"/>
            </a:avLst>
          </a:prstGeom>
          <a:solidFill>
            <a:srgbClr val="1A2E52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800600" y="2601468"/>
            <a:ext cx="800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4800600" y="2852928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House Prices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800600" y="309067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— SalePrice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65760" y="3520440"/>
            <a:ext cx="4069080" cy="914400"/>
          </a:xfrm>
          <a:prstGeom prst="rect">
            <a:avLst/>
          </a:prstGeom>
          <a:solidFill>
            <a:srgbClr val="24406B"/>
          </a:solidFill>
          <a:ln w="19050">
            <a:solidFill>
              <a:srgbClr val="B8720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48640" y="3657600"/>
            <a:ext cx="662940" cy="201168"/>
          </a:xfrm>
          <a:prstGeom prst="roundRect">
            <a:avLst>
              <a:gd name="adj" fmla="val 31818"/>
            </a:avLst>
          </a:prstGeom>
          <a:solidFill>
            <a:srgbClr val="1A2E52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48640" y="3653028"/>
            <a:ext cx="6629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548640" y="3904488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NABIL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548640" y="414223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— next-day DIRECTION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4617720" y="3520440"/>
            <a:ext cx="4069080" cy="914400"/>
          </a:xfrm>
          <a:prstGeom prst="rect">
            <a:avLst/>
          </a:prstGeom>
          <a:solidFill>
            <a:srgbClr val="24406B"/>
          </a:solidFill>
          <a:ln w="19050">
            <a:solidFill>
              <a:srgbClr val="6B4FA0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800600" y="3657600"/>
            <a:ext cx="800100" cy="201168"/>
          </a:xfrm>
          <a:prstGeom prst="roundRect">
            <a:avLst>
              <a:gd name="adj" fmla="val 31818"/>
            </a:avLst>
          </a:prstGeom>
          <a:solidFill>
            <a:srgbClr val="1A2E52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800600" y="3653028"/>
            <a:ext cx="800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4800600" y="3904488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· Titanic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4800600" y="414223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— Survived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Yesterday's Data &amp; Import sklearn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minutes of imports — then straight into feature engineering.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260604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" y="1371600"/>
            <a:ext cx="8119872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seaborn as sns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train_test_split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StandardScaler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sklearn.linear_model import LinearRegression, LogisticRegression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(mean_squared_error, mean_absolute_error,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r2_score, classification_report,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confusion_matrix)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YESTERDAY's cleaned NABIL data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nabil = pd.read_csv("NABIL_clean.csv")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nabil["Date"] = pd.to_datetime(nabil["Date"])</a:t>
            </a:r>
          </a:p>
          <a:p>
            <a:pPr marL="0" indent="0">
              <a:buNone/>
            </a:pPr>
            <a:r>
              <a:rPr lang="en-US" sz="950" dirty="0" err="1"/>
              <a:t>nabil</a:t>
            </a:r>
            <a:r>
              <a:rPr lang="en-US" sz="950" dirty="0"/>
              <a:t>["MA20"] = </a:t>
            </a:r>
            <a:r>
              <a:rPr lang="en-US" sz="950" dirty="0" err="1"/>
              <a:t>nabil</a:t>
            </a:r>
            <a:r>
              <a:rPr lang="en-US" sz="950" dirty="0"/>
              <a:t>["Close"].rolling(window=20).mean()</a:t>
            </a:r>
          </a:p>
          <a:p>
            <a:pPr marL="0" indent="0">
              <a:buNone/>
            </a:pPr>
            <a:r>
              <a:rPr lang="en-US" sz="950" dirty="0" err="1"/>
              <a:t>nabil</a:t>
            </a:r>
            <a:r>
              <a:rPr lang="en-US" sz="950" dirty="0"/>
              <a:t>["MA50"] = </a:t>
            </a:r>
            <a:r>
              <a:rPr lang="en-US" sz="950" dirty="0" err="1"/>
              <a:t>nabil</a:t>
            </a:r>
            <a:r>
              <a:rPr lang="en-US" sz="950" dirty="0"/>
              <a:t>["Close"].rolling(window=50).mean()</a:t>
            </a:r>
          </a:p>
          <a:p>
            <a:pPr marL="0" indent="0">
              <a:buNone/>
            </a:pPr>
            <a:r>
              <a:rPr lang="en-US" sz="950" dirty="0" err="1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nabil.head</a:t>
            </a: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</a:p>
          <a:p>
            <a:pPr marL="0" indent="0">
              <a:buNone/>
            </a:pP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402336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4023360"/>
            <a:ext cx="54864" cy="77724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4023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here: ask a student to explain each column out loud — every one was built by hand yesterday.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31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Building Two Targets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target exists yet. Both come from a one-line shift of Close.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182880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" y="1371600"/>
            <a:ext cx="81198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Target 1 (regression): TOMORROW's closing price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nabil["Next_Close"] = nabil["Close"].shift(-1)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Target 2 (classification): did price go UP tomorrow?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nabil["Direction"] = (nabil["Next_Close"] &gt; nabil["Close"]).astype(int)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 = ["Open", "High", "Low", "Volume", "MA20", "MA50"]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nabil.dropna(subset=features + ["Next_Close"]).reset_index(drop=True)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print(f"Usable rows: {len(data)} (out of {len(nabil)})")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Usable rows: 173 (out of 223)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324612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3246120"/>
            <a:ext cx="54864" cy="1508760"/>
          </a:xfrm>
          <a:prstGeom prst="rect">
            <a:avLst/>
          </a:prstGeom>
          <a:solidFill>
            <a:srgbClr val="0E7C9E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33558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7C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.shift(-1)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48640" y="363016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the NEXT row's value into the current row. Row 0 gets row 1's Close, and so on. The standard trick for "predict the future" targets.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63440" y="324612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663440" y="3246120"/>
            <a:ext cx="54864" cy="150876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46320" y="33558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lose ~50 rows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4846320" y="363016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MA50 needs 50 days of history (first 49 rows are NaN), and the last row has no "tomorrow." Richer features vs. less usable data — a real trade-off.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7C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6480"/>
          </a:solidFill>
          <a:ln w="12700">
            <a:solidFill>
              <a:srgbClr val="0A648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097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A: Linear Regression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B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NABIL'S NEXT-DAY CLOSING PRICE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365760" y="1325880"/>
            <a:ext cx="8412480" cy="914400"/>
          </a:xfrm>
          <a:prstGeom prst="rect">
            <a:avLst/>
          </a:prstGeom>
          <a:solidFill>
            <a:srgbClr val="0A6480"/>
          </a:solidFill>
          <a:ln w="12700">
            <a:solidFill>
              <a:srgbClr val="BF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41732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F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6733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tomorrow's closing price from today's Open, High, Low, Volume, MA20, and MA50 — a continuous number.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423160"/>
            <a:ext cx="365760" cy="365760"/>
          </a:xfrm>
          <a:prstGeom prst="ellipse">
            <a:avLst/>
          </a:prstGeom>
          <a:solidFill>
            <a:srgbClr val="0A648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0120" y="24597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split (no shuffle)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880360"/>
            <a:ext cx="365760" cy="365760"/>
          </a:xfrm>
          <a:prstGeom prst="ellipse">
            <a:avLst/>
          </a:prstGeom>
          <a:solidFill>
            <a:srgbClr val="0A648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60120" y="29169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features (fit on train only)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337560"/>
            <a:ext cx="365760" cy="365760"/>
          </a:xfrm>
          <a:prstGeom prst="ellipse">
            <a:avLst/>
          </a:prstGeom>
          <a:solidFill>
            <a:srgbClr val="0A648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60120" y="33741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LinearRegression()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794760"/>
            <a:ext cx="365760" cy="365760"/>
          </a:xfrm>
          <a:prstGeom prst="ellipse">
            <a:avLst/>
          </a:prstGeom>
          <a:solidFill>
            <a:srgbClr val="0A648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60120" y="38313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Evaluate: RMSE, MAE, R²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4251960"/>
            <a:ext cx="365760" cy="365760"/>
          </a:xfrm>
          <a:prstGeom prst="ellipse">
            <a:avLst/>
          </a:prstGeom>
          <a:solidFill>
            <a:srgbClr val="0A648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960120" y="428853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Plot: actual vs predicted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31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 · STEP 2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Split, Scale &amp; Train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line here isn't the model — it's shuffle=False.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224028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" y="1371600"/>
            <a:ext cx="811987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data[features]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y_reg = data["Next_Close"]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Chronological split — test set is the MOST RECENT 20% of days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train_test_split(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X, y_reg, test_size=0.2, shuffle=False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Scale — fit on TRAIN only, apply to both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StandardScaler()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X_train_scaled = scaler.fit_transform(X_train)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X_test_scaled = scaler.transform(X_test)   # transform, NOT fit_transform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lr_model = LinearRegression()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lr_model.fit(X_train_scaled, y_train)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3657600"/>
            <a:ext cx="8412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3657600"/>
            <a:ext cx="54864" cy="1097280"/>
          </a:xfrm>
          <a:prstGeom prst="rect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pic>
        <p:nvPicPr>
          <p:cNvPr id="4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76472"/>
            <a:ext cx="256032" cy="256032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896112" y="376732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fit_transform on train, transform (no fit) on test</a:t>
            </a:r>
            <a:endParaRPr lang="en-US" sz="1150" dirty="0"/>
          </a:p>
        </p:txBody>
      </p:sp>
      <p:sp>
        <p:nvSpPr>
          <p:cNvPr id="50" name="Text 47"/>
          <p:cNvSpPr/>
          <p:nvPr/>
        </p:nvSpPr>
        <p:spPr>
          <a:xfrm>
            <a:off x="548640" y="406908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fit_transform the test set too, test-set information leaks into preprocessing — a subtle, silent form of data leakage that inflates results.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31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 · STEP 3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Evaluate: RMSE, MAE &amp; R²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comparison of the day starts here.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5120640" cy="141732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" y="1371600"/>
            <a:ext cx="48280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 = lr_model.predict(X_test_scaled)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rmse = np.sqrt(mean_squared_error(y_test, y_pred))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mae = mean_absolute_error(y_test, y_pred)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 = r2_score(y_test, y_pred)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print(f"RMSE: {rmse:.2f} NPR")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print(f"MAE:  {mae:.2f} NPR")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print(f"R²:   {r2:.3f}")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623560" y="1280160"/>
            <a:ext cx="3154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623560" y="1280160"/>
            <a:ext cx="54864" cy="141732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806440" y="1371600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validated result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806440" y="164592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RMSE: 3.68 NPR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MAE:  2.80 NPR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R²:   0.364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65760" y="2880360"/>
            <a:ext cx="8412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65760" y="2880360"/>
            <a:ext cx="54864" cy="77724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297180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baseline comparison: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48640" y="322783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naive_pred = data["Close"].iloc[X_test.index]   -&gt;   naive R² = 0.789   ("tomorrow = today")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65760" y="3749040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65760" y="3749040"/>
            <a:ext cx="54864" cy="1051560"/>
          </a:xfrm>
          <a:prstGeom prst="rect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384048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this explicitly in class: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48640" y="408736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 (R²=0.364) LOSES badly to the dumbest possible baseline (R²=0.789: "tomorrow will be the same as today"). This sets up a sharp contrast with House Prices, where the same algorithm produces a genuinely strong result. That contrast IS the lesson of the day.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31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 · STEP 4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Visualise: Actual vs Predicted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tighter the cloud hugs the diagonal, the better the model.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5029200" cy="228600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" y="1371600"/>
            <a:ext cx="473659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plt.figure(figsize=(8, 6))</a:t>
            </a: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plt.scatter(y_test, y_pred, alpha=0.6, color="#2C4870")</a:t>
            </a: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plt.plot([y_test.min(), y_test.max()],</a:t>
            </a: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[y_test.min(), y_test.max()],</a:t>
            </a: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color="#C13A3A", linestyle="--", label="Perfect prediction")</a:t>
            </a: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plt.xlabel("Actual Next-Day Close (NPR)")</a:t>
            </a: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plt.ylabel("Predicted Next-Day Close (NPR)")</a:t>
            </a: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plt.title("NABIL — Actual vs Predicted Closing Price")</a:t>
            </a: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plt.legend()</a:t>
            </a: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532120" y="1280160"/>
            <a:ext cx="32461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532120" y="1280160"/>
            <a:ext cx="5486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760720" y="3291840"/>
            <a:ext cx="278892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760720" y="1508760"/>
            <a:ext cx="0" cy="178308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806440" y="3246120"/>
            <a:ext cx="2697480" cy="0"/>
          </a:xfrm>
          <a:prstGeom prst="line">
            <a:avLst/>
          </a:prstGeom>
          <a:noFill/>
          <a:ln w="19050">
            <a:solidFill>
              <a:srgbClr val="C13A3A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5943600" y="3017520"/>
            <a:ext cx="82296" cy="82296"/>
          </a:xfrm>
          <a:prstGeom prst="ellipse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26480" y="2743200"/>
            <a:ext cx="82296" cy="82296"/>
          </a:xfrm>
          <a:prstGeom prst="ellipse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09360" y="2880360"/>
            <a:ext cx="82296" cy="82296"/>
          </a:xfrm>
          <a:prstGeom prst="ellipse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492240" y="2468880"/>
            <a:ext cx="82296" cy="82296"/>
          </a:xfrm>
          <a:prstGeom prst="ellipse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675120" y="2286000"/>
            <a:ext cx="82296" cy="82296"/>
          </a:xfrm>
          <a:prstGeom prst="ellipse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858000" y="2606040"/>
            <a:ext cx="82296" cy="82296"/>
          </a:xfrm>
          <a:prstGeom prst="ellipse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040880" y="2011680"/>
            <a:ext cx="82296" cy="82296"/>
          </a:xfrm>
          <a:prstGeom prst="ellipse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223760" y="2194560"/>
            <a:ext cx="82296" cy="82296"/>
          </a:xfrm>
          <a:prstGeom prst="ellipse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406640" y="1737360"/>
            <a:ext cx="82296" cy="82296"/>
          </a:xfrm>
          <a:prstGeom prst="ellipse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589520" y="1920240"/>
            <a:ext cx="82296" cy="82296"/>
          </a:xfrm>
          <a:prstGeom prst="ellipse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60720" y="3337560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365760" y="3749040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365760" y="3749040"/>
            <a:ext cx="54864" cy="105156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8640" y="374904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students to point out the test-set day where the model was most wrong — that's usually a day with an unusually large price swing.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31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6B4F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E3980"/>
          </a:solidFill>
          <a:ln w="12700">
            <a:solidFill>
              <a:srgbClr val="4E398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097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House Prices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D9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ALGORITHM, A COMPLETELY DIFFERENT WORLD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365760" y="1325880"/>
            <a:ext cx="8412480" cy="914400"/>
          </a:xfrm>
          <a:prstGeom prst="rect">
            <a:avLst/>
          </a:prstGeom>
          <a:solidFill>
            <a:srgbClr val="4E3980"/>
          </a:solidFill>
          <a:ln w="12700">
            <a:solidFill>
              <a:srgbClr val="D9C9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41732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6733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SalePrice from the Ames Housing dataset — the features your Day 9 correlation heatmap already flagged as important.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2468880"/>
            <a:ext cx="4069080" cy="1280160"/>
          </a:xfrm>
          <a:prstGeom prst="rect">
            <a:avLst/>
          </a:prstGeom>
          <a:solidFill>
            <a:srgbClr val="4E39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57860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NABIL (just now)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285292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D9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split — order matters, each row is a day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09160" y="2468880"/>
            <a:ext cx="4069080" cy="1280160"/>
          </a:xfrm>
          <a:prstGeom prst="rect">
            <a:avLst/>
          </a:prstGeom>
          <a:solidFill>
            <a:srgbClr val="4E39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257860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Prices (now)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92040" y="2852928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D9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80/20 split — each row is an independent house, no time link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31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· A2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Split &amp; Train on Ames Housing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verified working URL — no Kaggle login needed for a live classroom demo.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288036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" y="1371600"/>
            <a:ext cx="811987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"https://raw.githubusercontent.com/hjhuney/Data/master/AmesHousing/train.csv"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house = pd.read_csv(url)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 = ["OverallQual", "GrLivArea", "GarageCars",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"TotalBsmtSF", "FullBath", "YearBuilt"]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house[features].fillna(house[features].median())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house["SalePrice"]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train_test_split(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X, y, test_size=0.2, random_state=42   # random split — no time dimension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scaler2 = StandardScaler()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X_train_scaled = scaler2.fit_transform(X_train)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X_test_scaled = scaler2.transform(X_test)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model2 = LinearRegression()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model2.fit(X_train_scaled, y_train)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429768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4297680"/>
            <a:ext cx="54864" cy="50292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4297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to Day 9: these are the exact features your correlation heatmap flagged as most correlated with SalePrice.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31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· A2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Compare to NABIL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algorithm, a fair R², and a much larger, richer dataset.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128016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" y="1371600"/>
            <a:ext cx="8119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y_pred2 = model2.predict(X_test_scaled)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r2_house = r2_score(y_test, y_pred2)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rmse_house = np.sqrt(mean_squared_error(y_test, y_pred2))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print(f"R²:   {r2_house:.3f}")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print(f"RMSE: USD {rmse_house:,.0f}")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R²: 0.794   RMSE: USD 39,711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2697480"/>
            <a:ext cx="2468880" cy="365760"/>
          </a:xfrm>
          <a:prstGeom prst="rect">
            <a:avLst/>
          </a:prstGeom>
          <a:solidFill>
            <a:srgbClr val="6B4FA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8912" y="2734056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834640" y="2697480"/>
            <a:ext cx="3017520" cy="365760"/>
          </a:xfrm>
          <a:prstGeom prst="rect">
            <a:avLst/>
          </a:prstGeom>
          <a:solidFill>
            <a:srgbClr val="6B4FA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07792" y="2734056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NABIL (Linear)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852160" y="2697480"/>
            <a:ext cx="2926080" cy="365760"/>
          </a:xfrm>
          <a:prstGeom prst="rect">
            <a:avLst/>
          </a:prstGeom>
          <a:solidFill>
            <a:srgbClr val="6B4FA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25312" y="2734056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Prices (Linear)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65760" y="3099816"/>
            <a:ext cx="2468880" cy="365760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8912" y="3136392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type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2834640" y="3099816"/>
            <a:ext cx="3017520" cy="365760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07792" y="3136392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852160" y="3099816"/>
            <a:ext cx="2926080" cy="365760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25312" y="3136392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80/20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65760" y="3502152"/>
            <a:ext cx="24688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8912" y="3538728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834640" y="3502152"/>
            <a:ext cx="3017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907792" y="3538728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(OHLC minus Close + Vol)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852160" y="3502152"/>
            <a:ext cx="29260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25312" y="3538728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(quality, area, etc.)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65760" y="3904488"/>
            <a:ext cx="2468880" cy="365760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8912" y="3941064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result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834640" y="3904488"/>
            <a:ext cx="3017520" cy="365760"/>
          </a:xfrm>
          <a:prstGeom prst="rect">
            <a:avLst/>
          </a:prstGeom>
          <a:solidFill>
            <a:srgbClr val="FCEAEA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907792" y="3941064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R²=0.364 — loses to baseline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5852160" y="3904488"/>
            <a:ext cx="2926080" cy="365760"/>
          </a:xfrm>
          <a:prstGeom prst="rect">
            <a:avLst/>
          </a:prstGeom>
          <a:solidFill>
            <a:srgbClr val="E9F8F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925312" y="3941064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R²=0.794 — genuinely strong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365760" y="4306824"/>
            <a:ext cx="24688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8912" y="4343400"/>
            <a:ext cx="2322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2834640" y="4306824"/>
            <a:ext cx="30175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907792" y="4343400"/>
            <a:ext cx="2871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signal support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5852160" y="4306824"/>
            <a:ext cx="29260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925312" y="4343400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valuation / listing price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B872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8A5808"/>
          </a:solidFill>
          <a:ln w="12700">
            <a:solidFill>
              <a:srgbClr val="8A580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097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B: Logistic Regression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C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TOMORROW'S DIRECTION — UP OR DOWN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365760" y="1325880"/>
            <a:ext cx="8412480" cy="914400"/>
          </a:xfrm>
          <a:prstGeom prst="rect">
            <a:avLst/>
          </a:prstGeom>
          <a:solidFill>
            <a:srgbClr val="8A5808"/>
          </a:solidFill>
          <a:ln w="12700">
            <a:solidFill>
              <a:srgbClr val="FCE8C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41732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6733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NABIL's price goes UP or DOWN tomorrow — a binary label — from the SAME features used in Project A.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2468880"/>
            <a:ext cx="4069080" cy="1508760"/>
          </a:xfrm>
          <a:prstGeom prst="rect">
            <a:avLst/>
          </a:prstGeom>
          <a:solidFill>
            <a:srgbClr val="8A5808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0604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60120" y="26060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data. Same features.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48640" y="297180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C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identical to Project A except the target column.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4709160" y="2468880"/>
            <a:ext cx="4069080" cy="1508760"/>
          </a:xfrm>
          <a:prstGeom prst="rect">
            <a:avLst/>
          </a:prstGeom>
          <a:solidFill>
            <a:srgbClr val="8A5808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2606040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03520" y="26060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fundamentally harder question.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4892040" y="297180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C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prediction is much closer to a coin flip than price prediction. Expect a genuinely humbling result — by design.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31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 · STEP 1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Split, Scale &amp; Train the Classifier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pattern to Project A — only the target and model class change.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246888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" y="1371600"/>
            <a:ext cx="8119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y_clf = data["Direction"]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train_test_split(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X, y_clf, test_size=0.2, shuffle=False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 = StandardScaler()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X_train_scaled = scaler.fit_transform(X_train)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X_test_scaled = scaler.transform(X_test)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clf_model = LogisticRegression()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clf_model.fit(X_train_scaled, y_train)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 = clf_model.predict(X_test_scaled)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print(classification_report(y_test, y_pred,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target_names=["Down/Flat", "Up"]))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388620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3886200"/>
            <a:ext cx="54864" cy="91440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38862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same scaler discipline, same chronological split — the pattern from Project A repeats exactly.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31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 · STEP 2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— and the Day's Big Question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 66% accuracy a bad model?" The most important discussion of the day.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105156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" y="1371600"/>
            <a:ext cx="8119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 = confusion_matrix(y_test, y_pred)</a:t>
            </a: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sns.heatmap(cm, annot=True, fmt="d", cmap="Blues",</a:t>
            </a: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xticklabels=["Down/Flat","Up"], yticklabels=["Down/Flat","Up"])</a:t>
            </a: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plt.title("NABIL Direction Prediction — Confusion Matrix")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246888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2468880"/>
            <a:ext cx="54864" cy="155448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2560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Confusion Matrix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48640" y="2834640"/>
            <a:ext cx="1097280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28712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1691640" y="2834640"/>
            <a:ext cx="1097280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691640" y="28712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Down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834640" y="2834640"/>
            <a:ext cx="1097280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34640" y="287121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Up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48640" y="3200400"/>
            <a:ext cx="1097280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32369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Down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691640" y="3200400"/>
            <a:ext cx="10972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691640" y="32369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834640" y="3200400"/>
            <a:ext cx="10972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834640" y="32369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48640" y="3566160"/>
            <a:ext cx="1097280" cy="32918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8640" y="36027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Up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691640" y="3566160"/>
            <a:ext cx="10972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691640" y="36027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834640" y="3566160"/>
            <a:ext cx="1097280" cy="329184"/>
          </a:xfrm>
          <a:prstGeom prst="rect">
            <a:avLst/>
          </a:prstGeom>
          <a:solidFill>
            <a:srgbClr val="FCEAEA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834640" y="36027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4572000" y="246888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4572000" y="2468880"/>
            <a:ext cx="54864" cy="1554480"/>
          </a:xfrm>
          <a:prstGeom prst="rect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pic>
        <p:nvPicPr>
          <p:cNvPr id="6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578608"/>
            <a:ext cx="237744" cy="237744"/>
          </a:xfrm>
          <a:prstGeom prst="rect">
            <a:avLst/>
          </a:prstGeom>
        </p:spPr>
      </p:pic>
      <p:sp>
        <p:nvSpPr>
          <p:cNvPr id="70" name="Text 67"/>
          <p:cNvSpPr/>
          <p:nvPr/>
        </p:nvSpPr>
        <p:spPr>
          <a:xfrm>
            <a:off x="5074920" y="256032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accuracy is 90%+...</a:t>
            </a:r>
            <a:endParaRPr lang="en-US" sz="1050" dirty="0"/>
          </a:p>
        </p:txBody>
      </p:sp>
      <p:sp>
        <p:nvSpPr>
          <p:cNvPr id="71" name="Text 68"/>
          <p:cNvSpPr/>
          <p:nvPr/>
        </p:nvSpPr>
        <p:spPr>
          <a:xfrm>
            <a:off x="4754880" y="283464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...that's a RED FLAG, not a win. Most likely cause: data leakage — check that no feature is secretly derived from Next_Close.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365760" y="416052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73" name="Shape 70"/>
          <p:cNvSpPr/>
          <p:nvPr/>
        </p:nvSpPr>
        <p:spPr>
          <a:xfrm>
            <a:off x="365760" y="4160520"/>
            <a:ext cx="54864" cy="822960"/>
          </a:xfrm>
          <a:prstGeom prst="rect">
            <a:avLst/>
          </a:prstGeom>
          <a:solidFill>
            <a:srgbClr val="1A8A5F"/>
          </a:solidFill>
          <a:ln w="12700">
            <a:solidFill>
              <a:srgbClr val="1A8A5F"/>
            </a:solidFill>
            <a:prstDash val="solid"/>
          </a:ln>
        </p:spPr>
      </p:sp>
      <p:pic>
        <p:nvPicPr>
          <p:cNvPr id="7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279392"/>
            <a:ext cx="237744" cy="237744"/>
          </a:xfrm>
          <a:prstGeom prst="rect">
            <a:avLst/>
          </a:prstGeom>
        </p:spPr>
      </p:pic>
      <p:sp>
        <p:nvSpPr>
          <p:cNvPr id="75" name="Text 71"/>
          <p:cNvSpPr/>
          <p:nvPr/>
        </p:nvSpPr>
        <p:spPr>
          <a:xfrm>
            <a:off x="896112" y="425196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baseline: 68.6% (majority class), not 50%</a:t>
            </a:r>
            <a:endParaRPr lang="en-US" sz="1050" dirty="0"/>
          </a:p>
        </p:txBody>
      </p:sp>
      <p:sp>
        <p:nvSpPr>
          <p:cNvPr id="76" name="Text 72"/>
          <p:cNvSpPr/>
          <p:nvPr/>
        </p:nvSpPr>
        <p:spPr>
          <a:xfrm>
            <a:off x="548640" y="450799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66% accuracy LOSES to the real 68.6% baseline. This mirrors the Efficient Market Hypothesis — public data is mostly "priced in" already.</a:t>
            </a:r>
            <a:endParaRPr lang="en-US" sz="900" dirty="0"/>
          </a:p>
        </p:txBody>
      </p:sp>
      <p:sp>
        <p:nvSpPr>
          <p:cNvPr id="77" name="Text 73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31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6B4F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E3980"/>
          </a:solidFill>
          <a:ln w="12700">
            <a:solidFill>
              <a:srgbClr val="4E3980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097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Secondary: Titanic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D9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MOST-USED TEACHING DATASET IN ALL OF ML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365760" y="1325880"/>
            <a:ext cx="8412480" cy="914400"/>
          </a:xfrm>
          <a:prstGeom prst="rect">
            <a:avLst/>
          </a:prstGeom>
          <a:solidFill>
            <a:srgbClr val="4E3980"/>
          </a:solidFill>
          <a:ln w="12700">
            <a:solidFill>
              <a:srgbClr val="D9C9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41732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167335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Survived from passenger class, sex, age, and fare — the same binary-classification pattern as NABIL Direction, on data with real, strong signal.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2468880"/>
            <a:ext cx="8412480" cy="1691640"/>
          </a:xfrm>
          <a:prstGeom prst="rect">
            <a:avLst/>
          </a:prstGeom>
          <a:solidFill>
            <a:srgbClr val="4E39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5786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bother, if we just did classification on NABIL?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288036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E5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Titanic will score MUCH higher — typically 78–82% accuracy. Wealth (Pclass, Fare) and 1912 social norms ("women and children first") create strong, learnable patterns. Tomorrow's stock price mostly doesn't. Same algorithm, wildly different ceiling — because of what's actually knowable in the data, not anything you did wrong.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31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· B2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Encode &amp; Train on Titanic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parameter: stratify=y — keeps the Survived/Died ratio equal in train and test.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288036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" y="1371600"/>
            <a:ext cx="811987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titanic = pd.read_csv(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"https://raw.githubusercontent.com/datasciencedojo/"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"datasets/master/titanic.csv")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titanic["Age"] = titanic["Age"].fillna(titanic["Age"].median())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titanic["Embarked"] = titanic["Embarked"].fillna(titanic["Embarked"].mode()[0])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titanic["Sex"] = titanic["Sex"].map({"male": 0, "female": 1})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titanic = pd.get_dummies(titanic, columns=["Embarked"], drop_first=True)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features2 = ["Pclass","Sex","Age","SibSp","Parch","Fare","Embarked_Q","Embarked_S"]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X2, y2 = titanic[features2], titanic["Survived"]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X_train2, X_test2, y_train2, y_test2 = train_test_split(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X2, y2, test_size=0.2, random_state=42, stratify=y2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clf2 = LogisticRegression(max_iter=1000)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clf2.fit(scaler3.fit_transform(X_train2), y_train2)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429768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4297680"/>
            <a:ext cx="54864" cy="50292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4297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stratify=y2 keeps class balance intact in both splits — chronological order took priority for NABIL; class balance takes priority here.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31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· B2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Compare to NABIL Direction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algorithm, same evaluation code — a very different accuracy ceiling.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105156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" y="1371600"/>
            <a:ext cx="8119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y_pred2 = clf2.predict(scaler3.transform(X_test2))</a:t>
            </a: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print(classification_report(y_test2, y_pred2, target_names=["Died","Survived"]))</a:t>
            </a:r>
            <a:endParaRPr lang="en-US" sz="950" dirty="0"/>
          </a:p>
          <a:p>
            <a:pPr marL="0" indent="0">
              <a:lnSpc>
                <a:spcPct val="142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accuracy: 0.80   Survived: precision 0.79, recall 0.67, f1 0.72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2468880"/>
            <a:ext cx="2468880" cy="338328"/>
          </a:xfrm>
          <a:prstGeom prst="rect">
            <a:avLst/>
          </a:prstGeom>
          <a:solidFill>
            <a:srgbClr val="6B4FA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8912" y="249631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834640" y="2468880"/>
            <a:ext cx="3017520" cy="338328"/>
          </a:xfrm>
          <a:prstGeom prst="rect">
            <a:avLst/>
          </a:prstGeom>
          <a:solidFill>
            <a:srgbClr val="6B4FA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07792" y="2496312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NABIL Direction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852160" y="2468880"/>
            <a:ext cx="2926080" cy="338328"/>
          </a:xfrm>
          <a:prstGeom prst="rect">
            <a:avLst/>
          </a:prstGeom>
          <a:solidFill>
            <a:srgbClr val="6B4FA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25312" y="2496312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Survival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65760" y="2834640"/>
            <a:ext cx="2468880" cy="338328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8912" y="286207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type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834640" y="2834640"/>
            <a:ext cx="3017520" cy="338328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07792" y="2862072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852160" y="2834640"/>
            <a:ext cx="2926080" cy="338328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925312" y="2862072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(stratified)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65760" y="3200400"/>
            <a:ext cx="24688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8912" y="322783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834640" y="3200400"/>
            <a:ext cx="3017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907792" y="3227832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together in class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852160" y="3200400"/>
            <a:ext cx="29260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25312" y="3227832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~62% died / 38% survived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65760" y="3566160"/>
            <a:ext cx="2468880" cy="338328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8912" y="359359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accuracy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834640" y="3566160"/>
            <a:ext cx="3017520" cy="338328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907792" y="3593592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0.55–0.65 (real: 0.66)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5852160" y="3566160"/>
            <a:ext cx="2926080" cy="338328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925312" y="3593592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0.78–0.82 (real: 0.80)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65760" y="3931920"/>
            <a:ext cx="24688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8912" y="395935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means...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2834640" y="3931920"/>
            <a:ext cx="301752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907792" y="3959352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— check leakage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852160" y="3931920"/>
            <a:ext cx="29260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925312" y="3959352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— real signal exists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365760" y="4297680"/>
            <a:ext cx="2468880" cy="338328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38912" y="4325112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2834640" y="4297680"/>
            <a:ext cx="3017520" cy="338328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907792" y="4325112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signal (low confidence)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5852160" y="4297680"/>
            <a:ext cx="2926080" cy="338328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925312" y="4325112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/ insurance risk modelling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83" name="Shape 81"/>
          <p:cNvSpPr/>
          <p:nvPr/>
        </p:nvSpPr>
        <p:spPr>
          <a:xfrm>
            <a:off x="365760" y="4709160"/>
            <a:ext cx="54864" cy="32004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4864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algorithm, same evaluation code, wildly different ceiling — because of what's actually knowable in the data.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31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Day, One Table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algorithms, four datasets — the pattern that matters is what makes each ceiling different.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1920240" cy="420624"/>
          </a:xfrm>
          <a:prstGeom prst="rect">
            <a:avLst/>
          </a:prstGeom>
          <a:solidFill>
            <a:srgbClr val="2C487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8912" y="1325880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286000" y="1280160"/>
            <a:ext cx="1874520" cy="420624"/>
          </a:xfrm>
          <a:prstGeom prst="rect">
            <a:avLst/>
          </a:prstGeom>
          <a:solidFill>
            <a:srgbClr val="2C487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59152" y="1325880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NABIL (Linear)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160520" y="1280160"/>
            <a:ext cx="1874520" cy="420624"/>
          </a:xfrm>
          <a:prstGeom prst="rect">
            <a:avLst/>
          </a:prstGeom>
          <a:solidFill>
            <a:srgbClr val="2C487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33672" y="1325880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Prices (Linear)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035040" y="1280160"/>
            <a:ext cx="1600200" cy="420624"/>
          </a:xfrm>
          <a:prstGeom prst="rect">
            <a:avLst/>
          </a:prstGeom>
          <a:solidFill>
            <a:srgbClr val="2C487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08192" y="1325880"/>
            <a:ext cx="145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NABIL (Logistic)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635240" y="1280160"/>
            <a:ext cx="1143000" cy="420624"/>
          </a:xfrm>
          <a:prstGeom prst="rect">
            <a:avLst/>
          </a:prstGeom>
          <a:solidFill>
            <a:srgbClr val="2C487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708392" y="1325880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Titanic (Logistic)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65760" y="1737360"/>
            <a:ext cx="1920240" cy="42062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38912" y="1783080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286000" y="1737360"/>
            <a:ext cx="1874520" cy="42062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359152" y="1783080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Next-day price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160520" y="1737360"/>
            <a:ext cx="1874520" cy="42062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33672" y="1783080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SalePrice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035040" y="1737360"/>
            <a:ext cx="1600200" cy="42062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08192" y="1783080"/>
            <a:ext cx="145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Next-day direction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635240" y="1737360"/>
            <a:ext cx="1143000" cy="42062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708392" y="1783080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Survived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65760" y="2194560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8912" y="2240280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286000" y="2194560"/>
            <a:ext cx="1874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359152" y="2240280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60520" y="2194560"/>
            <a:ext cx="18745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233672" y="2240280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035040" y="2194560"/>
            <a:ext cx="16002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08192" y="2240280"/>
            <a:ext cx="145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635240" y="2194560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708392" y="2240280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(stratified)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65760" y="2651760"/>
            <a:ext cx="1920240" cy="42062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38912" y="2697480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2286000" y="2651760"/>
            <a:ext cx="1874520" cy="42062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359152" y="2697480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/ RMSE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160520" y="2651760"/>
            <a:ext cx="1874520" cy="42062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233672" y="2697480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/ RMSE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035040" y="2651760"/>
            <a:ext cx="1600200" cy="42062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108192" y="2697480"/>
            <a:ext cx="145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/ F1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7635240" y="2651760"/>
            <a:ext cx="1143000" cy="420624"/>
          </a:xfrm>
          <a:prstGeom prst="rect">
            <a:avLst/>
          </a:prstGeom>
          <a:solidFill>
            <a:srgbClr val="EAF0F9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708392" y="2697480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/ F1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365760" y="3108960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38912" y="3154680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result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2286000" y="3108960"/>
            <a:ext cx="1874520" cy="420624"/>
          </a:xfrm>
          <a:prstGeom prst="rect">
            <a:avLst/>
          </a:prstGeom>
          <a:solidFill>
            <a:srgbClr val="FCEAEA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359152" y="3154680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R²=0.364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160520" y="3108960"/>
            <a:ext cx="1874520" cy="420624"/>
          </a:xfrm>
          <a:prstGeom prst="rect">
            <a:avLst/>
          </a:prstGeom>
          <a:solidFill>
            <a:srgbClr val="E9F8F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233672" y="3154680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R²=0.794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035040" y="3108960"/>
            <a:ext cx="1600200" cy="420624"/>
          </a:xfrm>
          <a:prstGeom prst="rect">
            <a:avLst/>
          </a:prstGeom>
          <a:solidFill>
            <a:srgbClr val="FCEAEA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108192" y="3154680"/>
            <a:ext cx="1453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1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Acc=0.66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7635240" y="3108960"/>
            <a:ext cx="1143000" cy="420624"/>
          </a:xfrm>
          <a:prstGeom prst="rect">
            <a:avLst/>
          </a:prstGeom>
          <a:solidFill>
            <a:srgbClr val="E9F8F0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708392" y="3154680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Acc=0.80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65760" y="3749040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365760" y="3749040"/>
            <a:ext cx="54864" cy="10515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48640" y="374904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b="1" dirty="0">
                <a:solidFill>
                  <a:srgbClr val="6B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model's accuracy ceiling is set by how much real signal exists in the data — not by how good your code is. Same algorithms, same evaluation habits, four completely different ceilings. NABIL loses on BOTH tasks. House Prices and Titanic win on BOTH tasks.</a:t>
            </a:r>
            <a:endParaRPr lang="en-US" sz="1050" dirty="0"/>
          </a:p>
        </p:txBody>
      </p:sp>
      <p:sp>
        <p:nvSpPr>
          <p:cNvPr id="97" name="Text 95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31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silently makes results look better than they really are.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480" y="1353312"/>
            <a:ext cx="256032" cy="256032"/>
          </a:xfrm>
          <a:prstGeom prst="ellipse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1344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22960" y="1325880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Shuffling time-series data (shuffle=True) — leaks the future into training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11480" y="1828800"/>
            <a:ext cx="256032" cy="256032"/>
          </a:xfrm>
          <a:prstGeom prst="ellipse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1819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22960" y="1801368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fit_transform() on the test set — leaks test statistics into preprocessing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11480" y="2304288"/>
            <a:ext cx="256032" cy="256032"/>
          </a:xfrm>
          <a:prstGeom prst="ellipse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1480" y="22951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22960" y="2276856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chronological split out of habit on Housing/Titanic — unnecessary and pointless there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411480" y="2779776"/>
            <a:ext cx="256032" cy="256032"/>
          </a:xfrm>
          <a:prstGeom prst="ellipse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1480" y="2770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22960" y="2752344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dropna() before training — sklearn errors on NaN inputs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11480" y="3255264"/>
            <a:ext cx="256032" cy="256032"/>
          </a:xfrm>
          <a:prstGeom prst="ellipse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" y="32461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822960" y="3227832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feature secretly derived from the target — inflates results suspiciously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11480" y="3730752"/>
            <a:ext cx="256032" cy="256032"/>
          </a:xfrm>
          <a:prstGeom prst="ellipse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" y="3721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822960" y="3703320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R² alone as “good” without checking RMSE/MAE for real-world scale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411480" y="4206240"/>
            <a:ext cx="256032" cy="256032"/>
          </a:xfrm>
          <a:prstGeom prst="ellipse">
            <a:avLst/>
          </a:prstGeom>
          <a:solidFill>
            <a:srgbClr val="C13A3A"/>
          </a:solidFill>
          <a:ln w="12700">
            <a:solidFill>
              <a:srgbClr val="C13A3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11480" y="4197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822960" y="4178808"/>
            <a:ext cx="7955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disappointed by ~60% NABIL accuracy — compare to the 50% baseline, not to Titanic's 80%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31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945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8096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0"/>
            <a:ext cx="0" cy="5148072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3657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10972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2918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475488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5080">
            <a:solidFill>
              <a:srgbClr val="E1E7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274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CHALLENGE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47548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Polynomial Regression: Does More Complexity Help?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PolynomialFeatures(degree=2) to Project A. Compare R². Watch overfitting happen live.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1133856"/>
            <a:ext cx="82296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1280160"/>
            <a:ext cx="8412480" cy="1920240"/>
          </a:xfrm>
          <a:prstGeom prst="rect">
            <a:avLst/>
          </a:prstGeom>
          <a:solidFill>
            <a:srgbClr val="EEF1F8"/>
          </a:solidFill>
          <a:ln w="12700">
            <a:solidFill>
              <a:srgbClr val="D3DA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" y="1371600"/>
            <a:ext cx="81198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PolynomialFeatures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sklearn.pipeline import make_pipeline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poly_model = make_pipeline(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StandardScaler(), PolynomialFeatures(degree=2), LinearRegression()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poly_model.fit(X_train, y_train)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poly_pred = poly_model.predict(X_test)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poly_r2 = r2_score(y_test, poly_pred)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print(f"Polynomial (degree=2) R²: {poly_r2:.3f}")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A22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print(f"Original Linear R²:       {r2:.3f}")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3383280"/>
            <a:ext cx="8412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blurRad="101600" dist="38100" dir="8100000" algn="bl" rotWithShape="0">
              <a:srgbClr val="1A2233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65760" y="3383280"/>
            <a:ext cx="54864" cy="1417320"/>
          </a:xfrm>
          <a:prstGeom prst="rect">
            <a:avLst/>
          </a:prstGeom>
          <a:solidFill>
            <a:srgbClr val="B8720A"/>
          </a:solidFill>
          <a:ln w="12700">
            <a:solidFill>
              <a:srgbClr val="B8720A"/>
            </a:solidFill>
            <a:prstDash val="solid"/>
          </a:ln>
        </p:spPr>
      </p:sp>
      <p:pic>
        <p:nvPicPr>
          <p:cNvPr id="4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02152"/>
            <a:ext cx="274320" cy="274320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914400" y="349300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likely find — and why it matters</a:t>
            </a:r>
            <a:endParaRPr lang="en-US" sz="1200" dirty="0"/>
          </a:p>
        </p:txBody>
      </p:sp>
      <p:sp>
        <p:nvSpPr>
          <p:cNvPr id="50" name="Text 47"/>
          <p:cNvSpPr/>
          <p:nvPr/>
        </p:nvSpPr>
        <p:spPr>
          <a:xfrm>
            <a:off x="548640" y="379476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features at degree=2 expands to 28 polynomial features, trained on only ~130–140 rows. Test R² commonly comes out WORSE than plain linear — sometimes even negative. This is overfitting, happening live, on your own data: the direct payoff of the bias-variance discussion from Part 1.6.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31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C48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3D5F8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COMPLETE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Wins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27632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6002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four supervised ML models across two algorithms and two dataset styles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30552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21031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WHY time-series splits must be chronological — and why Housing/Titanic don't need that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33472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8680" y="26060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RMSE/MAE/R² and accuracy/precision/recall/F1 with real numbers, four times over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36392"/>
            <a:ext cx="256032" cy="2560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68680" y="31089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explain why the SAME algorithm hits wildly different accuracy ceilings on different data</a:t>
            </a:r>
            <a:endParaRPr lang="en-US" sz="1250" dirty="0"/>
          </a:p>
        </p:txBody>
      </p:sp>
      <p:sp>
        <p:nvSpPr>
          <p:cNvPr id="13" name="Shape 7"/>
          <p:cNvSpPr/>
          <p:nvPr/>
        </p:nvSpPr>
        <p:spPr>
          <a:xfrm>
            <a:off x="457200" y="3794760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9E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640080" y="390448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11: Classification Algorithms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640080" y="4206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Trees, Random Forests, SVM &amp; KNN on the Breast Cancer dataset — same evaluation habits, new model families, plus cross-validation for the first time.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31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4779</Words>
  <Application>Microsoft Office PowerPoint</Application>
  <PresentationFormat>On-screen Show (16:9)</PresentationFormat>
  <Paragraphs>561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10 — Linear &amp; Logistic Regression</dc:title>
  <dc:subject>PptxGenJS Presentation</dc:subject>
  <dc:creator>PptxGenJS</dc:creator>
  <cp:lastModifiedBy>Gagan Pradhan</cp:lastModifiedBy>
  <cp:revision>2</cp:revision>
  <dcterms:created xsi:type="dcterms:W3CDTF">2026-07-09T07:51:59Z</dcterms:created>
  <dcterms:modified xsi:type="dcterms:W3CDTF">2026-07-09T10:50:52Z</dcterms:modified>
</cp:coreProperties>
</file>