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813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D5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Saving, FastAPI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Streamlit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743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5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is not a product. Today you ship 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24406B"/>
          </a:solidFill>
          <a:ln w="12700">
            <a:solidFill>
              <a:srgbClr val="0E7C9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352044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11's SVM (98.2% accuracy) becomes a real, callable service — a total stranger could use it in a browser by the end of today.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minutes theory, 80 minutes building — a real, working, two-server app.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371600"/>
            <a:ext cx="54864" cy="9144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1828800"/>
            <a:ext cx="59436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18242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651760" y="1499616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deployment matters · joblib · Model-API-UI architecture · REST/HTTP/JSON · FastAPI · Streamlit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24231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2423160"/>
            <a:ext cx="54864" cy="9144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" y="2880360"/>
            <a:ext cx="59436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8757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651760" y="2551176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model+scaler · build FastAPI /predict · test in Swagger UI · build Streamlit UI · run both together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34747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3474720"/>
            <a:ext cx="54864" cy="91440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48640" y="3931920"/>
            <a:ext cx="80010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3927348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651760" y="3602736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custom Pydantic validator — reject physically impossible negative measurements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Deployment Matters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brilliant model that never gets deployed delivers zero value.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37160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89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that kills most ML projects: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16642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model sitting in a Colab notebook that only runs when YOU click 'Run All' is not useful to anyone else. It can't be used by a mobile app, a website, a colleague, or a customer. Deployment turns 'code that works on my machine' into 'a service other things can actually call.'"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" y="283464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2834640"/>
            <a:ext cx="54864" cy="14630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29443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specific goal: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321868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you will have taken Day 11's SVM — the exact model, the exact 98.2% accuracy — and made it into something a total stranger could open in a browser and use, without knowing anything about Python, sklearn, or how SVM works.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4434840"/>
            <a:ext cx="54864" cy="5029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also, honestly, where a huge fraction of real-world ML projects quietly die.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Models: pickle vs joblib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once, save the result, reload instantly whenever needed.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3716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9" y="1298447"/>
            <a:ext cx="8119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joblib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joblib.dump(model, "model.pkl")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joblib.dump(scaler, "scaler.pkl")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(in a completely different script/session)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joblib.load("model.pkl")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joblib.load("scaler.pkl")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78892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788920"/>
            <a:ext cx="54864" cy="82296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8803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vs joblib: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31272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serialize a Python object to a file. joblib is preferred for ML specifically because it's far more efficient at storing large NumPy arrays — exactly what a trained model's weights are.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3749040"/>
            <a:ext cx="54864" cy="118872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67912"/>
            <a:ext cx="256032" cy="256032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896112" y="38587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save the SCALER too, not just the model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scaled training features, every future prediction needs that EXACT same transformation, or predictions are silently wrong. One of the most common real deployment bugs.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Architecture: Model → API → UI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shape of nearly every deployed ML product.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9144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457200" cy="457200"/>
          </a:xfrm>
          <a:prstGeom prst="rect">
            <a:avLst/>
          </a:prstGeom>
        </p:spPr>
      </p:pic>
      <p:sp>
        <p:nvSpPr>
          <p:cNvPr id="47" name="Shape 44"/>
          <p:cNvSpPr/>
          <p:nvPr/>
        </p:nvSpPr>
        <p:spPr>
          <a:xfrm>
            <a:off x="502920" y="1371600"/>
            <a:ext cx="548640" cy="548640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23444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 + scaler.pkl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1234440" y="16459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brain"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5394960" y="13898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trained intelligence. Takes numbers in, produces a prediction out. No concept of users or buttons.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365760" y="23317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365760" y="2331720"/>
            <a:ext cx="54864" cy="9144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2468880"/>
            <a:ext cx="457200" cy="457200"/>
          </a:xfrm>
          <a:prstGeom prst="rect">
            <a:avLst/>
          </a:prstGeom>
        </p:spPr>
      </p:pic>
      <p:sp>
        <p:nvSpPr>
          <p:cNvPr id="54" name="Shape 50"/>
          <p:cNvSpPr/>
          <p:nvPr/>
        </p:nvSpPr>
        <p:spPr>
          <a:xfrm>
            <a:off x="502920" y="2423160"/>
            <a:ext cx="548640" cy="548640"/>
          </a:xfrm>
          <a:prstGeom prst="ellipse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123444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(REST API)</a:t>
            </a:r>
            <a:endParaRPr lang="en-US" sz="1250" dirty="0"/>
          </a:p>
        </p:txBody>
      </p:sp>
      <p:sp>
        <p:nvSpPr>
          <p:cNvPr id="56" name="Text 52"/>
          <p:cNvSpPr/>
          <p:nvPr/>
        </p:nvSpPr>
        <p:spPr>
          <a:xfrm>
            <a:off x="1234440" y="26974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phone line"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5394960" y="24414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for requests over the network, loads the model once, translates JSON to prediction and back.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365760" y="33832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5"/>
          <p:cNvSpPr/>
          <p:nvPr/>
        </p:nvSpPr>
        <p:spPr>
          <a:xfrm>
            <a:off x="365760" y="3383280"/>
            <a:ext cx="54864" cy="9144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3520440"/>
            <a:ext cx="457200" cy="457200"/>
          </a:xfrm>
          <a:prstGeom prst="rect">
            <a:avLst/>
          </a:prstGeom>
        </p:spPr>
      </p:pic>
      <p:sp>
        <p:nvSpPr>
          <p:cNvPr id="61" name="Shape 56"/>
          <p:cNvSpPr/>
          <p:nvPr/>
        </p:nvSpPr>
        <p:spPr>
          <a:xfrm>
            <a:off x="502920" y="3474720"/>
            <a:ext cx="548640" cy="548640"/>
          </a:xfrm>
          <a:prstGeom prst="ellipse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123444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 (UI)</a:t>
            </a:r>
            <a:endParaRPr lang="en-US" sz="1250" dirty="0"/>
          </a:p>
        </p:txBody>
      </p:sp>
      <p:sp>
        <p:nvSpPr>
          <p:cNvPr id="63" name="Text 58"/>
          <p:cNvSpPr/>
          <p:nvPr/>
        </p:nvSpPr>
        <p:spPr>
          <a:xfrm>
            <a:off x="1234440" y="37490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face"</a:t>
            </a:r>
            <a:endParaRPr lang="en-US" sz="950" dirty="0"/>
          </a:p>
        </p:txBody>
      </p:sp>
      <p:sp>
        <p:nvSpPr>
          <p:cNvPr id="64" name="Text 59"/>
          <p:cNvSpPr/>
          <p:nvPr/>
        </p:nvSpPr>
        <p:spPr>
          <a:xfrm>
            <a:off x="5394960" y="34930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layer a human sees. Sliders, buttons, text — collects input, sends it, displays what comes back.</a:t>
            </a:r>
            <a:endParaRPr lang="en-US" sz="850" dirty="0"/>
          </a:p>
        </p:txBody>
      </p:sp>
      <p:sp>
        <p:nvSpPr>
          <p:cNvPr id="65" name="Shape 60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6" name="Shape 61"/>
          <p:cNvSpPr/>
          <p:nvPr/>
        </p:nvSpPr>
        <p:spPr>
          <a:xfrm>
            <a:off x="365760" y="4434840"/>
            <a:ext cx="54864" cy="5486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54864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API doesn't care if the request came from Streamlit or a totally different app next year. This separation is why real companies can swap frontends without retraining anything."</a:t>
            </a:r>
            <a:endParaRPr lang="en-US" sz="950" dirty="0"/>
          </a:p>
        </p:txBody>
      </p:sp>
      <p:sp>
        <p:nvSpPr>
          <p:cNvPr id="68" name="Text 6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Concepts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methods, JSON, and the status codes you'll see today.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1887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16642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data" — no side effects, safe to call repeatedly. Loading a webpage.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1280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1280160"/>
            <a:ext cx="54864" cy="118872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46320" y="16642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"Here's data, do something with it" — exactly what a prediction request is.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2651760"/>
            <a:ext cx="100584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26791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371600" y="2651760"/>
            <a:ext cx="256032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44752" y="267919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31920" y="2651760"/>
            <a:ext cx="484632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05072" y="267919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 today when...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3017520"/>
            <a:ext cx="1005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" y="30449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371600" y="3017520"/>
            <a:ext cx="25603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44752" y="304495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success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931920" y="3017520"/>
            <a:ext cx="48463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05072" y="304495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prediction request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338328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341071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371600" y="33832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44752" y="341071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931920" y="3383280"/>
            <a:ext cx="4846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05072" y="341071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Hitting a URL that doesn't exist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65760" y="3749040"/>
            <a:ext cx="1005840" cy="329184"/>
          </a:xfrm>
          <a:prstGeom prst="rect">
            <a:avLst/>
          </a:prstGeom>
          <a:solidFill>
            <a:srgbClr val="FDF3E3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" y="377647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371600" y="3749040"/>
            <a:ext cx="2560320" cy="329184"/>
          </a:xfrm>
          <a:prstGeom prst="rect">
            <a:avLst/>
          </a:prstGeom>
          <a:solidFill>
            <a:srgbClr val="FDF3E3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44752" y="37764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Unprocessable Entity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931920" y="3749040"/>
            <a:ext cx="4846320" cy="329184"/>
          </a:xfrm>
          <a:prstGeom prst="rect">
            <a:avLst/>
          </a:prstGeom>
          <a:solidFill>
            <a:srgbClr val="FDF3E3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05072" y="377647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JSON doesn't match expected shape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65760" y="41148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" y="414223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371600" y="411480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44752" y="414223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Server Error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931920" y="4114800"/>
            <a:ext cx="4846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005072" y="4142232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broke in YOUR code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20624" y="445312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3" name="Shape 81"/>
          <p:cNvSpPr/>
          <p:nvPr/>
        </p:nvSpPr>
        <p:spPr>
          <a:xfrm>
            <a:off x="384048" y="4443983"/>
            <a:ext cx="54864" cy="59436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864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"422 is your best friend today — validation caught a bad request BEFORE it reached your model. That's the system working exactly as designed."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Auto Docs &amp; Pydantic Validation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 you'll use directly today, both free from type hints.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Field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PatientFeatures(BaseModel):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features: list[float] = Field(..., min_length=30, max_length=30)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423160"/>
            <a:ext cx="54864" cy="109728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5146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class does: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277063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SHAPE of a valid request — a list of exactly 30 floats. FastAPI automatically rejects anything that doesn't match, with a clear error, before your prediction code ever runs. You wrote ZERO lines of validation logic.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365760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3657600"/>
            <a:ext cx="54864" cy="128016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7490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— coming in the practical: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40050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start a FastAPI server, it automatically builds a live, interactive documentation page at /docs — test every endpoint directly in the browser, no Postman, no curl commands, nothing extra to install.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Widgets &amp; Layout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plain Python script into a web app — no HTML, CSS, or JavaScript.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3716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streamlit as st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st.title("My App")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st.slider("Pick a number", 0, 100, 50)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st.button("Submit"):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st.write(f"You picked {value}")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78892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788920"/>
            <a:ext cx="54864" cy="105156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8803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 mental model, worth saying explicitly: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31363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script re-runs from top to bottom every time the user interacts with something — a different model from most web frameworks.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3977640"/>
            <a:ext cx="54864" cy="9144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0690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st.write() — the universal display function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43251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text, shows a DataFrame, renders a chart — picks the right format automatically. When in doubt, st.write() it.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Ship Day 11's SVM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BETTER MODEL — THE PLUMBING FOR THE ONE YOU HAVE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24406B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3898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"Today's model isn't new — it's Day 11's SVM, the one that beat every other classifier on Breast Cancer Wisconsin. We're building the plumbing that lets someone else use the one you already built."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44144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4231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model &amp; scaler with joblib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89864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28803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FastAPI backend (main.py)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35584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33375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Swagger UI — no client code needed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1304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" y="37947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Streamlit frontend (app.py)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27024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42519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servers simultaneously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Model &amp; Scaler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result: 98.2% accuracy, matches Day 11 exactly.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59" y="1216152"/>
            <a:ext cx="8467344" cy="2468881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80971" y="1228345"/>
            <a:ext cx="81198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/>
              <a:t>from </a:t>
            </a:r>
            <a:r>
              <a:rPr lang="en-US" sz="800" dirty="0" err="1"/>
              <a:t>sklearn.datasets</a:t>
            </a:r>
            <a:r>
              <a:rPr lang="en-US" sz="800" dirty="0"/>
              <a:t> import </a:t>
            </a:r>
            <a:r>
              <a:rPr lang="en-US" sz="800" dirty="0" err="1"/>
              <a:t>load_breast_cancer</a:t>
            </a:r>
            <a:endParaRPr lang="en-US" sz="800" dirty="0"/>
          </a:p>
          <a:p>
            <a:pPr marL="0" indent="0">
              <a:buNone/>
            </a:pPr>
            <a:r>
              <a:rPr lang="en-US" sz="800" dirty="0"/>
              <a:t>from </a:t>
            </a:r>
            <a:r>
              <a:rPr lang="en-US" sz="800" dirty="0" err="1"/>
              <a:t>sklearn.model_selection</a:t>
            </a:r>
            <a:r>
              <a:rPr lang="en-US" sz="800" dirty="0"/>
              <a:t> import </a:t>
            </a:r>
            <a:r>
              <a:rPr lang="en-US" sz="800" dirty="0" err="1"/>
              <a:t>train_test_split</a:t>
            </a:r>
            <a:endParaRPr lang="en-US" sz="800" dirty="0"/>
          </a:p>
          <a:p>
            <a:pPr marL="0" indent="0">
              <a:buNone/>
            </a:pPr>
            <a:r>
              <a:rPr lang="en-US" sz="800" dirty="0"/>
              <a:t>from </a:t>
            </a:r>
            <a:r>
              <a:rPr lang="en-US" sz="800" dirty="0" err="1"/>
              <a:t>sklearn.preprocessing</a:t>
            </a:r>
            <a:r>
              <a:rPr lang="en-US" sz="800" dirty="0"/>
              <a:t> import </a:t>
            </a:r>
            <a:r>
              <a:rPr lang="en-US" sz="800" dirty="0" err="1"/>
              <a:t>StandardScaler</a:t>
            </a:r>
            <a:endParaRPr lang="en-US" sz="800" dirty="0"/>
          </a:p>
          <a:p>
            <a:pPr marL="0" indent="0">
              <a:buNone/>
            </a:pPr>
            <a:r>
              <a:rPr lang="en-US" sz="800" dirty="0"/>
              <a:t>from </a:t>
            </a:r>
            <a:r>
              <a:rPr lang="en-US" sz="800" dirty="0" err="1"/>
              <a:t>sklearn.svm</a:t>
            </a:r>
            <a:r>
              <a:rPr lang="en-US" sz="800" dirty="0"/>
              <a:t> import SVC</a:t>
            </a:r>
          </a:p>
          <a:p>
            <a:pPr marL="0" indent="0">
              <a:buNone/>
            </a:pPr>
            <a:r>
              <a:rPr lang="en-US" sz="800" dirty="0"/>
              <a:t>data = </a:t>
            </a:r>
            <a:r>
              <a:rPr lang="en-US" sz="800" dirty="0" err="1"/>
              <a:t>load_breast_cancer</a:t>
            </a:r>
            <a:r>
              <a:rPr lang="en-US" sz="800" dirty="0"/>
              <a:t>()</a:t>
            </a:r>
          </a:p>
          <a:p>
            <a:pPr marL="0" indent="0">
              <a:buNone/>
            </a:pPr>
            <a:r>
              <a:rPr lang="en-US" sz="800" dirty="0"/>
              <a:t>X, y = </a:t>
            </a:r>
            <a:r>
              <a:rPr lang="en-US" sz="800" dirty="0" err="1"/>
              <a:t>data.data</a:t>
            </a:r>
            <a:r>
              <a:rPr lang="en-US" sz="800" dirty="0"/>
              <a:t>, </a:t>
            </a:r>
            <a:r>
              <a:rPr lang="en-US" sz="800" dirty="0" err="1"/>
              <a:t>data.target</a:t>
            </a:r>
            <a:endParaRPr lang="en-US" sz="800" dirty="0"/>
          </a:p>
          <a:p>
            <a:pPr marL="0" indent="0">
              <a:buNone/>
            </a:pPr>
            <a:r>
              <a:rPr lang="en-US" sz="800" dirty="0" err="1"/>
              <a:t>X_train</a:t>
            </a:r>
            <a:r>
              <a:rPr lang="en-US" sz="800" dirty="0"/>
              <a:t>, </a:t>
            </a:r>
            <a:r>
              <a:rPr lang="en-US" sz="800" dirty="0" err="1"/>
              <a:t>X_test</a:t>
            </a:r>
            <a:r>
              <a:rPr lang="en-US" sz="800" dirty="0"/>
              <a:t>, </a:t>
            </a:r>
            <a:r>
              <a:rPr lang="en-US" sz="800" dirty="0" err="1"/>
              <a:t>y_train</a:t>
            </a:r>
            <a:r>
              <a:rPr lang="en-US" sz="800" dirty="0"/>
              <a:t>, </a:t>
            </a:r>
            <a:r>
              <a:rPr lang="en-US" sz="800" dirty="0" err="1"/>
              <a:t>y_test</a:t>
            </a:r>
            <a:r>
              <a:rPr lang="en-US" sz="800" dirty="0"/>
              <a:t> = </a:t>
            </a:r>
            <a:r>
              <a:rPr lang="en-US" sz="800" dirty="0" err="1"/>
              <a:t>train_test_split</a:t>
            </a:r>
            <a:r>
              <a:rPr lang="en-US" sz="800" dirty="0"/>
              <a:t>(</a:t>
            </a:r>
          </a:p>
          <a:p>
            <a:pPr marL="0" indent="0">
              <a:buNone/>
            </a:pPr>
            <a:r>
              <a:rPr lang="en-US" sz="800" dirty="0"/>
              <a:t>    X, y, </a:t>
            </a:r>
            <a:r>
              <a:rPr lang="en-US" sz="800" dirty="0" err="1"/>
              <a:t>test_size</a:t>
            </a:r>
            <a:r>
              <a:rPr lang="en-US" sz="800" dirty="0"/>
              <a:t>=0.2, </a:t>
            </a:r>
            <a:r>
              <a:rPr lang="en-US" sz="800" dirty="0" err="1"/>
              <a:t>random_state</a:t>
            </a:r>
            <a:r>
              <a:rPr lang="en-US" sz="800" dirty="0"/>
              <a:t>=42, stratify=y</a:t>
            </a:r>
          </a:p>
          <a:p>
            <a:pPr marL="0" indent="0">
              <a:buNone/>
            </a:pPr>
            <a:r>
              <a:rPr lang="en-US" sz="800" dirty="0"/>
              <a:t>)</a:t>
            </a:r>
          </a:p>
          <a:p>
            <a:pPr marL="0" indent="0">
              <a:buNone/>
            </a:pPr>
            <a:r>
              <a:rPr lang="en-US" sz="800" dirty="0"/>
              <a:t>scaler = </a:t>
            </a:r>
            <a:r>
              <a:rPr lang="en-US" sz="800" dirty="0" err="1"/>
              <a:t>StandardScaler</a:t>
            </a:r>
            <a:r>
              <a:rPr lang="en-US" sz="800" dirty="0"/>
              <a:t>()</a:t>
            </a:r>
          </a:p>
          <a:p>
            <a:pPr marL="0" indent="0">
              <a:buNone/>
            </a:pPr>
            <a:r>
              <a:rPr lang="en-US" sz="800" dirty="0" err="1"/>
              <a:t>X_train_scaled</a:t>
            </a:r>
            <a:r>
              <a:rPr lang="en-US" sz="800" dirty="0"/>
              <a:t> = </a:t>
            </a:r>
            <a:r>
              <a:rPr lang="en-US" sz="800" dirty="0" err="1"/>
              <a:t>scaler.fit_transform</a:t>
            </a:r>
            <a:r>
              <a:rPr lang="en-US" sz="800" dirty="0"/>
              <a:t>(</a:t>
            </a:r>
            <a:r>
              <a:rPr lang="en-US" sz="800" dirty="0" err="1"/>
              <a:t>X_train</a:t>
            </a:r>
            <a:r>
              <a:rPr lang="en-US" sz="800" dirty="0"/>
              <a:t>)</a:t>
            </a:r>
          </a:p>
          <a:p>
            <a:pPr marL="0" indent="0">
              <a:buNone/>
            </a:pPr>
            <a:r>
              <a:rPr lang="en-US" sz="800" dirty="0" err="1"/>
              <a:t>X_test_scaled</a:t>
            </a:r>
            <a:r>
              <a:rPr lang="en-US" sz="800" dirty="0"/>
              <a:t> = </a:t>
            </a:r>
            <a:r>
              <a:rPr lang="en-US" sz="800" dirty="0" err="1"/>
              <a:t>scaler.transform</a:t>
            </a:r>
            <a:r>
              <a:rPr lang="en-US" sz="800" dirty="0"/>
              <a:t>(</a:t>
            </a:r>
            <a:r>
              <a:rPr lang="en-US" sz="800" dirty="0" err="1"/>
              <a:t>X_test</a:t>
            </a:r>
            <a:r>
              <a:rPr lang="en-US" sz="800" dirty="0"/>
              <a:t>)</a:t>
            </a:r>
          </a:p>
          <a:p>
            <a:pPr marL="0" indent="0">
              <a:buNone/>
            </a:pPr>
            <a:r>
              <a:rPr lang="en-US" sz="800" dirty="0"/>
              <a:t># probability=True is required to get confidence scores later, not just labels</a:t>
            </a:r>
          </a:p>
          <a:p>
            <a:pPr marL="0" indent="0">
              <a:buNone/>
            </a:pPr>
            <a:r>
              <a:rPr lang="en-US" sz="800" dirty="0"/>
              <a:t>model = SVC(</a:t>
            </a:r>
            <a:r>
              <a:rPr lang="en-US" sz="800" dirty="0" err="1"/>
              <a:t>random_state</a:t>
            </a:r>
            <a:r>
              <a:rPr lang="en-US" sz="800" dirty="0"/>
              <a:t>=42, probability=True)</a:t>
            </a:r>
          </a:p>
          <a:p>
            <a:pPr marL="0" indent="0">
              <a:buNone/>
            </a:pPr>
            <a:r>
              <a:rPr lang="en-US" sz="800" dirty="0" err="1"/>
              <a:t>model.fit</a:t>
            </a:r>
            <a:r>
              <a:rPr lang="en-US" sz="800" dirty="0"/>
              <a:t>(</a:t>
            </a:r>
            <a:r>
              <a:rPr lang="en-US" sz="800" dirty="0" err="1"/>
              <a:t>X_train_scaled</a:t>
            </a:r>
            <a:r>
              <a:rPr lang="en-US" sz="800" dirty="0"/>
              <a:t>, </a:t>
            </a:r>
            <a:r>
              <a:rPr lang="en-US" sz="800" dirty="0" err="1"/>
              <a:t>y_train</a:t>
            </a:r>
            <a:r>
              <a:rPr lang="en-US" sz="800" dirty="0"/>
              <a:t>)</a:t>
            </a:r>
          </a:p>
          <a:p>
            <a:pPr marL="0" indent="0">
              <a:buNone/>
            </a:pPr>
            <a:r>
              <a:rPr lang="en-US" sz="800" dirty="0"/>
              <a:t>print(</a:t>
            </a:r>
            <a:r>
              <a:rPr lang="en-US" sz="800" dirty="0" err="1"/>
              <a:t>f"Test</a:t>
            </a:r>
            <a:r>
              <a:rPr lang="en-US" sz="800" dirty="0"/>
              <a:t> accuracy: {</a:t>
            </a:r>
            <a:r>
              <a:rPr lang="en-US" sz="800" dirty="0" err="1"/>
              <a:t>model.score</a:t>
            </a:r>
            <a:r>
              <a:rPr lang="en-US" sz="800" dirty="0"/>
              <a:t>(</a:t>
            </a:r>
            <a:r>
              <a:rPr lang="en-US" sz="800" dirty="0" err="1"/>
              <a:t>X_test_scaled</a:t>
            </a:r>
            <a:r>
              <a:rPr lang="en-US" sz="800" dirty="0"/>
              <a:t>, </a:t>
            </a:r>
            <a:r>
              <a:rPr lang="en-US" sz="800" dirty="0" err="1"/>
              <a:t>y_test</a:t>
            </a:r>
            <a:r>
              <a:rPr lang="en-US" sz="800" dirty="0"/>
              <a:t>):.3f}")</a:t>
            </a:r>
          </a:p>
          <a:p>
            <a:pPr marL="0" indent="0">
              <a:buNone/>
            </a:pPr>
            <a:r>
              <a:rPr lang="en-US" sz="800" dirty="0"/>
              <a:t># Test accuracy: 0.982 — matches Day 11 exactly</a:t>
            </a:r>
          </a:p>
          <a:p>
            <a:pPr marL="0" indent="0">
              <a:buNone/>
            </a:pPr>
            <a:r>
              <a:rPr lang="en-US" sz="800" dirty="0" err="1"/>
              <a:t>joblib.dump</a:t>
            </a:r>
            <a:r>
              <a:rPr lang="en-US" sz="800" dirty="0"/>
              <a:t>(model, "</a:t>
            </a:r>
            <a:r>
              <a:rPr lang="en-US" sz="800" dirty="0" err="1"/>
              <a:t>breast_cancer_svm.pkl</a:t>
            </a:r>
            <a:r>
              <a:rPr lang="en-US" sz="800" dirty="0"/>
              <a:t>")</a:t>
            </a:r>
          </a:p>
          <a:p>
            <a:pPr marL="0" indent="0">
              <a:buNone/>
            </a:pPr>
            <a:r>
              <a:rPr lang="en-US" sz="800" dirty="0" err="1"/>
              <a:t>joblib.dump</a:t>
            </a:r>
            <a:r>
              <a:rPr lang="en-US" sz="800" dirty="0"/>
              <a:t>(scaler, "</a:t>
            </a:r>
            <a:r>
              <a:rPr lang="en-US" sz="800" dirty="0" err="1"/>
              <a:t>breast_cancer_scaler.pkl</a:t>
            </a:r>
            <a:r>
              <a:rPr lang="en-US" sz="800" dirty="0"/>
              <a:t>")</a:t>
            </a:r>
          </a:p>
          <a:p>
            <a:pPr marL="0" indent="0">
              <a:buNone/>
            </a:pPr>
            <a:r>
              <a:rPr lang="en-US" sz="800" dirty="0"/>
              <a:t>print("Saved model and scaler.")</a:t>
            </a:r>
          </a:p>
        </p:txBody>
      </p:sp>
      <p:sp>
        <p:nvSpPr>
          <p:cNvPr id="46" name="Shape 44"/>
          <p:cNvSpPr/>
          <p:nvPr/>
        </p:nvSpPr>
        <p:spPr>
          <a:xfrm>
            <a:off x="365760" y="370332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703320"/>
            <a:ext cx="54864" cy="128016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22192"/>
            <a:ext cx="256032" cy="256032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896112" y="38130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probability=True must be set BEFORE training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SVC only outputs a hard label, no confidence number. Can't be added retroactively — if forgotten, you retrain.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FastAPI Backend (main.py)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.py file run as a server — not a notebook cell.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26060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86784" y="967740"/>
            <a:ext cx="4425695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/>
              <a:t>import </a:t>
            </a:r>
            <a:r>
              <a:rPr lang="en-US" sz="800" dirty="0" err="1"/>
              <a:t>joblib</a:t>
            </a:r>
            <a:endParaRPr lang="en-US" sz="800" dirty="0"/>
          </a:p>
          <a:p>
            <a:pPr marL="0" indent="0">
              <a:buNone/>
            </a:pPr>
            <a:r>
              <a:rPr lang="en-US" sz="800" dirty="0"/>
              <a:t>import </a:t>
            </a:r>
            <a:r>
              <a:rPr lang="en-US" sz="800" dirty="0" err="1"/>
              <a:t>numpy</a:t>
            </a:r>
            <a:r>
              <a:rPr lang="en-US" sz="800" dirty="0"/>
              <a:t> as np</a:t>
            </a:r>
          </a:p>
          <a:p>
            <a:pPr marL="0" indent="0">
              <a:buNone/>
            </a:pPr>
            <a:r>
              <a:rPr lang="en-US" sz="800" dirty="0"/>
              <a:t>from </a:t>
            </a:r>
            <a:r>
              <a:rPr lang="en-US" sz="800" dirty="0" err="1"/>
              <a:t>fastapi</a:t>
            </a:r>
            <a:r>
              <a:rPr lang="en-US" sz="800" dirty="0"/>
              <a:t> import </a:t>
            </a:r>
            <a:r>
              <a:rPr lang="en-US" sz="800" dirty="0" err="1"/>
              <a:t>FastAPI</a:t>
            </a:r>
            <a:endParaRPr lang="en-US" sz="800" dirty="0"/>
          </a:p>
          <a:p>
            <a:pPr marL="0" indent="0">
              <a:buNone/>
            </a:pPr>
            <a:r>
              <a:rPr lang="en-US" sz="800" dirty="0"/>
              <a:t>from </a:t>
            </a:r>
            <a:r>
              <a:rPr lang="en-US" sz="800" dirty="0" err="1"/>
              <a:t>pydantic</a:t>
            </a:r>
            <a:r>
              <a:rPr lang="en-US" sz="800" dirty="0"/>
              <a:t> import </a:t>
            </a:r>
            <a:r>
              <a:rPr lang="en-US" sz="800" dirty="0" err="1"/>
              <a:t>BaseModel</a:t>
            </a:r>
            <a:r>
              <a:rPr lang="en-US" sz="800" dirty="0"/>
              <a:t>, Field, </a:t>
            </a:r>
            <a:r>
              <a:rPr lang="en-US" sz="800" dirty="0" err="1"/>
              <a:t>field_validator</a:t>
            </a:r>
            <a:endParaRPr lang="en-US" sz="800" dirty="0"/>
          </a:p>
          <a:p>
            <a:pPr marL="0" indent="0">
              <a:buNone/>
            </a:pPr>
            <a:r>
              <a:rPr lang="en-US" sz="800" dirty="0"/>
              <a:t>app = </a:t>
            </a:r>
            <a:r>
              <a:rPr lang="en-US" sz="800" dirty="0" err="1"/>
              <a:t>FastAPI</a:t>
            </a:r>
            <a:r>
              <a:rPr lang="en-US" sz="800" dirty="0"/>
              <a:t>(title="Breast Cancer Classifier API")</a:t>
            </a:r>
          </a:p>
          <a:p>
            <a:pPr marL="0" indent="0">
              <a:buNone/>
            </a:pPr>
            <a:r>
              <a:rPr lang="en-US" sz="800" dirty="0"/>
              <a:t>model = </a:t>
            </a:r>
            <a:r>
              <a:rPr lang="en-US" sz="800" dirty="0" err="1"/>
              <a:t>joblib.load</a:t>
            </a:r>
            <a:r>
              <a:rPr lang="en-US" sz="800" dirty="0"/>
              <a:t>("</a:t>
            </a:r>
            <a:r>
              <a:rPr lang="en-US" sz="800" dirty="0" err="1"/>
              <a:t>breast_cancer_svm.pkl</a:t>
            </a:r>
            <a:r>
              <a:rPr lang="en-US" sz="800" dirty="0"/>
              <a:t>")</a:t>
            </a:r>
          </a:p>
          <a:p>
            <a:pPr marL="0" indent="0">
              <a:buNone/>
            </a:pPr>
            <a:r>
              <a:rPr lang="en-US" sz="800" dirty="0"/>
              <a:t>scaler = </a:t>
            </a:r>
            <a:r>
              <a:rPr lang="en-US" sz="800" dirty="0" err="1"/>
              <a:t>joblib.load</a:t>
            </a:r>
            <a:r>
              <a:rPr lang="en-US" sz="800" dirty="0"/>
              <a:t>("</a:t>
            </a:r>
            <a:r>
              <a:rPr lang="en-US" sz="800" dirty="0" err="1"/>
              <a:t>breast_cancer_scaler.pkl</a:t>
            </a:r>
            <a:r>
              <a:rPr lang="en-US" sz="800" dirty="0"/>
              <a:t>")</a:t>
            </a:r>
          </a:p>
          <a:p>
            <a:pPr marL="0" indent="0">
              <a:buNone/>
            </a:pPr>
            <a:r>
              <a:rPr lang="en-US" sz="800" dirty="0"/>
              <a:t>class </a:t>
            </a:r>
            <a:r>
              <a:rPr lang="en-US" sz="800" dirty="0" err="1"/>
              <a:t>PatientFeatures</a:t>
            </a:r>
            <a:r>
              <a:rPr lang="en-US" sz="800" dirty="0"/>
              <a:t>(</a:t>
            </a:r>
            <a:r>
              <a:rPr lang="en-US" sz="800" dirty="0" err="1"/>
              <a:t>BaseModel</a:t>
            </a:r>
            <a:r>
              <a:rPr lang="en-US" sz="800" dirty="0"/>
              <a:t>):</a:t>
            </a:r>
          </a:p>
          <a:p>
            <a:pPr marL="0" indent="0">
              <a:buNone/>
            </a:pPr>
            <a:r>
              <a:rPr lang="en-US" sz="800" dirty="0"/>
              <a:t>    features: list[float] = Field(..., </a:t>
            </a:r>
            <a:r>
              <a:rPr lang="en-US" sz="800" dirty="0" err="1"/>
              <a:t>min_length</a:t>
            </a:r>
            <a:r>
              <a:rPr lang="en-US" sz="800" dirty="0"/>
              <a:t>=30, </a:t>
            </a:r>
            <a:r>
              <a:rPr lang="en-US" sz="800" dirty="0" err="1"/>
              <a:t>max_length</a:t>
            </a:r>
            <a:r>
              <a:rPr lang="en-US" sz="800" dirty="0"/>
              <a:t>=30)</a:t>
            </a:r>
          </a:p>
          <a:p>
            <a:pPr marL="0" indent="0">
              <a:buNone/>
            </a:pPr>
            <a:r>
              <a:rPr lang="en-US" sz="800" dirty="0"/>
              <a:t>@app.get("/")</a:t>
            </a:r>
          </a:p>
          <a:p>
            <a:pPr marL="0" indent="0">
              <a:buNone/>
            </a:pPr>
            <a:r>
              <a:rPr lang="en-US" sz="800" dirty="0"/>
              <a:t>def root():</a:t>
            </a:r>
          </a:p>
          <a:p>
            <a:pPr marL="0" indent="0">
              <a:buNone/>
            </a:pPr>
            <a:r>
              <a:rPr lang="en-US" sz="800" dirty="0"/>
              <a:t>    return {"message": "Breast Cancer Classifier API", "status": "running"}</a:t>
            </a:r>
          </a:p>
          <a:p>
            <a:pPr marL="0" indent="0">
              <a:buNone/>
            </a:pPr>
            <a:r>
              <a:rPr lang="en-US" sz="800" dirty="0"/>
              <a:t>@app.post("/predict")</a:t>
            </a:r>
          </a:p>
          <a:p>
            <a:pPr marL="0" indent="0">
              <a:buNone/>
            </a:pPr>
            <a:r>
              <a:rPr lang="en-US" sz="800" dirty="0"/>
              <a:t>def predict(data: </a:t>
            </a:r>
            <a:r>
              <a:rPr lang="en-US" sz="800" dirty="0" err="1"/>
              <a:t>PatientFeatures</a:t>
            </a:r>
            <a:r>
              <a:rPr lang="en-US" sz="800" dirty="0"/>
              <a:t>):</a:t>
            </a:r>
          </a:p>
          <a:p>
            <a:pPr marL="0" indent="0">
              <a:buNone/>
            </a:pPr>
            <a:r>
              <a:rPr lang="en-US" sz="800" dirty="0"/>
              <a:t>    X = </a:t>
            </a:r>
            <a:r>
              <a:rPr lang="en-US" sz="800" dirty="0" err="1"/>
              <a:t>np.array</a:t>
            </a:r>
            <a:r>
              <a:rPr lang="en-US" sz="800" dirty="0"/>
              <a:t>(</a:t>
            </a:r>
            <a:r>
              <a:rPr lang="en-US" sz="800" dirty="0" err="1"/>
              <a:t>data.features</a:t>
            </a:r>
            <a:r>
              <a:rPr lang="en-US" sz="800" dirty="0"/>
              <a:t>).reshape(1, -1)</a:t>
            </a:r>
          </a:p>
          <a:p>
            <a:pPr marL="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X_scaled</a:t>
            </a:r>
            <a:r>
              <a:rPr lang="en-US" sz="800" dirty="0"/>
              <a:t> = </a:t>
            </a:r>
            <a:r>
              <a:rPr lang="en-US" sz="800" dirty="0" err="1"/>
              <a:t>scaler.transform</a:t>
            </a:r>
            <a:r>
              <a:rPr lang="en-US" sz="800" dirty="0"/>
              <a:t>(X)</a:t>
            </a:r>
          </a:p>
          <a:p>
            <a:pPr marL="0" indent="0">
              <a:buNone/>
            </a:pPr>
            <a:r>
              <a:rPr lang="en-US" sz="800" dirty="0"/>
              <a:t>    prediction = </a:t>
            </a:r>
            <a:r>
              <a:rPr lang="en-US" sz="800" dirty="0" err="1"/>
              <a:t>model.predict</a:t>
            </a:r>
            <a:r>
              <a:rPr lang="en-US" sz="800" dirty="0"/>
              <a:t>(</a:t>
            </a:r>
            <a:r>
              <a:rPr lang="en-US" sz="800" dirty="0" err="1"/>
              <a:t>X_scaled</a:t>
            </a:r>
            <a:r>
              <a:rPr lang="en-US" sz="800" dirty="0"/>
              <a:t>)[0]</a:t>
            </a:r>
          </a:p>
          <a:p>
            <a:pPr marL="0" indent="0">
              <a:buNone/>
            </a:pPr>
            <a:r>
              <a:rPr lang="en-US" sz="800" dirty="0"/>
              <a:t>    probability = </a:t>
            </a:r>
            <a:r>
              <a:rPr lang="en-US" sz="800" dirty="0" err="1"/>
              <a:t>model.predict_proba</a:t>
            </a:r>
            <a:r>
              <a:rPr lang="en-US" sz="800" dirty="0"/>
              <a:t>(</a:t>
            </a:r>
            <a:r>
              <a:rPr lang="en-US" sz="800" dirty="0" err="1"/>
              <a:t>X_scaled</a:t>
            </a:r>
            <a:r>
              <a:rPr lang="en-US" sz="800" dirty="0"/>
              <a:t>)[0]</a:t>
            </a:r>
          </a:p>
          <a:p>
            <a:pPr marL="0" indent="0">
              <a:buNone/>
            </a:pPr>
            <a:r>
              <a:rPr lang="en-US" sz="800" dirty="0"/>
              <a:t>    label = "malignant" if prediction == 0 else "benign"</a:t>
            </a:r>
          </a:p>
          <a:p>
            <a:pPr marL="0" indent="0">
              <a:buNone/>
            </a:pPr>
            <a:r>
              <a:rPr lang="en-US" sz="800" dirty="0"/>
              <a:t>    return {</a:t>
            </a:r>
          </a:p>
          <a:p>
            <a:pPr marL="0" indent="0">
              <a:buNone/>
            </a:pPr>
            <a:r>
              <a:rPr lang="en-US" sz="800" dirty="0"/>
              <a:t>        "prediction": label,</a:t>
            </a:r>
          </a:p>
          <a:p>
            <a:pPr marL="0" indent="0">
              <a:buNone/>
            </a:pPr>
            <a:r>
              <a:rPr lang="en-US" sz="800" dirty="0"/>
              <a:t>        "confidence": float(max(probability)),</a:t>
            </a:r>
          </a:p>
          <a:p>
            <a:pPr marL="0" indent="0">
              <a:buNone/>
            </a:pPr>
            <a:r>
              <a:rPr lang="en-US" sz="800" dirty="0"/>
              <a:t>        "probabilities": {</a:t>
            </a:r>
          </a:p>
          <a:p>
            <a:pPr marL="0" indent="0">
              <a:buNone/>
            </a:pPr>
            <a:r>
              <a:rPr lang="en-US" sz="800" dirty="0"/>
              <a:t>            "malignant": float(probability[0]),</a:t>
            </a:r>
          </a:p>
          <a:p>
            <a:pPr marL="0" indent="0">
              <a:buNone/>
            </a:pPr>
            <a:r>
              <a:rPr lang="en-US" sz="800" dirty="0"/>
              <a:t>            "benign": float(probability[1])</a:t>
            </a:r>
          </a:p>
          <a:p>
            <a:pPr marL="0" indent="0">
              <a:buNone/>
            </a:pPr>
            <a:r>
              <a:rPr lang="en-US" sz="800" dirty="0"/>
              <a:t>        }</a:t>
            </a:r>
          </a:p>
          <a:p>
            <a:pPr marL="0" indent="0">
              <a:buNone/>
            </a:pPr>
            <a:r>
              <a:rPr lang="en-US" sz="800" dirty="0"/>
              <a:t>    }</a:t>
            </a:r>
          </a:p>
        </p:txBody>
      </p:sp>
      <p:sp>
        <p:nvSpPr>
          <p:cNvPr id="46" name="Shape 44"/>
          <p:cNvSpPr/>
          <p:nvPr/>
        </p:nvSpPr>
        <p:spPr>
          <a:xfrm>
            <a:off x="420624" y="4329684"/>
            <a:ext cx="7223759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38913" y="4448556"/>
            <a:ext cx="64007" cy="534923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43754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it:  uvicorn main:app --reload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" y="4465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--reload restarts the server automatically on code changes — essential in dev, never used in production.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DETAIL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Load the Model Once, Not Per-Request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common performance bug in early deployment work.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69164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716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1645920"/>
            <a:ext cx="3749040" cy="118872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17373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@app.post("/predict")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predict(data):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joblib.load("model.pkl")  # every request!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12801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1280160"/>
            <a:ext cx="54864" cy="16916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13716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46320" y="1645920"/>
            <a:ext cx="3749040" cy="118872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17373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joblib.load("model.pkl")  # once!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@app.post("/predict")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predict(data):</a:t>
            </a:r>
            <a:endParaRPr lang="en-US" sz="8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3200400"/>
            <a:ext cx="54864" cy="137160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never want to reload a model from disk on every single prediction request — that would be catastrophically slow. Load once at startup, keep it in memory, reuse it forever."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Swagger UI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http://localhost:8000/docs — zero lines of documentation code written.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9144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898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wrote zero lines of documentation code. FastAPI read your Pydantic model and built this entire interactive page automatically."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65760" y="2331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2331720"/>
            <a:ext cx="54864" cy="1600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423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verified test: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8640" y="267004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Breast Cancer sample →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{"prediction": "malignant",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"confidence": 0.975}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 the real label exactly.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2331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2331720"/>
            <a:ext cx="54864" cy="160020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423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broken request: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846320" y="267004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{"features": [1.0, 2.0]}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422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 should have at least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30 items... not 2"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65760" y="4114800"/>
            <a:ext cx="54864" cy="7772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114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validation working exactly as intended — the bad request never reached the model."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Streamlit Frontend (app.py)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separate file — collects input, calls the API, shows the result.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32004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" y="1131334"/>
            <a:ext cx="81198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/>
              <a:t>import </a:t>
            </a:r>
            <a:r>
              <a:rPr lang="en-US" sz="800" dirty="0" err="1"/>
              <a:t>joblib</a:t>
            </a:r>
            <a:endParaRPr lang="en-US" sz="800" dirty="0"/>
          </a:p>
          <a:p>
            <a:pPr marL="0" indent="0">
              <a:buNone/>
            </a:pPr>
            <a:r>
              <a:rPr lang="en-US" sz="800" dirty="0"/>
              <a:t>import </a:t>
            </a:r>
            <a:r>
              <a:rPr lang="en-US" sz="800" dirty="0" err="1"/>
              <a:t>numpy</a:t>
            </a:r>
            <a:r>
              <a:rPr lang="en-US" sz="800" dirty="0"/>
              <a:t> as np</a:t>
            </a:r>
          </a:p>
          <a:p>
            <a:pPr marL="0" indent="0">
              <a:buNone/>
            </a:pPr>
            <a:r>
              <a:rPr lang="en-US" sz="800" dirty="0"/>
              <a:t>from </a:t>
            </a:r>
            <a:r>
              <a:rPr lang="en-US" sz="800" dirty="0" err="1"/>
              <a:t>fastapi</a:t>
            </a:r>
            <a:r>
              <a:rPr lang="en-US" sz="800" dirty="0"/>
              <a:t> import </a:t>
            </a:r>
            <a:r>
              <a:rPr lang="en-US" sz="800" dirty="0" err="1"/>
              <a:t>FastAPI</a:t>
            </a:r>
            <a:endParaRPr lang="en-US" sz="800" dirty="0"/>
          </a:p>
          <a:p>
            <a:pPr marL="0" indent="0">
              <a:buNone/>
            </a:pPr>
            <a:r>
              <a:rPr lang="en-US" sz="800" dirty="0"/>
              <a:t>from </a:t>
            </a:r>
            <a:r>
              <a:rPr lang="en-US" sz="800" dirty="0" err="1"/>
              <a:t>pydantic</a:t>
            </a:r>
            <a:r>
              <a:rPr lang="en-US" sz="800" dirty="0"/>
              <a:t> import </a:t>
            </a:r>
            <a:r>
              <a:rPr lang="en-US" sz="800" dirty="0" err="1"/>
              <a:t>BaseModel</a:t>
            </a:r>
            <a:r>
              <a:rPr lang="en-US" sz="800" dirty="0"/>
              <a:t>, Field, </a:t>
            </a:r>
            <a:r>
              <a:rPr lang="en-US" sz="800" dirty="0" err="1"/>
              <a:t>field_validator</a:t>
            </a:r>
            <a:endParaRPr lang="en-US" sz="800" dirty="0"/>
          </a:p>
          <a:p>
            <a:pPr marL="0" indent="0">
              <a:buNone/>
            </a:pPr>
            <a:r>
              <a:rPr lang="en-US" sz="800" dirty="0"/>
              <a:t>app = </a:t>
            </a:r>
            <a:r>
              <a:rPr lang="en-US" sz="800" dirty="0" err="1"/>
              <a:t>FastAPI</a:t>
            </a:r>
            <a:r>
              <a:rPr lang="en-US" sz="800" dirty="0"/>
              <a:t>(title="Breast Cancer Classifier API")</a:t>
            </a:r>
          </a:p>
          <a:p>
            <a:pPr marL="0" indent="0">
              <a:buNone/>
            </a:pPr>
            <a:r>
              <a:rPr lang="en-US" sz="800" dirty="0"/>
              <a:t>model = </a:t>
            </a:r>
            <a:r>
              <a:rPr lang="en-US" sz="800" dirty="0" err="1"/>
              <a:t>joblib.load</a:t>
            </a:r>
            <a:r>
              <a:rPr lang="en-US" sz="800" dirty="0"/>
              <a:t>("</a:t>
            </a:r>
            <a:r>
              <a:rPr lang="en-US" sz="800" dirty="0" err="1"/>
              <a:t>breast_cancer_svm.pkl</a:t>
            </a:r>
            <a:r>
              <a:rPr lang="en-US" sz="800" dirty="0"/>
              <a:t>")</a:t>
            </a:r>
          </a:p>
          <a:p>
            <a:pPr marL="0" indent="0">
              <a:buNone/>
            </a:pPr>
            <a:r>
              <a:rPr lang="en-US" sz="800" dirty="0"/>
              <a:t>scaler = </a:t>
            </a:r>
            <a:r>
              <a:rPr lang="en-US" sz="800" dirty="0" err="1"/>
              <a:t>joblib.load</a:t>
            </a:r>
            <a:r>
              <a:rPr lang="en-US" sz="800" dirty="0"/>
              <a:t>("</a:t>
            </a:r>
            <a:r>
              <a:rPr lang="en-US" sz="800" dirty="0" err="1"/>
              <a:t>breast_cancer_scaler.pkl</a:t>
            </a:r>
            <a:r>
              <a:rPr lang="en-US" sz="800" dirty="0"/>
              <a:t>")</a:t>
            </a:r>
          </a:p>
          <a:p>
            <a:pPr marL="0" indent="0">
              <a:buNone/>
            </a:pPr>
            <a:r>
              <a:rPr lang="en-US" sz="800" dirty="0"/>
              <a:t>class </a:t>
            </a:r>
            <a:r>
              <a:rPr lang="en-US" sz="800" dirty="0" err="1"/>
              <a:t>PatientFeatures</a:t>
            </a:r>
            <a:r>
              <a:rPr lang="en-US" sz="800" dirty="0"/>
              <a:t>(</a:t>
            </a:r>
            <a:r>
              <a:rPr lang="en-US" sz="800" dirty="0" err="1"/>
              <a:t>BaseModel</a:t>
            </a:r>
            <a:r>
              <a:rPr lang="en-US" sz="800" dirty="0"/>
              <a:t>):</a:t>
            </a:r>
          </a:p>
          <a:p>
            <a:pPr marL="0" indent="0">
              <a:buNone/>
            </a:pPr>
            <a:r>
              <a:rPr lang="en-US" sz="800" dirty="0"/>
              <a:t>    features: list[float] = Field(..., </a:t>
            </a:r>
            <a:r>
              <a:rPr lang="en-US" sz="800" dirty="0" err="1"/>
              <a:t>min_length</a:t>
            </a:r>
            <a:r>
              <a:rPr lang="en-US" sz="800" dirty="0"/>
              <a:t>=30, </a:t>
            </a:r>
            <a:r>
              <a:rPr lang="en-US" sz="800" dirty="0" err="1"/>
              <a:t>max_length</a:t>
            </a:r>
            <a:r>
              <a:rPr lang="en-US" sz="800" dirty="0"/>
              <a:t>=30)</a:t>
            </a:r>
          </a:p>
          <a:p>
            <a:pPr marL="0" indent="0">
              <a:buNone/>
            </a:pPr>
            <a:r>
              <a:rPr lang="en-US" sz="800" dirty="0"/>
              <a:t>@app.get("/")</a:t>
            </a:r>
          </a:p>
          <a:p>
            <a:pPr marL="0" indent="0">
              <a:buNone/>
            </a:pPr>
            <a:r>
              <a:rPr lang="en-US" sz="800" dirty="0"/>
              <a:t>def root():</a:t>
            </a:r>
          </a:p>
          <a:p>
            <a:pPr marL="0" indent="0">
              <a:buNone/>
            </a:pPr>
            <a:r>
              <a:rPr lang="en-US" sz="800" dirty="0"/>
              <a:t>    return {"message": "Breast Cancer Classifier API", "status": "running"}</a:t>
            </a:r>
          </a:p>
          <a:p>
            <a:pPr marL="0" indent="0">
              <a:buNone/>
            </a:pPr>
            <a:r>
              <a:rPr lang="en-US" sz="800" dirty="0"/>
              <a:t>@app.post("/predict")</a:t>
            </a:r>
          </a:p>
          <a:p>
            <a:pPr marL="0" indent="0">
              <a:buNone/>
            </a:pPr>
            <a:r>
              <a:rPr lang="en-US" sz="800" dirty="0"/>
              <a:t>def predict(data: </a:t>
            </a:r>
            <a:r>
              <a:rPr lang="en-US" sz="800" dirty="0" err="1"/>
              <a:t>PatientFeatures</a:t>
            </a:r>
            <a:r>
              <a:rPr lang="en-US" sz="800" dirty="0"/>
              <a:t>):</a:t>
            </a:r>
          </a:p>
          <a:p>
            <a:pPr marL="0" indent="0">
              <a:buNone/>
            </a:pPr>
            <a:r>
              <a:rPr lang="en-US" sz="800" dirty="0"/>
              <a:t>    X = </a:t>
            </a:r>
            <a:r>
              <a:rPr lang="en-US" sz="800" dirty="0" err="1"/>
              <a:t>np.array</a:t>
            </a:r>
            <a:r>
              <a:rPr lang="en-US" sz="800" dirty="0"/>
              <a:t>(</a:t>
            </a:r>
            <a:r>
              <a:rPr lang="en-US" sz="800" dirty="0" err="1"/>
              <a:t>data.features</a:t>
            </a:r>
            <a:r>
              <a:rPr lang="en-US" sz="800" dirty="0"/>
              <a:t>).reshape(1, -1)</a:t>
            </a:r>
          </a:p>
          <a:p>
            <a:pPr marL="0" indent="0">
              <a:buNone/>
            </a:pPr>
            <a:r>
              <a:rPr lang="en-US" sz="800" dirty="0"/>
              <a:t>    </a:t>
            </a:r>
            <a:r>
              <a:rPr lang="en-US" sz="800" dirty="0" err="1"/>
              <a:t>X_scaled</a:t>
            </a:r>
            <a:r>
              <a:rPr lang="en-US" sz="800" dirty="0"/>
              <a:t> = </a:t>
            </a:r>
            <a:r>
              <a:rPr lang="en-US" sz="800" dirty="0" err="1"/>
              <a:t>scaler.transform</a:t>
            </a:r>
            <a:r>
              <a:rPr lang="en-US" sz="800" dirty="0"/>
              <a:t>(X)</a:t>
            </a:r>
          </a:p>
          <a:p>
            <a:pPr marL="0" indent="0">
              <a:buNone/>
            </a:pPr>
            <a:r>
              <a:rPr lang="en-US" sz="800" dirty="0"/>
              <a:t>    prediction = </a:t>
            </a:r>
            <a:r>
              <a:rPr lang="en-US" sz="800" dirty="0" err="1"/>
              <a:t>model.predict</a:t>
            </a:r>
            <a:r>
              <a:rPr lang="en-US" sz="800" dirty="0"/>
              <a:t>(</a:t>
            </a:r>
            <a:r>
              <a:rPr lang="en-US" sz="800" dirty="0" err="1"/>
              <a:t>X_scaled</a:t>
            </a:r>
            <a:r>
              <a:rPr lang="en-US" sz="800" dirty="0"/>
              <a:t>)[0]</a:t>
            </a:r>
          </a:p>
          <a:p>
            <a:pPr marL="0" indent="0">
              <a:buNone/>
            </a:pPr>
            <a:r>
              <a:rPr lang="en-US" sz="800" dirty="0"/>
              <a:t>    probability = </a:t>
            </a:r>
            <a:r>
              <a:rPr lang="en-US" sz="800" dirty="0" err="1"/>
              <a:t>model.predict_proba</a:t>
            </a:r>
            <a:r>
              <a:rPr lang="en-US" sz="800" dirty="0"/>
              <a:t>(</a:t>
            </a:r>
            <a:r>
              <a:rPr lang="en-US" sz="800" dirty="0" err="1"/>
              <a:t>X_scaled</a:t>
            </a:r>
            <a:r>
              <a:rPr lang="en-US" sz="800" dirty="0"/>
              <a:t>)[0]</a:t>
            </a:r>
          </a:p>
          <a:p>
            <a:pPr marL="0" indent="0">
              <a:buNone/>
            </a:pPr>
            <a:r>
              <a:rPr lang="en-US" sz="800" dirty="0"/>
              <a:t>    label = "malignant" if prediction == 0 else "benign"</a:t>
            </a:r>
          </a:p>
          <a:p>
            <a:pPr marL="0" indent="0">
              <a:buNone/>
            </a:pPr>
            <a:r>
              <a:rPr lang="en-US" sz="800" dirty="0"/>
              <a:t>    return {</a:t>
            </a:r>
          </a:p>
          <a:p>
            <a:pPr marL="0" indent="0">
              <a:buNone/>
            </a:pPr>
            <a:r>
              <a:rPr lang="en-US" sz="800" dirty="0"/>
              <a:t>        "prediction": label,</a:t>
            </a:r>
          </a:p>
          <a:p>
            <a:pPr marL="0" indent="0">
              <a:buNone/>
            </a:pPr>
            <a:r>
              <a:rPr lang="en-US" sz="800" dirty="0"/>
              <a:t>        "confidence": float(max(probability)),</a:t>
            </a:r>
          </a:p>
          <a:p>
            <a:pPr marL="0" indent="0">
              <a:buNone/>
            </a:pPr>
            <a:r>
              <a:rPr lang="en-US" sz="800" dirty="0"/>
              <a:t>        "probabilities": {</a:t>
            </a:r>
          </a:p>
          <a:p>
            <a:pPr marL="0" indent="0">
              <a:buNone/>
            </a:pPr>
            <a:r>
              <a:rPr lang="en-US" sz="800" dirty="0"/>
              <a:t>            "malignant": float(probability[0]),</a:t>
            </a:r>
          </a:p>
          <a:p>
            <a:pPr marL="0" indent="0">
              <a:buNone/>
            </a:pPr>
            <a:r>
              <a:rPr lang="en-US" sz="800" dirty="0"/>
              <a:t>            "benign": float(probability[1])</a:t>
            </a:r>
          </a:p>
          <a:p>
            <a:pPr marL="0" indent="0">
              <a:buNone/>
            </a:pPr>
            <a:r>
              <a:rPr lang="en-US" sz="800" dirty="0"/>
              <a:t>        }</a:t>
            </a:r>
          </a:p>
          <a:p>
            <a:pPr marL="0" indent="0">
              <a:buNone/>
            </a:pPr>
            <a:r>
              <a:rPr lang="en-US" sz="800" dirty="0"/>
              <a:t>    }</a:t>
            </a:r>
          </a:p>
        </p:txBody>
      </p:sp>
      <p:sp>
        <p:nvSpPr>
          <p:cNvPr id="46" name="Shape 44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572000"/>
            <a:ext cx="54864" cy="41148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real sliders + 27 placeholder zeros — keeps focus on ARCHITECTURE, not building 30 sliders by hand.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DETAIL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try/except Block Isn't Optional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common failure mode: forgetting to start main.py first.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2801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requests.post(API_URL, json={"features": features})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requests.exceptions.ConnectionError: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st.error("Could not connect to the API. Is main.py running on port 8000?")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7432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743200"/>
            <a:ext cx="54864" cy="137160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62072"/>
            <a:ext cx="256032" cy="256032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896112" y="28529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block: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548640" y="3154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student's FastAPI server (Step 2) isn't running, Streamlit's request fails — and without this except, the whole app crashes with an ugly traceback instead of a helpful message.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365760" y="4251960"/>
            <a:ext cx="54864" cy="5486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4864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st.error() / st.success() — pre-styled colored boxes, free, no CSS needed.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Servers Simultaneously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everything clicks — two programs talking over HTTP.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23444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716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Tab 1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1627632"/>
            <a:ext cx="3703320" cy="3657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16916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main:app --reload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8640" y="2084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port 8000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17720" y="128016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17720" y="1280160"/>
            <a:ext cx="54864" cy="12344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13716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Tab 2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800600" y="1627632"/>
            <a:ext cx="3703320" cy="3657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16916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00600" y="2084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port 8501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269748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2697480"/>
            <a:ext cx="54864" cy="9601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27889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3044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Streamlit URL, move a slider, click Predict. Watch Terminal Tab 1 — a new log line appears showing the incoming POST request, in real time, the moment the button is clicked.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3794760"/>
            <a:ext cx="54864" cy="10058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 completely independent programs talking to each other over HTTP on your own machine — exactly the same pattern used when a mobile app talks to a server on the other side of the world. The only difference is distance, not concept."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FOR YOUR CLASS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Finishers &amp; Extra Support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adjustments, not vague suggestions.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73736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89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fast finishers: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1664208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all 30 sliders instead of the 3-slider teaching version — a strong portfolio piece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 /health endpoint returning {"status": "ok"} — a real monitoring pattern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a second model (e.g. Random Forest) behind /predict-rf, compare side by side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3101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 who need more support: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358444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working API demonstrable in /docs is a complete success, even without Streamlit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Most common blocker: forgetting main.py and app.py are separate PROCESSES, not notebook cells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If time is short, live-code Step 4 together rather than independent work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habits that quietly break a deployment.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1307592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2960" y="12801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save the scaler alongside the model — silently wrong predictions, no error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1480" y="1837944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" y="18105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probability=True AFTER training instead of before — can't be added retroactively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" y="2368296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2960" y="234086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the model inside /predict instead of at module level — catastrophically slow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11480" y="2898648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22960" y="287121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streamlit run app.py before starting main.py — every request fails to connect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11480" y="3429000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22960" y="34015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only through the Streamlit UI, never Swagger UI directly — hard to isolate bugs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11480" y="3959352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22960" y="3931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handling ConnectionError in the frontend — an ugly crash instead of a clear message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architecture, at real companies.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658368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3-layer pattern is the standard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56616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API, UI — the shape behind almost every deployed ML product. Framework names change (Flask, React); the shape doesn't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20574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2057400"/>
            <a:ext cx="54864" cy="658368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in production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56616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at Microsoft, Uber, Netflix — not just a teaching tool, a genuine industry-standard choice for ML-serving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28346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2834640"/>
            <a:ext cx="54864" cy="658368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for internal tools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56616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for "let the team use this model without a notebook" — exactly today's build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36118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3611880"/>
            <a:ext cx="54864" cy="658368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is an industry standard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56616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interactive-docs pattern used by Stripe, Twilio — this skill transfers directly to real third-party APIs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THESE WITH YOU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habits worth making permanent.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219456" cy="219456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1440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save preprocessing (scalers, encoders) alongside the model, load both together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365760" y="1810512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65760" y="1810512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219456" cy="219456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914400" y="18105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models once at startup, never per-request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365760" y="2340864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365760" y="2340864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50592"/>
            <a:ext cx="219456" cy="219456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914400" y="23408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API independently before wiring up any frontend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365760" y="2871216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365760" y="2871216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19456" cy="219456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914400" y="2871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Pydantic do your validation — type hints, not manual if statements</a:t>
            </a:r>
            <a:endParaRPr lang="en-US" sz="1050" dirty="0"/>
          </a:p>
        </p:txBody>
      </p:sp>
      <p:sp>
        <p:nvSpPr>
          <p:cNvPr id="60" name="Shape 54"/>
          <p:cNvSpPr/>
          <p:nvPr/>
        </p:nvSpPr>
        <p:spPr>
          <a:xfrm>
            <a:off x="365760" y="340156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1" name="Shape 55"/>
          <p:cNvSpPr/>
          <p:nvPr/>
        </p:nvSpPr>
        <p:spPr>
          <a:xfrm>
            <a:off x="365760" y="3401568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11296"/>
            <a:ext cx="219456" cy="219456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914400" y="34015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network failures gracefully in the frontend, always</a:t>
            </a:r>
            <a:endParaRPr lang="en-US" sz="1050" dirty="0"/>
          </a:p>
        </p:txBody>
      </p:sp>
      <p:sp>
        <p:nvSpPr>
          <p:cNvPr id="64" name="Shape 57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5" name="Shape 58"/>
          <p:cNvSpPr/>
          <p:nvPr/>
        </p:nvSpPr>
        <p:spPr>
          <a:xfrm>
            <a:off x="365760" y="3931920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6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41648"/>
            <a:ext cx="219456" cy="219456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91440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three layers genuinely independent — that's what makes them swappable</a:t>
            </a:r>
            <a:endParaRPr lang="en-US" sz="1050" dirty="0"/>
          </a:p>
        </p:txBody>
      </p:sp>
      <p:sp>
        <p:nvSpPr>
          <p:cNvPr id="68" name="Text 6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Custom Validation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365760" y="960120"/>
            <a:ext cx="8412480" cy="17830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2064" y="1051560"/>
            <a:ext cx="81198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field_validator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PatientFeatures(BaseModel):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features: list[float] = Field(..., min_length=30, max_length=30)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@field_validator("features")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features_must_be_non_negative(cls, v):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any(x &lt; 0 for x in v):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ValueError("All cell measurements must be non-negative")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65760" y="28803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65760" y="2880360"/>
            <a:ext cx="54864" cy="9144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99232"/>
            <a:ext cx="256032" cy="256032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896112" y="29900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tested result:</a:t>
            </a:r>
            <a:endParaRPr lang="en-US" sz="1150" dirty="0"/>
          </a:p>
        </p:txBody>
      </p:sp>
      <p:sp>
        <p:nvSpPr>
          <p:cNvPr id="49" name="Text 45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with one negative value correctly returns 422 with the exact custom message — verified working before being assigned, not just described.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365760" y="3931920"/>
            <a:ext cx="54864" cy="9144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never even runs on invalid input — the same discipline as Day 8-12's 'always validate before you trust the output,' just moved one layer earlier."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Feeds Into Week 2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pipeline is a direct rehearsal for the mini-project.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8412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371600"/>
            <a:ext cx="54864" cy="16459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10896" cy="310896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60120" y="1508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Mini-Project — 15% of final grade (Day 14)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48640" y="18745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mini-project requires a working Streamlit app connected to a trained model. Graders will check that the app runs, predictions are correct, and basic input validation is present — exactly what today's session builds and tests.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65760" y="3200400"/>
            <a:ext cx="54864" cy="13716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" y="33101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for tomorrow, worth saying today: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48640" y="358444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"Tomorrow reuses today's exact Model -&gt; API -&gt; UI pattern on a brand-new problem: a Spam Email Classifier — wrapped in a proper Git feature-branch workflow, ending in a real Pull Request merge."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Today's Work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files, two servers, one working app.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64008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13: FastAPI + Streamlit deployment, custom input validation"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2103120"/>
            <a:ext cx="8412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2103120"/>
            <a:ext cx="54864" cy="23774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2128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before pushing:</a:t>
            </a:r>
            <a:endParaRPr lang="en-US" sz="120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32888"/>
            <a:ext cx="182880" cy="182880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841248" y="25146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FastAPI backend, loads model+scaler once at startup</a:t>
            </a:r>
            <a:endParaRPr lang="en-US" sz="950" dirty="0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43784"/>
            <a:ext cx="182880" cy="182880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841248" y="28254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working in Swagger UI (/docs) with a real prediction</a:t>
            </a:r>
            <a:endParaRPr lang="en-US" sz="950" dirty="0"/>
          </a:p>
        </p:txBody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182880" cy="182880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841248" y="31363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422 error on a malformed request</a:t>
            </a:r>
            <a:endParaRPr lang="en-US" sz="950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65576"/>
            <a:ext cx="182880" cy="182880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841248" y="3447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Streamlit frontend, calls the API, displays result</a:t>
            </a:r>
            <a:endParaRPr lang="en-US" sz="950" dirty="0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76472"/>
            <a:ext cx="182880" cy="182880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841248" y="37581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servers run simultaneously, tested end to end</a:t>
            </a:r>
            <a:endParaRPr lang="en-US" sz="950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87368"/>
            <a:ext cx="182880" cy="182880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841248" y="4069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custom validator rejecting negative values</a:t>
            </a:r>
            <a:endParaRPr lang="en-US" sz="950" dirty="0"/>
          </a:p>
        </p:txBody>
      </p:sp>
      <p:sp>
        <p:nvSpPr>
          <p:cNvPr id="62" name="Text 5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Architecture, One More Time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shape, whether it's a $10 side project or a $10B production system.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71600" y="1371600"/>
            <a:ext cx="6400800" cy="6858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0" y="13716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 + scaler.pkl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343400" y="2057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371600" y="2286000"/>
            <a:ext cx="6400800" cy="6858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0" y="22860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— /predict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343400" y="2971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371600" y="3200400"/>
            <a:ext cx="6400800" cy="6858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0" y="32004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 — sliders + button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65760" y="42062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4206240"/>
            <a:ext cx="54864" cy="7772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206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"These three layers don't need to know much about each other. That separation is why real companies can swap frontends without retraining anything."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D5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Wins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600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and reloaded a real trained model + scaler with joblib, confirmed a lossless round-trip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055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103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FastAPI backend with automatic validation and auto-generated docs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33472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606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every endpoint in Swagger UI, including the 422 error path, with zero client code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3639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108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Streamlit frontend and ran two independent servers talking to each other over HTTP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457200" y="379476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40080" y="39044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14: Week 2 Capstone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branching deep dive (feature branches, merge conflicts, Pull Requests), then the Week 2 mini-project: a Spam Email Classifier, deployed exactly like today.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3561</Words>
  <Application>Microsoft Office PowerPoint</Application>
  <PresentationFormat>On-screen Show (16:9)</PresentationFormat>
  <Paragraphs>403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13 — Model Saving, FastAPI &amp; Streamlit</dc:title>
  <dc:subject>PptxGenJS Presentation</dc:subject>
  <dc:creator>PptxGenJS</dc:creator>
  <cp:lastModifiedBy>Gagan Pradhan</cp:lastModifiedBy>
  <cp:revision>2</cp:revision>
  <dcterms:created xsi:type="dcterms:W3CDTF">2026-07-21T06:26:43Z</dcterms:created>
  <dcterms:modified xsi:type="dcterms:W3CDTF">2026-07-21T11:13:14Z</dcterms:modified>
</cp:coreProperties>
</file>