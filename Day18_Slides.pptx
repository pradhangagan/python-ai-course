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pic>
        <p:nvPicPr>
          <p:cNvPr id="1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777240"/>
            <a:ext cx="777240" cy="777240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·  WEEK 3</a:t>
            </a:r>
            <a:endParaRPr lang="en-US" sz="1400" dirty="0"/>
          </a:p>
        </p:txBody>
      </p:sp>
      <p:sp>
        <p:nvSpPr>
          <p:cNvPr id="184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Advanced CNNs</a:t>
            </a:r>
            <a:endParaRPr lang="en-US" sz="3600" dirty="0"/>
          </a:p>
        </p:txBody>
      </p:sp>
      <p:sp>
        <p:nvSpPr>
          <p:cNvPr id="185" name="Text 182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small dataset into effectively many — flip, rotate, zoom your way out of overfitting</a:t>
            </a:r>
            <a:endParaRPr lang="en-US" sz="1500" dirty="0"/>
          </a:p>
        </p:txBody>
      </p:sp>
      <p:sp>
        <p:nvSpPr>
          <p:cNvPr id="186" name="Text 183"/>
          <p:cNvSpPr/>
          <p:nvPr/>
        </p:nvSpPr>
        <p:spPr>
          <a:xfrm>
            <a:off x="64008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  ·  Dataset: Cats vs Dogs (2,000-image subset)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small dataset to effectively many, without new photos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188720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31520" y="14173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</p:sp>
      <p:sp>
        <p:nvSpPr>
          <p:cNvPr id="187" name="Text 185"/>
          <p:cNvSpPr/>
          <p:nvPr/>
        </p:nvSpPr>
        <p:spPr>
          <a:xfrm>
            <a:off x="731520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0:40</a:t>
            </a:r>
            <a:endParaRPr lang="en-US" sz="1050" dirty="0"/>
          </a:p>
        </p:txBody>
      </p:sp>
      <p:sp>
        <p:nvSpPr>
          <p:cNvPr id="188" name="Text 186"/>
          <p:cNvSpPr/>
          <p:nvPr/>
        </p:nvSpPr>
        <p:spPr>
          <a:xfrm>
            <a:off x="2331720" y="124358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500" dirty="0"/>
          </a:p>
        </p:txBody>
      </p:sp>
      <p:sp>
        <p:nvSpPr>
          <p:cNvPr id="189" name="Text 187"/>
          <p:cNvSpPr/>
          <p:nvPr/>
        </p:nvSpPr>
        <p:spPr>
          <a:xfrm>
            <a:off x="2331720" y="159105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problem · augmentation layers · tf.data · class imbalance</a:t>
            </a:r>
            <a:endParaRPr lang="en-US" sz="1100" dirty="0"/>
          </a:p>
        </p:txBody>
      </p:sp>
      <p:sp>
        <p:nvSpPr>
          <p:cNvPr id="190" name="Shape 188"/>
          <p:cNvSpPr/>
          <p:nvPr/>
        </p:nvSpPr>
        <p:spPr>
          <a:xfrm>
            <a:off x="502920" y="2084832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1" name="Shape 189"/>
          <p:cNvSpPr/>
          <p:nvPr/>
        </p:nvSpPr>
        <p:spPr>
          <a:xfrm>
            <a:off x="731520" y="23134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3EDFD"/>
          </a:solidFill>
          <a:ln/>
        </p:spPr>
      </p:sp>
      <p:sp>
        <p:nvSpPr>
          <p:cNvPr id="192" name="Text 190"/>
          <p:cNvSpPr/>
          <p:nvPr/>
        </p:nvSpPr>
        <p:spPr>
          <a:xfrm>
            <a:off x="731520" y="2313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 – 1:15</a:t>
            </a:r>
            <a:endParaRPr lang="en-US" sz="1050" dirty="0"/>
          </a:p>
        </p:txBody>
      </p:sp>
      <p:sp>
        <p:nvSpPr>
          <p:cNvPr id="193" name="Text 191"/>
          <p:cNvSpPr/>
          <p:nvPr/>
        </p:nvSpPr>
        <p:spPr>
          <a:xfrm>
            <a:off x="2331720" y="213969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augmented</a:t>
            </a:r>
            <a:endParaRPr lang="en-US" sz="1500" dirty="0"/>
          </a:p>
        </p:txBody>
      </p:sp>
      <p:sp>
        <p:nvSpPr>
          <p:cNvPr id="194" name="Text 192"/>
          <p:cNvSpPr/>
          <p:nvPr/>
        </p:nvSpPr>
        <p:spPr>
          <a:xfrm>
            <a:off x="2331720" y="248716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both, diagnose the overfitting gap on real loss curves</a:t>
            </a:r>
            <a:endParaRPr lang="en-US" sz="1100" dirty="0"/>
          </a:p>
        </p:txBody>
      </p:sp>
      <p:sp>
        <p:nvSpPr>
          <p:cNvPr id="195" name="Shape 193"/>
          <p:cNvSpPr/>
          <p:nvPr/>
        </p:nvSpPr>
        <p:spPr>
          <a:xfrm>
            <a:off x="502920" y="2980944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6" name="Shape 194"/>
          <p:cNvSpPr/>
          <p:nvPr/>
        </p:nvSpPr>
        <p:spPr>
          <a:xfrm>
            <a:off x="731520" y="320954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197" name="Text 195"/>
          <p:cNvSpPr/>
          <p:nvPr/>
        </p:nvSpPr>
        <p:spPr>
          <a:xfrm>
            <a:off x="731520" y="32095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– 1:50</a:t>
            </a:r>
            <a:endParaRPr lang="en-US" sz="1050" dirty="0"/>
          </a:p>
        </p:txBody>
      </p:sp>
      <p:sp>
        <p:nvSpPr>
          <p:cNvPr id="198" name="Text 196"/>
          <p:cNvSpPr/>
          <p:nvPr/>
        </p:nvSpPr>
        <p:spPr>
          <a:xfrm>
            <a:off x="2331720" y="303580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&amp; BatchNorm</a:t>
            </a:r>
            <a:endParaRPr lang="en-US" sz="1500" dirty="0"/>
          </a:p>
        </p:txBody>
      </p:sp>
      <p:sp>
        <p:nvSpPr>
          <p:cNvPr id="199" name="Text 197"/>
          <p:cNvSpPr/>
          <p:nvPr/>
        </p:nvSpPr>
        <p:spPr>
          <a:xfrm>
            <a:off x="2331720" y="338328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8 augmented variants of one image, add BatchNormalization</a:t>
            </a:r>
            <a:endParaRPr lang="en-US" sz="1100" dirty="0"/>
          </a:p>
        </p:txBody>
      </p:sp>
      <p:sp>
        <p:nvSpPr>
          <p:cNvPr id="200" name="Shape 198"/>
          <p:cNvSpPr/>
          <p:nvPr/>
        </p:nvSpPr>
        <p:spPr>
          <a:xfrm>
            <a:off x="502920" y="3877056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1" name="Shape 199"/>
          <p:cNvSpPr/>
          <p:nvPr/>
        </p:nvSpPr>
        <p:spPr>
          <a:xfrm>
            <a:off x="731520" y="41056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DF2E2"/>
          </a:solidFill>
          <a:ln/>
        </p:spPr>
      </p:sp>
      <p:sp>
        <p:nvSpPr>
          <p:cNvPr id="202" name="Text 200"/>
          <p:cNvSpPr/>
          <p:nvPr/>
        </p:nvSpPr>
        <p:spPr>
          <a:xfrm>
            <a:off x="731520" y="4105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 – 2:00</a:t>
            </a:r>
            <a:endParaRPr lang="en-US" sz="1050" dirty="0"/>
          </a:p>
        </p:txBody>
      </p:sp>
      <p:sp>
        <p:nvSpPr>
          <p:cNvPr id="203" name="Text 201"/>
          <p:cNvSpPr/>
          <p:nvPr/>
        </p:nvSpPr>
        <p:spPr>
          <a:xfrm>
            <a:off x="2331720" y="393192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04" name="Text 202"/>
          <p:cNvSpPr/>
          <p:nvPr/>
        </p:nvSpPr>
        <p:spPr>
          <a:xfrm>
            <a:off x="2331720" y="427939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augmentation — blend two images and their labels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Dataset Problem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17's 422k-parameter CNN can literally memorize a small dataset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E3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parameters than training examples = the network can "photograph" every image into its weights</a:t>
            </a:r>
            <a:endParaRPr lang="en-US" sz="1500" dirty="0"/>
          </a:p>
        </p:txBody>
      </p:sp>
      <p:sp>
        <p:nvSpPr>
          <p:cNvPr id="187" name="Shape 185"/>
          <p:cNvSpPr/>
          <p:nvPr/>
        </p:nvSpPr>
        <p:spPr>
          <a:xfrm>
            <a:off x="502920" y="2606040"/>
            <a:ext cx="8138160" cy="1737360"/>
          </a:xfrm>
          <a:prstGeom prst="roundRect">
            <a:avLst>
              <a:gd name="adj" fmla="val 3158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7432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this session (synthetic shapes, 60 training images)</a:t>
            </a:r>
            <a:endParaRPr lang="en-US" sz="1300" dirty="0"/>
          </a:p>
        </p:txBody>
      </p:sp>
      <p:sp>
        <p:nvSpPr>
          <p:cNvPr id="189" name="Text 187"/>
          <p:cNvSpPr/>
          <p:nvPr/>
        </p:nvSpPr>
        <p:spPr>
          <a:xfrm>
            <a:off x="777240" y="310896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accuracy: 100%  —  Validation accuracy: 90%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 loss gap: 0.37 — the classic overfitting signature, measured for real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Augmentation Actually Does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 plausible variations of images you already have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rotated cat is still a cat. A flipped cat is still a cat. A zoomed cat is still a cat.</a:t>
            </a:r>
            <a:endParaRPr lang="en-US" sz="1600" dirty="0"/>
          </a:p>
        </p:txBody>
      </p:sp>
      <p:sp>
        <p:nvSpPr>
          <p:cNvPr id="187" name="Shape 185"/>
          <p:cNvSpPr/>
          <p:nvPr/>
        </p:nvSpPr>
        <p:spPr>
          <a:xfrm>
            <a:off x="502920" y="2697480"/>
            <a:ext cx="8138160" cy="1554480"/>
          </a:xfrm>
          <a:prstGeom prst="roundRect">
            <a:avLst>
              <a:gd name="adj" fmla="val 3529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26080"/>
            <a:ext cx="502920" cy="502920"/>
          </a:xfrm>
          <a:prstGeom prst="rect">
            <a:avLst/>
          </a:prstGeom>
        </p:spPr>
      </p:pic>
      <p:sp>
        <p:nvSpPr>
          <p:cNvPr id="189" name="Text 186"/>
          <p:cNvSpPr/>
          <p:nvPr/>
        </p:nvSpPr>
        <p:spPr>
          <a:xfrm>
            <a:off x="1463040" y="269748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nuance: augmentation must preserve the label. </a:t>
            </a:r>
            <a:pPr indent="0" marL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 is safe for cats/dogs. It is WRONG for digit recognition — a flipped '2' can become unreadable or a different symbol.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Augmentation Layers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go INSIDE the model, right after Input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645920"/>
          </a:xfrm>
          <a:prstGeom prst="roundRect">
            <a:avLst>
              <a:gd name="adj" fmla="val 2778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data_augmentation = tf.keras.Sequential([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tf.keras.layers.RandomFlip('horizontal'),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tf.keras.layers.RandomRotation(0.2),   # +/- 20% of 360deg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tf.keras.layers.RandomZoom(0.2),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50" dirty="0"/>
          </a:p>
        </p:txBody>
      </p:sp>
      <p:sp>
        <p:nvSpPr>
          <p:cNvPr id="187" name="Shape 185"/>
          <p:cNvSpPr/>
          <p:nvPr/>
        </p:nvSpPr>
        <p:spPr>
          <a:xfrm>
            <a:off x="502920" y="301752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01752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fact: </a:t>
            </a:r>
            <a:pPr indent="0" marL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only apply during model.fit(). Keras auto-disables them for model.evaluate() and model.predict(). Since they're layers, they run on GPU — much faster than NumPy/OpenCV preprocessing.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8 Distinct Results, Same Source Image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RandomFlip + RandomRotation + RandomZoom 8 times, this session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25880"/>
            <a:ext cx="8138160" cy="2651760"/>
          </a:xfrm>
          <a:prstGeom prst="roundRect">
            <a:avLst>
              <a:gd name="adj" fmla="val 2069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600200"/>
            <a:ext cx="1188720" cy="1188720"/>
          </a:xfrm>
          <a:prstGeom prst="rect">
            <a:avLst/>
          </a:prstGeom>
        </p:spPr>
      </p:pic>
      <p:sp>
        <p:nvSpPr>
          <p:cNvPr id="187" name="Text 184"/>
          <p:cNvSpPr/>
          <p:nvPr/>
        </p:nvSpPr>
        <p:spPr>
          <a:xfrm>
            <a:off x="1188720" y="28803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produced a different flip state, rotation angle, and zoom crop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Confirms: same image → different training example every epoch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ImageDataGenerator (Legacy) vs tf.data Pipeline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do the job — one is what Keras recommends now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188720"/>
          </a:xfrm>
          <a:prstGeom prst="roundRect">
            <a:avLst>
              <a:gd name="adj" fmla="val 3846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datagen = ImageDataGenerator(rescale=1./255, rotation_range=20, horizontal_flip=True)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train_gen = datagen.flow_from_directory('data/train', target_size=(150,150))</a:t>
            </a:r>
            <a:endParaRPr lang="en-US" sz="1150" dirty="0"/>
          </a:p>
        </p:txBody>
      </p:sp>
      <p:sp>
        <p:nvSpPr>
          <p:cNvPr id="187" name="Shape 185"/>
          <p:cNvSpPr/>
          <p:nvPr/>
        </p:nvSpPr>
        <p:spPr>
          <a:xfrm>
            <a:off x="502920" y="2606040"/>
            <a:ext cx="8138160" cy="1188720"/>
          </a:xfrm>
          <a:prstGeom prst="roundRect">
            <a:avLst>
              <a:gd name="adj" fmla="val 3846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612648" y="2679192"/>
            <a:ext cx="79187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= tf.data.Dataset.from_tensor_slices((paths, labels))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= dataset.map(load_img).batch(32).prefetch(tf.data.AUTOTUNE)</a:t>
            </a:r>
            <a:endParaRPr lang="en-US" sz="1150" dirty="0"/>
          </a:p>
        </p:txBody>
      </p:sp>
      <p:sp>
        <p:nvSpPr>
          <p:cNvPr id="189" name="Shape 187"/>
          <p:cNvSpPr/>
          <p:nvPr/>
        </p:nvSpPr>
        <p:spPr>
          <a:xfrm>
            <a:off x="502920" y="397764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77240" y="3977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.prefetch() loads the next batch while the GPU works on the current one — no idle time.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&amp; Regularisation Recap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reference, not a deep dive — each piece already covered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777240"/>
          </a:xfrm>
          <a:prstGeom prst="roundRect">
            <a:avLst>
              <a:gd name="adj" fmla="val 5882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model.fit(..., class_weight={0: 1.0, 1: 9.0})   # penalize minority-class mistakes 9x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502920" y="2194560"/>
            <a:ext cx="1901952" cy="13716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/>
        </p:spPr>
      </p:sp>
      <p:sp>
        <p:nvSpPr>
          <p:cNvPr id="188" name="Text 186"/>
          <p:cNvSpPr/>
          <p:nvPr/>
        </p:nvSpPr>
        <p:spPr>
          <a:xfrm>
            <a:off x="59436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250" dirty="0"/>
          </a:p>
        </p:txBody>
      </p:sp>
      <p:sp>
        <p:nvSpPr>
          <p:cNvPr id="189" name="Text 187"/>
          <p:cNvSpPr/>
          <p:nvPr/>
        </p:nvSpPr>
        <p:spPr>
          <a:xfrm>
            <a:off x="594360" y="2743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always, limited image data</a:t>
            </a:r>
            <a:endParaRPr lang="en-US" sz="1050" dirty="0"/>
          </a:p>
        </p:txBody>
      </p:sp>
      <p:sp>
        <p:nvSpPr>
          <p:cNvPr id="190" name="Shape 188"/>
          <p:cNvSpPr/>
          <p:nvPr/>
        </p:nvSpPr>
        <p:spPr>
          <a:xfrm>
            <a:off x="2587752" y="2194560"/>
            <a:ext cx="1901952" cy="1371600"/>
          </a:xfrm>
          <a:prstGeom prst="roundRect">
            <a:avLst>
              <a:gd name="adj" fmla="val 4000"/>
            </a:avLst>
          </a:prstGeom>
          <a:solidFill>
            <a:srgbClr val="F3EDFD"/>
          </a:solidFill>
          <a:ln/>
        </p:spPr>
      </p:sp>
      <p:sp>
        <p:nvSpPr>
          <p:cNvPr id="191" name="Text 189"/>
          <p:cNvSpPr/>
          <p:nvPr/>
        </p:nvSpPr>
        <p:spPr>
          <a:xfrm>
            <a:off x="2679192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250" dirty="0"/>
          </a:p>
        </p:txBody>
      </p:sp>
      <p:sp>
        <p:nvSpPr>
          <p:cNvPr id="192" name="Text 190"/>
          <p:cNvSpPr/>
          <p:nvPr/>
        </p:nvSpPr>
        <p:spPr>
          <a:xfrm>
            <a:off x="2679192" y="2743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Dense, when loss gap shows</a:t>
            </a:r>
            <a:endParaRPr lang="en-US" sz="1050" dirty="0"/>
          </a:p>
        </p:txBody>
      </p:sp>
      <p:sp>
        <p:nvSpPr>
          <p:cNvPr id="193" name="Shape 191"/>
          <p:cNvSpPr/>
          <p:nvPr/>
        </p:nvSpPr>
        <p:spPr>
          <a:xfrm>
            <a:off x="4672584" y="2194560"/>
            <a:ext cx="1901952" cy="1371600"/>
          </a:xfrm>
          <a:prstGeom prst="roundRect">
            <a:avLst>
              <a:gd name="adj" fmla="val 4000"/>
            </a:avLst>
          </a:prstGeom>
          <a:solidFill>
            <a:srgbClr val="E6F7F5"/>
          </a:solidFill>
          <a:ln/>
        </p:spPr>
      </p:sp>
      <p:sp>
        <p:nvSpPr>
          <p:cNvPr id="194" name="Text 192"/>
          <p:cNvSpPr/>
          <p:nvPr/>
        </p:nvSpPr>
        <p:spPr>
          <a:xfrm>
            <a:off x="4764024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</a:t>
            </a:r>
            <a:endParaRPr lang="en-US" sz="1250" dirty="0"/>
          </a:p>
        </p:txBody>
      </p:sp>
      <p:sp>
        <p:nvSpPr>
          <p:cNvPr id="195" name="Text 193"/>
          <p:cNvSpPr/>
          <p:nvPr/>
        </p:nvSpPr>
        <p:spPr>
          <a:xfrm>
            <a:off x="4764024" y="2743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stabilizes deep nets</a:t>
            </a:r>
            <a:endParaRPr lang="en-US" sz="1050" dirty="0"/>
          </a:p>
        </p:txBody>
      </p:sp>
      <p:sp>
        <p:nvSpPr>
          <p:cNvPr id="196" name="Shape 194"/>
          <p:cNvSpPr/>
          <p:nvPr/>
        </p:nvSpPr>
        <p:spPr>
          <a:xfrm>
            <a:off x="6757416" y="2194560"/>
            <a:ext cx="1901952" cy="1371600"/>
          </a:xfrm>
          <a:prstGeom prst="roundRect">
            <a:avLst>
              <a:gd name="adj" fmla="val 4000"/>
            </a:avLst>
          </a:prstGeom>
          <a:solidFill>
            <a:srgbClr val="FDF2E2"/>
          </a:solidFill>
          <a:ln/>
        </p:spPr>
      </p:sp>
      <p:sp>
        <p:nvSpPr>
          <p:cNvPr id="197" name="Text 195"/>
          <p:cNvSpPr/>
          <p:nvPr/>
        </p:nvSpPr>
        <p:spPr>
          <a:xfrm>
            <a:off x="6848856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250" dirty="0"/>
          </a:p>
        </p:txBody>
      </p:sp>
      <p:sp>
        <p:nvSpPr>
          <p:cNvPr id="198" name="Text 196"/>
          <p:cNvSpPr/>
          <p:nvPr/>
        </p:nvSpPr>
        <p:spPr>
          <a:xfrm>
            <a:off x="6848856" y="2743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insurance, almost always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pic>
        <p:nvPicPr>
          <p:cNvPr id="1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777240"/>
            <a:ext cx="777240" cy="777240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— 80 MINUTES</a:t>
            </a:r>
            <a:endParaRPr lang="en-US" sz="1400" dirty="0"/>
          </a:p>
        </p:txBody>
      </p:sp>
      <p:sp>
        <p:nvSpPr>
          <p:cNvPr id="184" name="Text 181"/>
          <p:cNvSpPr/>
          <p:nvPr/>
        </p:nvSpPr>
        <p:spPr>
          <a:xfrm>
            <a:off x="640080" y="18745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Overfitting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Happen, Then Fix It</a:t>
            </a:r>
            <a:endParaRPr lang="en-US" sz="3200" dirty="0"/>
          </a:p>
        </p:txBody>
      </p:sp>
      <p:sp>
        <p:nvSpPr>
          <p:cNvPr id="185" name="Text 182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(overfits) → augmented (generalizes) → visualize → BatchNorm</a:t>
            </a:r>
            <a:endParaRPr lang="en-US" sz="1450" dirty="0"/>
          </a:p>
        </p:txBody>
      </p:sp>
      <p:sp>
        <p:nvSpPr>
          <p:cNvPr id="186" name="Text 183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ahead marked VALIDATED were run for real this session on a controlled synthetic dataset.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1–2: Baseline CNN, No Augmentation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train accuracy climb while validation stalls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828800"/>
          </a:xfrm>
          <a:prstGeom prst="roundRect">
            <a:avLst>
              <a:gd name="adj" fmla="val 2500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tf.keras.Sequential([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Input(shape=(150,150,3)), Rescaling(1./255),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Conv2D(32,(3,3),activation='relu'), MaxPooling2D(2),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Conv2D(64,(3,3),activation='relu'), MaxPooling2D(2),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Flatten(), Dense(64,activation='relu'), Dense(1,activation='sigmoid')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50" dirty="0"/>
          </a:p>
        </p:txBody>
      </p:sp>
      <p:sp>
        <p:nvSpPr>
          <p:cNvPr id="187" name="Shape 185"/>
          <p:cNvSpPr/>
          <p:nvPr/>
        </p:nvSpPr>
        <p:spPr>
          <a:xfrm>
            <a:off x="502920" y="324612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24612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E3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train acc 100% · val acc 90% · loss gap 0.37 — overfitting made concrete.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Diagnose the Overfitting Gap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keeps falling, validation loss stalls or rises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777240"/>
          </a:xfrm>
          <a:prstGeom prst="roundRect">
            <a:avLst>
              <a:gd name="adj" fmla="val 5882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plt.plot(history.history['loss']); plt.plot(history.history['val_loss'])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502920" y="2286000"/>
            <a:ext cx="8138160" cy="1737360"/>
          </a:xfrm>
          <a:prstGeom prst="roundRect">
            <a:avLst>
              <a:gd name="adj" fmla="val 3158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4231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at on the plot:</a:t>
            </a:r>
            <a:endParaRPr lang="en-US" sz="1350" dirty="0"/>
          </a:p>
        </p:txBody>
      </p:sp>
      <p:sp>
        <p:nvSpPr>
          <p:cNvPr id="189" name="Text 187"/>
          <p:cNvSpPr/>
          <p:nvPr/>
        </p:nvSpPr>
        <p:spPr>
          <a:xfrm>
            <a:off x="777240" y="278892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→ the model getting better at exact training images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flat/rising → not learning anything that transfers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them = wasted capacity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Add Augmentation + BatchNorm, Retrain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augmentation as the first layer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2834640"/>
          </a:xfrm>
          <a:prstGeom prst="roundRect">
            <a:avLst>
              <a:gd name="adj" fmla="val 1613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model_aug = tf.keras.Sequential([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Input(shape=(150,150,3)),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data_augmentation,          # &lt;- new: RandomFlip/Rotation/Zoom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Rescaling(1./255),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Conv2D(32,(3,3),activation='relu'), MaxPooling2D(2),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Conv2D(64,(3,3),activation='relu'), MaxPooling2D(2),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BatchNormalization(),       # &lt;- new: stabilizes training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Flatten(), Dense(64,activation='relu'),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Dropout(0.5),                # &lt;- already know this from Day 15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Dense(1,activation='sigmoid')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Visualize 8 Augmented Versions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source image, run through the pipeline 8 times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188720"/>
          </a:xfrm>
          <a:prstGeom prst="roundRect">
            <a:avLst>
              <a:gd name="adj" fmla="val 3846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range(8):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aug_img = data_augmentation(sample, training=True)[0]</a:t>
            </a:r>
            <a:endParaRPr lang="en-US" sz="1250" dirty="0"/>
          </a:p>
        </p:txBody>
      </p:sp>
      <p:sp>
        <p:nvSpPr>
          <p:cNvPr id="187" name="Shape 185"/>
          <p:cNvSpPr/>
          <p:nvPr/>
        </p:nvSpPr>
        <p:spPr>
          <a:xfrm>
            <a:off x="502920" y="2606040"/>
            <a:ext cx="8138160" cy="1691640"/>
          </a:xfrm>
          <a:prstGeom prst="roundRect">
            <a:avLst>
              <a:gd name="adj" fmla="val 3243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834640"/>
            <a:ext cx="502920" cy="502920"/>
          </a:xfrm>
          <a:prstGeom prst="rect">
            <a:avLst/>
          </a:prstGeom>
        </p:spPr>
      </p:pic>
      <p:sp>
        <p:nvSpPr>
          <p:cNvPr id="189" name="Text 186"/>
          <p:cNvSpPr/>
          <p:nvPr/>
        </p:nvSpPr>
        <p:spPr>
          <a:xfrm>
            <a:off x="1463040" y="26060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moment augmentation stops being a black box. </a:t>
            </a:r>
            <a:pPr indent="0" marL="0">
              <a:buNone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handful of understandable random transforms, stacked — every call gives a genuinely different image.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Today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these first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31520" y="12344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Augmenting the val/test set</a:t>
            </a:r>
            <a:endParaRPr lang="en-US" sz="1150" dirty="0"/>
          </a:p>
        </p:txBody>
      </p:sp>
      <p:sp>
        <p:nvSpPr>
          <p:cNvPr id="187" name="Shape 185"/>
          <p:cNvSpPr/>
          <p:nvPr/>
        </p:nvSpPr>
        <p:spPr>
          <a:xfrm>
            <a:off x="5349240" y="123444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5532120" y="12344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augment train_ds — never val or test</a:t>
            </a:r>
            <a:endParaRPr lang="en-US" sz="1000" dirty="0"/>
          </a:p>
        </p:txBody>
      </p:sp>
      <p:sp>
        <p:nvSpPr>
          <p:cNvPr id="189" name="Shape 187"/>
          <p:cNvSpPr/>
          <p:nvPr/>
        </p:nvSpPr>
        <p:spPr>
          <a:xfrm>
            <a:off x="502920" y="1929384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31520" y="192938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layers are training-only</a:t>
            </a:r>
            <a:endParaRPr lang="en-US" sz="1150" dirty="0"/>
          </a:p>
        </p:txBody>
      </p:sp>
      <p:sp>
        <p:nvSpPr>
          <p:cNvPr id="191" name="Shape 189"/>
          <p:cNvSpPr/>
          <p:nvPr/>
        </p:nvSpPr>
        <p:spPr>
          <a:xfrm>
            <a:off x="5349240" y="1929384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5532120" y="1929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handles this automatically</a:t>
            </a:r>
            <a:endParaRPr lang="en-US" sz="1000" dirty="0"/>
          </a:p>
        </p:txBody>
      </p:sp>
      <p:sp>
        <p:nvSpPr>
          <p:cNvPr id="193" name="Shape 191"/>
          <p:cNvSpPr/>
          <p:nvPr/>
        </p:nvSpPr>
        <p:spPr>
          <a:xfrm>
            <a:off x="502920" y="2624328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731520" y="26243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Too-aggressive rotation/zoom</a:t>
            </a:r>
            <a:endParaRPr lang="en-US" sz="1150" dirty="0"/>
          </a:p>
        </p:txBody>
      </p:sp>
      <p:sp>
        <p:nvSpPr>
          <p:cNvPr id="195" name="Shape 193"/>
          <p:cNvSpPr/>
          <p:nvPr/>
        </p:nvSpPr>
        <p:spPr>
          <a:xfrm>
            <a:off x="5349240" y="262432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6" name="Text 194"/>
          <p:cNvSpPr/>
          <p:nvPr/>
        </p:nvSpPr>
        <p:spPr>
          <a:xfrm>
            <a:off x="5532120" y="26243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10–20%, tune from there</a:t>
            </a:r>
            <a:endParaRPr lang="en-US" sz="1000" dirty="0"/>
          </a:p>
        </p:txBody>
      </p:sp>
      <p:sp>
        <p:nvSpPr>
          <p:cNvPr id="197" name="Shape 195"/>
          <p:cNvSpPr/>
          <p:nvPr/>
        </p:nvSpPr>
        <p:spPr>
          <a:xfrm>
            <a:off x="502920" y="3319272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8" name="Text 196"/>
          <p:cNvSpPr/>
          <p:nvPr/>
        </p:nvSpPr>
        <p:spPr>
          <a:xfrm>
            <a:off x="731520" y="331927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Flipping asymmetric data (digits, text)</a:t>
            </a:r>
            <a:endParaRPr lang="en-US" sz="1150" dirty="0"/>
          </a:p>
        </p:txBody>
      </p:sp>
      <p:sp>
        <p:nvSpPr>
          <p:cNvPr id="199" name="Shape 197"/>
          <p:cNvSpPr/>
          <p:nvPr/>
        </p:nvSpPr>
        <p:spPr>
          <a:xfrm>
            <a:off x="5349240" y="3319272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0" name="Text 198"/>
          <p:cNvSpPr/>
          <p:nvPr/>
        </p:nvSpPr>
        <p:spPr>
          <a:xfrm>
            <a:off x="5532120" y="33192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flip when mirrored image stays valid</a:t>
            </a:r>
            <a:endParaRPr lang="en-US" sz="1000" dirty="0"/>
          </a:p>
        </p:txBody>
      </p:sp>
      <p:sp>
        <p:nvSpPr>
          <p:cNvPr id="201" name="Shape 199"/>
          <p:cNvSpPr/>
          <p:nvPr/>
        </p:nvSpPr>
        <p:spPr>
          <a:xfrm>
            <a:off x="502920" y="4014216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2" name="Text 200"/>
          <p:cNvSpPr/>
          <p:nvPr/>
        </p:nvSpPr>
        <p:spPr>
          <a:xfrm>
            <a:off x="731520" y="401421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class_weight on imbalance</a:t>
            </a:r>
            <a:endParaRPr lang="en-US" sz="1150" dirty="0"/>
          </a:p>
        </p:txBody>
      </p:sp>
      <p:sp>
        <p:nvSpPr>
          <p:cNvPr id="203" name="Shape 201"/>
          <p:cNvSpPr/>
          <p:nvPr/>
        </p:nvSpPr>
        <p:spPr>
          <a:xfrm>
            <a:off x="5349240" y="4014216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4" name="Text 202"/>
          <p:cNvSpPr/>
          <p:nvPr/>
        </p:nvSpPr>
        <p:spPr>
          <a:xfrm>
            <a:off x="5532120" y="401421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can just mean 'always guess majority'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Challenge: MixUp Augmentation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two images AND their labels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600200"/>
          </a:xfrm>
          <a:prstGeom prst="roundRect">
            <a:avLst>
              <a:gd name="adj" fmla="val 2857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 = np.random.beta(alpha, alpha)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mixed_images = lam*images + (1-lam)*shuffled_images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mixed_labels = lam*labels + (1-lam)*shuffled_labels   # e.g. 0.7 cat / 0.3 dog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502920" y="2971800"/>
            <a:ext cx="8138160" cy="1691640"/>
          </a:xfrm>
          <a:prstGeom prst="roundRect">
            <a:avLst>
              <a:gd name="adj" fmla="val 3243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200400"/>
            <a:ext cx="502920" cy="502920"/>
          </a:xfrm>
          <a:prstGeom prst="rect">
            <a:avLst/>
          </a:prstGeom>
        </p:spPr>
      </p:pic>
      <p:sp>
        <p:nvSpPr>
          <p:cNvPr id="189" name="Text 186"/>
          <p:cNvSpPr/>
          <p:nvPr/>
        </p:nvSpPr>
        <p:spPr>
          <a:xfrm>
            <a:off x="1463040" y="297180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target for this exercise: </a:t>
            </a:r>
            <a:pPr indent="0" marL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 validation accuracy with augmentation vs &lt;70% without, on the 2,000-image Cats vs Dogs subset. If your environment can reach Kaggle, confirm it yourself and report your own numbers.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Remember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else survives the day…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77240" y="1517904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87" name="Text 185"/>
          <p:cNvSpPr/>
          <p:nvPr/>
        </p:nvSpPr>
        <p:spPr>
          <a:xfrm>
            <a:off x="77724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88" name="Text 186"/>
          <p:cNvSpPr/>
          <p:nvPr/>
        </p:nvSpPr>
        <p:spPr>
          <a:xfrm>
            <a:off x="1463040" y="135331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manufactures training variety without new photos — but must preserve the label.</a:t>
            </a:r>
            <a:endParaRPr lang="en-US" sz="1250" dirty="0"/>
          </a:p>
        </p:txBody>
      </p:sp>
      <p:sp>
        <p:nvSpPr>
          <p:cNvPr id="189" name="Shape 187"/>
          <p:cNvSpPr/>
          <p:nvPr/>
        </p:nvSpPr>
        <p:spPr>
          <a:xfrm>
            <a:off x="502920" y="237744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Shape 188"/>
          <p:cNvSpPr/>
          <p:nvPr/>
        </p:nvSpPr>
        <p:spPr>
          <a:xfrm>
            <a:off x="777240" y="261518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1" name="Text 189"/>
          <p:cNvSpPr/>
          <p:nvPr/>
        </p:nvSpPr>
        <p:spPr>
          <a:xfrm>
            <a:off x="77724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2" name="Text 190"/>
          <p:cNvSpPr/>
          <p:nvPr/>
        </p:nvSpPr>
        <p:spPr>
          <a:xfrm>
            <a:off x="1463040" y="245059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train/val loss gap IS the overfitting signature — widen the gap, worse generalization.</a:t>
            </a:r>
            <a:endParaRPr lang="en-US" sz="1250" dirty="0"/>
          </a:p>
        </p:txBody>
      </p:sp>
      <p:sp>
        <p:nvSpPr>
          <p:cNvPr id="193" name="Shape 191"/>
          <p:cNvSpPr/>
          <p:nvPr/>
        </p:nvSpPr>
        <p:spPr>
          <a:xfrm>
            <a:off x="502920" y="347472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Shape 192"/>
          <p:cNvSpPr/>
          <p:nvPr/>
        </p:nvSpPr>
        <p:spPr>
          <a:xfrm>
            <a:off x="777240" y="371246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5" name="Text 193"/>
          <p:cNvSpPr/>
          <p:nvPr/>
        </p:nvSpPr>
        <p:spPr>
          <a:xfrm>
            <a:off x="7772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6" name="Text 194"/>
          <p:cNvSpPr/>
          <p:nvPr/>
        </p:nvSpPr>
        <p:spPr>
          <a:xfrm>
            <a:off x="1463040" y="354787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layers live inside the model and auto-disable at evaluate/predict time.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2" name="Text 180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19</a:t>
            </a:r>
            <a:endParaRPr lang="en-US" sz="1400" dirty="0"/>
          </a:p>
        </p:txBody>
      </p:sp>
      <p:sp>
        <p:nvSpPr>
          <p:cNvPr id="183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Pre-trained Models</a:t>
            </a:r>
            <a:endParaRPr lang="en-US" sz="3200" dirty="0"/>
          </a:p>
        </p:txBody>
      </p:sp>
      <p:sp>
        <p:nvSpPr>
          <p:cNvPr id="184" name="Text 182"/>
          <p:cNvSpPr/>
          <p:nvPr/>
        </p:nvSpPr>
        <p:spPr>
          <a:xfrm>
            <a:off x="640080" y="32461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squeezed more from a small dataset. Tomorrow skips the problem: start from MobileNetV2, already trained on 1.2M ImageNet images. Freeze the base, train a new head, hit &gt;90% in minutes.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2026-08-02T07:01:39Z</dcterms:created>
  <dcterms:modified xsi:type="dcterms:W3CDTF">2026-08-02T07:01:39Z</dcterms:modified>
</cp:coreProperties>
</file>