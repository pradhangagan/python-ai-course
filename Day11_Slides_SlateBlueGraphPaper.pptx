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011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8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D5F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DAY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Algorithms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Trees, Forests, SVM &amp; KNN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743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5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cliffhanger: does a more powerful model beat NABIL's baseline?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051560"/>
          </a:xfrm>
          <a:prstGeom prst="rect">
            <a:avLst/>
          </a:prstGeom>
          <a:solidFill>
            <a:srgbClr val="24406B"/>
          </a:solidFill>
          <a:ln w="12700">
            <a:solidFill>
              <a:srgbClr val="0E7C9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118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3520440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new algorithms, one real medical dataset (Breast Cancer Wisconsin), and an optional return to NABIL to settle Day 10's open question.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minutes of theory, 70 minutes hands-on, plus an optional NABIL stretch.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325880"/>
            <a:ext cx="54864" cy="78638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48640" y="1709928"/>
            <a:ext cx="594360" cy="20116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17053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651760" y="14356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&amp; entropy · overfitting · Random Forests &amp; bagging · SVM &amp; kernels · KNN · cross-validation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2221992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2221992"/>
            <a:ext cx="54864" cy="786384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2313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2606040"/>
            <a:ext cx="594360" cy="20116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26014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min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651760" y="23317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Breast Cancer data · train &amp; compare 4 models · visualise a tree · feature importance · cross-validate the winner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5760" y="3118104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3118104"/>
            <a:ext cx="54864" cy="78638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209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(optional)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48640" y="3502152"/>
            <a:ext cx="800100" cy="20116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3497580"/>
            <a:ext cx="800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651760" y="322783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NABIL Direction with Random Forest — does it finally beat the baseline Logistic Regression lost to?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" y="4014216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65760" y="4014216"/>
            <a:ext cx="54864" cy="786384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4105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48640" y="4398264"/>
            <a:ext cx="800100" cy="20116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4393692"/>
            <a:ext cx="800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651760" y="412394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— tune the Random Forest, and honestly check whether tuning actually helped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Cliffhanger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1143000"/>
            <a:ext cx="8412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1143000"/>
            <a:ext cx="54864" cy="155448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12527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10's result: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1527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on NABIL's direction scored 66% accuracy — and LOST to a 68.6% majority-class baseline. Zero recall on 'Up' days.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48640" y="2057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"Would a more powerful model do any better?"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65760" y="2926080"/>
            <a:ext cx="8412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2926080"/>
            <a:ext cx="54864" cy="16916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303580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answer it twice: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Rigorously, on Breast Cancer Wisconsin — a dataset with genuinely strong signal</a:t>
            </a:r>
            <a:endParaRPr lang="en-US" sz="11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As an optional stretch, by circling back to NABIL itself with a Random Forest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new algorithm families today: trees ask yes/no questions, forests combine many trees, SVM maximises a margin, KNN just votes. Four different ways of thinking about the same problem.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Trees: Entropy &amp; Information Gain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yes/no questions — exactly like Twenty Questions.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26060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"worst radius &gt; 16.8?"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77240" y="1783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606040" y="17830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77240" y="2057400"/>
            <a:ext cx="1463040" cy="365760"/>
          </a:xfrm>
          <a:prstGeom prst="rect">
            <a:avLst/>
          </a:prstGeom>
          <a:solidFill>
            <a:srgbClr val="E9F8F0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2121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606040" y="2057400"/>
            <a:ext cx="1463040" cy="3657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06040" y="2103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"worst texture &gt; 21.5?"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606040" y="2487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337560" y="2487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606040" y="2697480"/>
            <a:ext cx="685800" cy="320040"/>
          </a:xfrm>
          <a:prstGeom prst="rect">
            <a:avLst/>
          </a:prstGeom>
          <a:solidFill>
            <a:srgbClr val="E9F8F0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06040" y="27432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383280" y="2697480"/>
            <a:ext cx="685800" cy="320040"/>
          </a:xfrm>
          <a:prstGeom prst="rect">
            <a:avLst/>
          </a:prstGeom>
          <a:solidFill>
            <a:srgbClr val="FCEAE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83280" y="27432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663440" y="128016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63440" y="1280160"/>
            <a:ext cx="54864" cy="260604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0" y="1389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4846320" y="1645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disorder in a set of labels. 50/50 split = max entropy. 100% one class = zero entropy.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846320" y="22860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4846320" y="254203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 split REDUCES entropy. The tree greedily picks the split with the highest gain, at every node.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65760" y="4023360"/>
            <a:ext cx="54864" cy="82296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4023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tree isn't smart in any deep sense. At every step it just asks: which single yes/no question, right now, does the best job of separating my two classes? Repeat greedily."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in Trees: max_depth as a Guardrail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cleanest overfitting demo in the whole course — real data.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71600" y="1280160"/>
            <a:ext cx="2286000" cy="347472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63040" y="13167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0" y="1280160"/>
            <a:ext cx="2286000" cy="347472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49040" y="13167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943600" y="1280160"/>
            <a:ext cx="2286000" cy="347472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0" y="13167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371600" y="1664208"/>
            <a:ext cx="228600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63040" y="1700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0" y="1664208"/>
            <a:ext cx="228600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49040" y="1700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0.923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943600" y="1664208"/>
            <a:ext cx="228600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35040" y="1700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371600" y="2048256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63040" y="2084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0" y="2048256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0" y="2084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0.958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943600" y="2048256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35040" y="2084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0.895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371600" y="2432304"/>
            <a:ext cx="2286000" cy="347472"/>
          </a:xfrm>
          <a:prstGeom prst="rect">
            <a:avLst/>
          </a:prstGeom>
          <a:solidFill>
            <a:srgbClr val="E9F8F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6304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8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0" y="2432304"/>
            <a:ext cx="2286000" cy="347472"/>
          </a:xfrm>
          <a:prstGeom prst="rect">
            <a:avLst/>
          </a:prstGeom>
          <a:solidFill>
            <a:srgbClr val="E9F8F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4904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8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0.976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943600" y="2432304"/>
            <a:ext cx="2286000" cy="347472"/>
          </a:xfrm>
          <a:prstGeom prst="rect">
            <a:avLst/>
          </a:prstGeom>
          <a:solidFill>
            <a:srgbClr val="E9F8F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3504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8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0.939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371600" y="2816352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463040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657600" y="2816352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49040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0.993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943600" y="2816352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35040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0.921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1371600" y="3200400"/>
            <a:ext cx="228600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463040" y="3236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0" y="3200400"/>
            <a:ext cx="228600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49040" y="3236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943600" y="3200400"/>
            <a:ext cx="228600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035040" y="3236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0.912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371600" y="3584448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63040" y="36210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657600" y="3584448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49040" y="36210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943600" y="3584448"/>
            <a:ext cx="2286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35040" y="36210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0.912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365760" y="402336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365760" y="4023360"/>
            <a:ext cx="54864" cy="86868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8640" y="41148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overfitting story, in one table: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548640" y="43708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max_depth=None: 100% train accuracy (memorised everything) but only 91.2% test. max_depth=3: lower train (97.6%) but the BEST test accuracy of any depth (93.9%). More depth made the tree worse at generalising.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Forests: Bagging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trusting one tree, train many and let them vote.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1307592"/>
            <a:ext cx="292608" cy="292608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68680" y="128016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 random samples of training data, drawn WITH replacement (bootstrap)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1480" y="1810512"/>
            <a:ext cx="292608" cy="292608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68680" y="178308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one full decision tree on each sample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11480" y="2313432"/>
            <a:ext cx="292608" cy="292608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2304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68680" y="228600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each tree to a random subset of features at each split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11480" y="2816352"/>
            <a:ext cx="292608" cy="292608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68680" y="278892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predict: every tree votes; majority wins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65760" y="333756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3337560"/>
            <a:ext cx="54864" cy="77724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4290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jellybean-jar analogy: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8640" y="36850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"Ask one person to guess the number of jellybeans in a jar and they might be way off. Ask 100 people and average their guesses — usually much closer. That's bagging."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65760" y="4206240"/>
            <a:ext cx="54864" cy="64008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427939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top 5 on Breast Cancer: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48640" y="4517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worst area (0.140) · worst concave points (0.130) · worst radius (0.098) · mean concave points (0.091) · worst perimeter (0.072)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 Maximising the Margin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widest possible 'street' between the two classes.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1828800"/>
            <a:ext cx="146304" cy="146304"/>
          </a:xfrm>
          <a:prstGeom prst="ellipse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960" y="2103120"/>
            <a:ext cx="146304" cy="146304"/>
          </a:xfrm>
          <a:prstGeom prst="ellipse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2377440"/>
            <a:ext cx="146304" cy="146304"/>
          </a:xfrm>
          <a:prstGeom prst="ellipse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4400" y="1554480"/>
            <a:ext cx="146304" cy="146304"/>
          </a:xfrm>
          <a:prstGeom prst="ellipse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97280" y="2286000"/>
            <a:ext cx="146304" cy="146304"/>
          </a:xfrm>
          <a:prstGeom prst="ellipse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66160" y="1828800"/>
            <a:ext cx="146304" cy="146304"/>
          </a:xfrm>
          <a:prstGeom prst="ellipse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931920" y="2103120"/>
            <a:ext cx="146304" cy="146304"/>
          </a:xfrm>
          <a:prstGeom prst="ellipse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94760" y="1554480"/>
            <a:ext cx="146304" cy="146304"/>
          </a:xfrm>
          <a:prstGeom prst="ellipse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83280" y="2377440"/>
            <a:ext cx="146304" cy="146304"/>
          </a:xfrm>
          <a:prstGeom prst="ellipse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14800" y="1828800"/>
            <a:ext cx="146304" cy="146304"/>
          </a:xfrm>
          <a:prstGeom prst="ellipse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23160" y="1417320"/>
            <a:ext cx="0" cy="2103120"/>
          </a:xfrm>
          <a:prstGeom prst="line">
            <a:avLst/>
          </a:prstGeom>
          <a:noFill/>
          <a:ln w="25400">
            <a:solidFill>
              <a:srgbClr val="C13A3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48840" y="1417320"/>
            <a:ext cx="0" cy="2103120"/>
          </a:xfrm>
          <a:prstGeom prst="line">
            <a:avLst/>
          </a:prstGeom>
          <a:noFill/>
          <a:ln w="12700">
            <a:solidFill>
              <a:srgbClr val="E1E7F0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2697480" y="1417320"/>
            <a:ext cx="0" cy="2103120"/>
          </a:xfrm>
          <a:prstGeom prst="line">
            <a:avLst/>
          </a:prstGeom>
          <a:noFill/>
          <a:ln w="12700">
            <a:solidFill>
              <a:srgbClr val="E1E7F0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2148840" y="35661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663440" y="128016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663440" y="1280160"/>
            <a:ext cx="54864" cy="23774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1389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4846320" y="1645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points sitting exactly on the edge of the margin. Only THEY define the boundary — every other point could move freely without changing it.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846320" y="2514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trick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4846320" y="27706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data into a higher dimension where it becomes separable — without explicitly computing that space. RBF kernel = flexible, curved boundaries.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65760" y="3840480"/>
            <a:ext cx="54864" cy="10058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3840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b="1" i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don't need to understand the kernel trick's math today. Just know: RBF kernel = SVM can draw curved boundaries, not just straight lines. That flexibility is why SVM wins today's comparison."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The Lazy Learner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elbow method for choosing K — real result on Breast Cancer.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1234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every other model today, KNN doesn't build anything during training — it just stores the data. At prediction time, it finds the K closest points and lets them vote.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1874520"/>
            <a:ext cx="886968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1901952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280160" y="1874520"/>
            <a:ext cx="909828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80160" y="190195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17420" y="1874520"/>
            <a:ext cx="909828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17420" y="190195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154680" y="1874520"/>
            <a:ext cx="909828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54680" y="190195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091940" y="1874520"/>
            <a:ext cx="909828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1940" y="190195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0" y="1874520"/>
            <a:ext cx="909828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190195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66460" y="1874520"/>
            <a:ext cx="909828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66460" y="190195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903720" y="1874520"/>
            <a:ext cx="909828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03720" y="190195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840980" y="1874520"/>
            <a:ext cx="909828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40980" y="190195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2240280"/>
            <a:ext cx="886968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2267712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280160" y="2240280"/>
            <a:ext cx="9098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280160" y="226771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0.939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217420" y="2240280"/>
            <a:ext cx="909828" cy="329184"/>
          </a:xfrm>
          <a:prstGeom prst="rect">
            <a:avLst/>
          </a:prstGeom>
          <a:solidFill>
            <a:srgbClr val="E9F8F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17420" y="226771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8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0.982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154680" y="2240280"/>
            <a:ext cx="9098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54680" y="226771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0.956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091940" y="2240280"/>
            <a:ext cx="9098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091940" y="226771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0.974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029200" y="2240280"/>
            <a:ext cx="9098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29200" y="226771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0.974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966460" y="2240280"/>
            <a:ext cx="9098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66460" y="226771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0.974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903720" y="2240280"/>
            <a:ext cx="9098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03720" y="226771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0.974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840980" y="2240280"/>
            <a:ext cx="90982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840980" y="2267712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0.965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65760" y="27432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365760" y="2743200"/>
            <a:ext cx="54864" cy="9144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8640" y="28346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time: essentially zero (0.6ms) — nothing to train.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548640" y="30906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too small (K=1): one noisy neighbour flips the prediction — high variance. K too large: washes out local patterns — high bias. Plateau around K=7-15 is the trustworthy signal; K=3's single best score can be luck of this split.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65760" y="37947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365760" y="3794760"/>
            <a:ext cx="54864" cy="82296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48640" y="3794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b="1" i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why KNN is called a lazy learner — all the real work happens at PREDICTION time, not training time."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Cross-Validation: k-Fold CV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split gives you one number. What if it was lucky — or unlucky?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2344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cross_val_score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cross_val_score(svm_model, X_scaled, y, cv=5)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Fold scores: [0.974, 0.956, 1.000, 0.965, 0.973]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Mean: 0.974   Std: 0.015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11480" y="2670048"/>
            <a:ext cx="256032" cy="256032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2660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" y="2651760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k equal folds (5 is standard)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11480" y="3054096"/>
            <a:ext cx="256032" cy="256032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3044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7240" y="3035808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k-1 folds, test on the remaining one — record the score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1480" y="3438144"/>
            <a:ext cx="256032" cy="256032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77240" y="3419856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k times, holding out a different fold each time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11480" y="3822192"/>
            <a:ext cx="256032" cy="256032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77240" y="3803904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MEAN and STANDARD DEVIATION across all k scores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25196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65760" y="4251960"/>
            <a:ext cx="54864" cy="77724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251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we'd run only ONE split and got the lucky 1.000 fold, we'd think the model was flawless. Cross-validation protects against exactly that false confidence.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48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4406B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Breast Cancer Wisconsin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MEDICAL DATASET WITH GENUINE, STRONG SIGNAL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8412480" cy="1005840"/>
          </a:xfrm>
          <a:prstGeom prst="rect">
            <a:avLst/>
          </a:prstGeom>
          <a:solidFill>
            <a:srgbClr val="24406B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3716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 patients, 30 numeric features, binary target: malignant or benign.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5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NABIL, this problem has genuine, strong, well-documented signal — you'll feel the difference immediately.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487168"/>
            <a:ext cx="310896" cy="310896"/>
          </a:xfrm>
          <a:prstGeom prst="ellipse">
            <a:avLst/>
          </a:prstGeom>
          <a:solidFill>
            <a:srgbClr val="2440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478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2468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split (i.i.d. data — random split, not chronological)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310896" cy="310896"/>
          </a:xfrm>
          <a:prstGeom prst="ellipse">
            <a:avLst/>
          </a:prstGeom>
          <a:solidFill>
            <a:srgbClr val="2440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60120" y="29077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4 models: Tree, Forest, SVM, KNN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364992"/>
            <a:ext cx="310896" cy="310896"/>
          </a:xfrm>
          <a:prstGeom prst="ellipse">
            <a:avLst/>
          </a:prstGeom>
          <a:solidFill>
            <a:srgbClr val="2440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60120" y="33467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a Decision Tree (max_depth=3)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803904"/>
            <a:ext cx="310896" cy="310896"/>
          </a:xfrm>
          <a:prstGeom prst="ellipse">
            <a:avLst/>
          </a:prstGeom>
          <a:solidFill>
            <a:srgbClr val="2440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60120" y="378561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from Random Forest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4242816"/>
            <a:ext cx="310896" cy="310896"/>
          </a:xfrm>
          <a:prstGeom prst="ellipse">
            <a:avLst/>
          </a:prstGeom>
          <a:solidFill>
            <a:srgbClr val="2440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233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0120" y="42245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the winning model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Dataset &amp; Import sklearn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classic dataset built directly into sklearn — no download needed.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278892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sklearn.datasets import load_breast_cancer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train_test_split, cross_val_score, GridSearchCV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DecisionTreeClassifier, plot_tree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sklearn.svm import SVC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sklearn.neighbors import KNeighborsClassifier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(accuracy_score, precision_score, recall_score,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f1_score, classification_report, confusion_matrix)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load_breast_cancer()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data.data, data.target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print(f"Shape: {X.shape}")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Shape: (569, 30)  Classes: malignant=212, benign=357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420624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206240"/>
            <a:ext cx="54864" cy="7772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206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numeric features computed from digitised tissue images (radius, texture, smoothness — each as mean, worst, and standard-error values).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940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&amp; Scale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i.i.d. data, not time series — random split with stratify is correct here.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4630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random_state=42, stratify=y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X_train_scaled = scaler.fit_transform(X_train)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X_test_scaled = scaler.transform(X_test)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92608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2926080"/>
            <a:ext cx="54864" cy="105156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0175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to Day 10: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48640" y="32735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patient is independent — no time link between rows — so random_state=42 with stratify=y is correct here, exactly like Titanic on Day 10. No shuffle=False needed; that rule was specific to NABIL's time series.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3300" y="3351276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-857250" y="46659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All Four Models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evaluation discipline as Day 10 — now on four algorithm families at once.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78" cy="3056636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1342136"/>
            <a:ext cx="81198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= {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"Decision Tree":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DecisionTreeClassifier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=42),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"Random Forest":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=42),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"SVM (RBF)": SVC(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=42),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"KNN":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KNeighborsClassifier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[]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model in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models.items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 =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X_train_scaled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train_time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 start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 =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X_test_scaled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results.append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"Model": name,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"Accuracy":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accuracy_score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y_test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pred),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"Precision":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precision_score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y_test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pred),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"Recall":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recall_score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y_test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pred),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"F1": f1_score(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y_test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pred),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"Train time (ms)":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train_time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1000,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</a:p>
          <a:p>
            <a:pPr marL="0" indent="0">
              <a:buNone/>
            </a:pPr>
            <a:endParaRPr lang="en-US" sz="800" dirty="0">
              <a:solidFill>
                <a:srgbClr val="1A223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results_df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pd.DataFrame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(results)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results_df.round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(3))</a:t>
            </a:r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7955280" y="4832605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850" dirty="0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5A7E7B0B-4C9F-1F82-754D-B430E6A17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893" y="3438144"/>
            <a:ext cx="5461413" cy="11844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a Decision Tree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only models in this course you can hand to a non-technical stakeholder.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4630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plt.figure(figsize=(20, 10))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small_tree = DecisionTreeClassifier(max_depth=3, random_state=42)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small_tree.fit(X_train_scaled, y_train)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plot_tree(small_tree, feature_names=data.feature_names,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class_names=data.target_names, filled=True, fontsize=9)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plt.title("Decision Tree (max_depth=3)")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926080"/>
            <a:ext cx="8412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2926080"/>
            <a:ext cx="54864" cy="155448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63240"/>
            <a:ext cx="310896" cy="310896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960120" y="30632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interpretability, not a black box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548640" y="3383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of the only models here you can print out and hand to a non-technical stakeholder — they can literally follow the yes/no questions themselves. Worth remembering when interpretability matters more than raw accuracy (medical, legal contexts where you need to explain a decision).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from Random Forest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did the model actually rely on?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2344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924" y="1242060"/>
            <a:ext cx="8119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= RandomForestClassifier(random_state=42)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rf.fit(X_train_scaled, y_train)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importances = pd.Series(rf.feature_importances_, index=data.feature_names)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importances.sort_values(ascending=False).head(10).plot(kind="barh")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plt.title("Top 10 Feature Importances — Random Forest")</a:t>
            </a:r>
          </a:p>
          <a:p>
            <a:pPr marL="0" indent="0">
              <a:buNone/>
            </a:pPr>
            <a:r>
              <a:rPr lang="en-US" sz="950" dirty="0" err="1"/>
              <a:t>plt.xlabel</a:t>
            </a:r>
            <a:r>
              <a:rPr lang="en-US" sz="950" dirty="0"/>
              <a:t>("Importance")</a:t>
            </a:r>
          </a:p>
          <a:p>
            <a:pPr marL="0" indent="0">
              <a:buNone/>
            </a:pPr>
            <a:r>
              <a:rPr lang="en-US" sz="950" dirty="0" err="1"/>
              <a:t>plt.gca</a:t>
            </a:r>
            <a:r>
              <a:rPr lang="en-US" sz="950" dirty="0"/>
              <a:t>().</a:t>
            </a:r>
            <a:r>
              <a:rPr lang="en-US" sz="950" dirty="0" err="1"/>
              <a:t>invert_yaxis</a:t>
            </a:r>
            <a:r>
              <a:rPr lang="en-US" sz="950" dirty="0"/>
              <a:t>()</a:t>
            </a:r>
          </a:p>
          <a:p>
            <a:pPr marL="0" indent="0">
              <a:buNone/>
            </a:pPr>
            <a:r>
              <a:rPr lang="en-US" sz="950" dirty="0" err="1"/>
              <a:t>plt.show</a:t>
            </a:r>
            <a:r>
              <a:rPr lang="en-US" sz="950" dirty="0"/>
              <a:t>()</a:t>
            </a:r>
          </a:p>
        </p:txBody>
      </p:sp>
      <p:sp>
        <p:nvSpPr>
          <p:cNvPr id="46" name="Text 44"/>
          <p:cNvSpPr/>
          <p:nvPr/>
        </p:nvSpPr>
        <p:spPr>
          <a:xfrm>
            <a:off x="36576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area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834640" y="2724912"/>
            <a:ext cx="5029200" cy="219456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09560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0.140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" y="3026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concave points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834640" y="3054096"/>
            <a:ext cx="4669971" cy="219456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50331" y="3026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0.130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65760" y="3355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radius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834640" y="3383280"/>
            <a:ext cx="3520440" cy="219456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3355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0.098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65760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concave points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834640" y="3712464"/>
            <a:ext cx="3268980" cy="219456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49340" y="3685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0.091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65760" y="4014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perimeter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834640" y="4041648"/>
            <a:ext cx="2586446" cy="219456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66806" y="4014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0.072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65760" y="4434840"/>
            <a:ext cx="54864" cy="50292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the top 5 are 'worst' measurements, not 'mean' — the most extreme cell readings may be more diagnostic than the average.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the Best Model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SVM's strong result wasn't just a lucky split.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6002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2000"/>
              </a:lnSpc>
              <a:buNone/>
            </a:pPr>
            <a:r>
              <a:rPr lang="en-US" sz="95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best_model</a:t>
            </a: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SVC(</a:t>
            </a:r>
            <a:r>
              <a:rPr lang="en-US" sz="95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=42)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cv_scores</a:t>
            </a: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5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cross_val_score</a:t>
            </a: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best_model</a:t>
            </a: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scaler.fit_transform</a:t>
            </a: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(X), y, cv=5)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95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f"Fold</a:t>
            </a: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scores: {</a:t>
            </a:r>
            <a:r>
              <a:rPr lang="en-US" sz="95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np.round</a:t>
            </a: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cv_scores</a:t>
            </a: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3)}")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95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f"Mean</a:t>
            </a: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r>
              <a:rPr lang="en-US" sz="95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cv_scores.mean</a:t>
            </a: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():.3f}   Std: {</a:t>
            </a:r>
            <a:r>
              <a:rPr lang="en-US" sz="95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cv_scores.std</a:t>
            </a: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():.3f}")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Fold scores: [0.974 0.956 1.000 0.965 0.973]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Mean: 0.974   Std: 0.015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306324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063240"/>
            <a:ext cx="54864" cy="14630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1729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std (0.015) is a good sign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344728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different slices of the data — not just well on one lucky split. Compare to NABIL's tiny 173-row dataset from Day 10, where a single split can swing results a lot. A single train/test split is a quick sanity check; cross-validation is what you'd actually report.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B4F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E3980"/>
          </a:solidFill>
          <a:ln w="12700">
            <a:solidFill>
              <a:srgbClr val="4E398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Stretch: Revisiting NABIL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D9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QUESTION DAY 10 LEFT OPEN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8412480" cy="1371600"/>
          </a:xfrm>
          <a:prstGeom prst="rect">
            <a:avLst/>
          </a:prstGeom>
          <a:solidFill>
            <a:srgbClr val="4E3980"/>
          </a:solidFill>
          <a:ln w="12700">
            <a:solidFill>
              <a:srgbClr val="D9C9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"Yesterday, Logistic Regression lost to NABIL's baseline. Today we have three new, more powerful algorithms. Does a Random Forest do any better on the exact same problem?"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834640"/>
            <a:ext cx="8412480" cy="1051560"/>
          </a:xfrm>
          <a:prstGeom prst="rect">
            <a:avLst/>
          </a:prstGeom>
          <a:solidFill>
            <a:srgbClr val="3A2A5C"/>
          </a:solidFill>
          <a:ln w="12700">
            <a:solidFill>
              <a:srgbClr val="D9C9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9260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5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 = pd.read_csv("NABIL_clean.csv")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5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nabil["MA20"] = nabil["Close"].rolling(20).mean()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5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nabil["MA50"] = nabil["Close"].rolling(50).mean()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5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nabil["Direction"] = (nabil["Close"].shift(-1) &gt; nabil["Close"]).astype(int)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E5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chronological split (shuffle=False), scale, train RandomForestClassifier ...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402336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4023360"/>
            <a:ext cx="54864" cy="594360"/>
          </a:xfrm>
          <a:prstGeom prst="rect">
            <a:avLst/>
          </a:prstGeom>
          <a:solidFill>
            <a:srgbClr val="D9C9F5"/>
          </a:solidFill>
          <a:ln w="12700">
            <a:solidFill>
              <a:srgbClr val="D9C9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4023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time series — still no shuffling. Same rule from Day 10 applies here too.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— THE VERDICT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vs the Baseline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honest, validated result.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14630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89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8640" y="16276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0.686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548640" y="2148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12801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1280160"/>
            <a:ext cx="54864" cy="146304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1389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BASELINE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46320" y="16276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0.686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4846320" y="2148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tie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2880360"/>
            <a:ext cx="8412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5760" y="2880360"/>
            <a:ext cx="54864" cy="16916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29900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verdict: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48640" y="3273552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"Random Forest exactly TIES the baseline — 0.686 to 0.686. It doesn't beat it, but it doesn't lose the way Logistic Regression did (0.657). It catches ONE 'Up' day that Logistic Regression missed completely — a slight improvement, nowhere close to a breakthrough."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— DISCUSSION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Algorithm Isn't a Magic Fix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to carry through the rest of this course.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2801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print(classification_report(y_test_n, pred_n, target_names=["Down/Flat","Up"]))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precision    recall  f1-score   support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Down/Flat       0.70      0.96      0.81        24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Up       0.50      0.09      0.15        11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accuracy                           0.69        35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697480"/>
            <a:ext cx="8412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2697480"/>
            <a:ext cx="54864" cy="187452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283464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b="1" i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more powerful algorithm can extract a LITTLE more signal than a simpler one — but it can't manufacture signal that isn't there. The ceiling on this problem is set by how predictable NEPSE daily direction genuinely is, not by which sklearn class you import."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48640" y="3886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remembering for the rest of this course — and for the rest of your career: better tools help, but they don't replace understanding your data.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habits that quietly make results look better than they are.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1307592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22960" y="12801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scaling before SVM or KNN — both are distance-based, unscaled features silently dominate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" y="1837944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22960" y="181051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max_depth unset on a Decision Tree — near-guaranteed overfitting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" y="2368296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22960" y="234086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a single train/test split's accuracy at face value — use cross_val_score instead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1480" y="2898648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22960" y="287121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only the default K=5 in KNN — plot the elbow across a range before settling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11480" y="3429000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22960" y="34015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feature importance as 'causes' — it reflects predictive usefulness, not causation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11480" y="3959352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22960" y="3931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GridSearchCV gains always transfer — confirm on a genuinely held-out test set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these four algorithm families show up in production.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658368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651760" y="1371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risk, fraud detection, churn prediction — industry default for tabular data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20574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2057400"/>
            <a:ext cx="54864" cy="658368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2651760" y="2148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for image/text classification before deep learning; still strong on small-medium data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283464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5760" y="2834640"/>
            <a:ext cx="54864" cy="658368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2651760" y="2926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 — "customers who bought this also bought..." is literally KNN voting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" y="36118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3611880"/>
            <a:ext cx="54864" cy="658368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703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2651760" y="3703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of Random Forest AND Gradient Boosting (XGBoost, LightGBM) — competition-winning algorithms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65760" y="4434840"/>
            <a:ext cx="54864" cy="50292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clinical tool needs far more rigorous validation than today's 98% before any deployment — always paired with a human expert, never replacing them.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Challenge: GridSearchCV</a:t>
            </a:r>
            <a:endParaRPr lang="en-US" sz="2400" dirty="0"/>
          </a:p>
        </p:txBody>
      </p:sp>
      <p:sp>
        <p:nvSpPr>
          <p:cNvPr id="43" name="Shape 40"/>
          <p:cNvSpPr/>
          <p:nvPr/>
        </p:nvSpPr>
        <p:spPr>
          <a:xfrm>
            <a:off x="365760" y="960120"/>
            <a:ext cx="8412480" cy="16916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2064" y="1051560"/>
            <a:ext cx="8119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'n_estimators': [50, 100, 200],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'max_depth': [5, 10, None],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'min_samples_split': [2, 5]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= GridSearchCV(RandomForestClassifier(random_state=42), param_grid, cv=5)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grid.fit(X_train_scaled, y_train)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print(f"Best params: {grid.best_params_}")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print(f"Best CV score: {grid.best_score_:.3f}")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print(f"Test score: {grid.score(X_test_scaled, y_test):.3f}")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365760" y="278892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365760" y="2788920"/>
            <a:ext cx="54864" cy="146304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48640" y="28803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students for an honest, undramatic result: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548640" y="31546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run: best params found, CV score 0.960 — but test score 0.956, IDENTICAL to the untuned default. Tuning doesn't always produce a meaningfully better model. Reframe: "you now know how to tune AND how to tell honestly whether tuning helped — the second skill is rarer."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365760" y="4389120"/>
            <a:ext cx="54864" cy="50292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11: classification comparison + GridSearchCV tuning"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THESE WITH YOU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habits worth making permanent.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9888"/>
            <a:ext cx="219456" cy="219456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914400" y="1280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for distance/margin-based models (SVM, KNN); skip it for tree-based models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365760" y="1810512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365760" y="1810512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219456" cy="219456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914400" y="18105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complexity against a validation curve, not just final test accuracy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365760" y="2340864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3" name="Shape 49"/>
          <p:cNvSpPr/>
          <p:nvPr/>
        </p:nvSpPr>
        <p:spPr>
          <a:xfrm>
            <a:off x="365760" y="2340864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5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50592"/>
            <a:ext cx="219456" cy="219456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914400" y="234086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before trusting any comparison between models</a:t>
            </a:r>
            <a:endParaRPr lang="en-US" sz="1050" dirty="0"/>
          </a:p>
        </p:txBody>
      </p:sp>
      <p:sp>
        <p:nvSpPr>
          <p:cNvPr id="56" name="Shape 51"/>
          <p:cNvSpPr/>
          <p:nvPr/>
        </p:nvSpPr>
        <p:spPr>
          <a:xfrm>
            <a:off x="365760" y="2871216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2"/>
          <p:cNvSpPr/>
          <p:nvPr/>
        </p:nvSpPr>
        <p:spPr>
          <a:xfrm>
            <a:off x="365760" y="2871216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5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80944"/>
            <a:ext cx="219456" cy="219456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914400" y="2871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feature importance alongside predictions when stakeholders ask "why"</a:t>
            </a:r>
            <a:endParaRPr lang="en-US" sz="1050" dirty="0"/>
          </a:p>
        </p:txBody>
      </p:sp>
      <p:sp>
        <p:nvSpPr>
          <p:cNvPr id="60" name="Shape 54"/>
          <p:cNvSpPr/>
          <p:nvPr/>
        </p:nvSpPr>
        <p:spPr>
          <a:xfrm>
            <a:off x="365760" y="3401568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1" name="Shape 55"/>
          <p:cNvSpPr/>
          <p:nvPr/>
        </p:nvSpPr>
        <p:spPr>
          <a:xfrm>
            <a:off x="365760" y="3401568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11296"/>
            <a:ext cx="219456" cy="219456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914400" y="34015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GridSearchCV results with the same skepticism as any other metric</a:t>
            </a:r>
            <a:endParaRPr lang="en-US" sz="1050" dirty="0"/>
          </a:p>
        </p:txBody>
      </p:sp>
      <p:sp>
        <p:nvSpPr>
          <p:cNvPr id="64" name="Shape 57"/>
          <p:cNvSpPr/>
          <p:nvPr/>
        </p:nvSpPr>
        <p:spPr>
          <a:xfrm>
            <a:off x="365760" y="393192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5" name="Shape 58"/>
          <p:cNvSpPr/>
          <p:nvPr/>
        </p:nvSpPr>
        <p:spPr>
          <a:xfrm>
            <a:off x="365760" y="3931920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6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41648"/>
            <a:ext cx="219456" cy="219456"/>
          </a:xfrm>
          <a:prstGeom prst="rect">
            <a:avLst/>
          </a:prstGeom>
        </p:spPr>
      </p:pic>
      <p:sp>
        <p:nvSpPr>
          <p:cNvPr id="67" name="Text 59"/>
          <p:cNvSpPr/>
          <p:nvPr/>
        </p:nvSpPr>
        <p:spPr>
          <a:xfrm>
            <a:off x="91440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"did it beat the baseline?" before asking "is this a better model?"</a:t>
            </a:r>
            <a:endParaRPr lang="en-US" sz="1050" dirty="0"/>
          </a:p>
        </p:txBody>
      </p:sp>
      <p:sp>
        <p:nvSpPr>
          <p:cNvPr id="68" name="Text 6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Full Picture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datasets, one running theme.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2651760" cy="402336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13258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017520" y="1280160"/>
            <a:ext cx="3017520" cy="402336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0" y="13258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(best: SVM)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035040" y="1280160"/>
            <a:ext cx="2743200" cy="402336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13258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 Direction (Random Forest)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1719072"/>
            <a:ext cx="2651760" cy="402336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17647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17520" y="1719072"/>
            <a:ext cx="3017520" cy="402336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08960" y="17647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0.982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35040" y="1719072"/>
            <a:ext cx="2743200" cy="402336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17647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0.686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2157984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22037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017520" y="2157984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08960" y="22037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exceeds majority class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35040" y="2157984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22037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tie with baseline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5760" y="2596896"/>
            <a:ext cx="2651760" cy="402336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26426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 data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017520" y="2596896"/>
            <a:ext cx="3017520" cy="402336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08960" y="26426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well-documented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35040" y="2596896"/>
            <a:ext cx="2743200" cy="402336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26480" y="26426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— efficient market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" y="3035808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30815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017520" y="3035808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08960" y="30815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genuinely works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035040" y="3035808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26480" y="30815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can't beat what isn't there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365760" y="3657600"/>
            <a:ext cx="54864" cy="109728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" y="37490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theme that runs through both Day 10 and Day 11: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model's ceiling is set by the data's genuine signal, not by which algorithm you choose. Know how to tell the difference.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Feeds Into Week 2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habits from Day 10-11 are what graders look for.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71600"/>
            <a:ext cx="8412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371600"/>
            <a:ext cx="54864" cy="164592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310896" cy="310896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960120" y="1508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Mini-Project — 15% of final grade (Day 14)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48640" y="18745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evaluation discipline — comparing multiple models fairly, cross-validating before trusting a result, reading feature importance — feeds directly in. Graders specifically look for evidence students didn't just train one model and stop, but compared alternatives and justified their choice.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365760" y="3200400"/>
            <a:ext cx="54864" cy="13716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8640" y="33101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should arrive at Day 12 able to answer, in their own words: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48640" y="358444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did Breast Cancer classification do so much better than NABIL direction prediction, even using the exact same algorithms and evaluation code?"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48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3D5F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COMPLETE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Wins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763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600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four classifier families with consistent, honest evaluation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30552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103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overfitting happen live in a max_depth table — and used cross-validation to avoid false confidence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33472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2606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feature importance and connected it to real clinical intuition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36392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3108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Day 10's cliffhanger: a better algorithm helps a little, but can't manufacture signal that isn't there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457200" y="379476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40080" y="39044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12: Unsupervised Learning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hierarchical clustering, DBSCAN, and PCA on customer segmentation data. The biggest shift: no labels at all — the algorithm finds structure on its own.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3612</Words>
  <Application>Microsoft Office PowerPoint</Application>
  <PresentationFormat>On-screen Show (16:9)</PresentationFormat>
  <Paragraphs>425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11 — Classification Algorithms</dc:title>
  <dc:subject>PptxGenJS Presentation</dc:subject>
  <dc:creator>PptxGenJS</dc:creator>
  <cp:lastModifiedBy>Gagan Pradhan</cp:lastModifiedBy>
  <cp:revision>2</cp:revision>
  <dcterms:created xsi:type="dcterms:W3CDTF">2026-07-10T06:23:16Z</dcterms:created>
  <dcterms:modified xsi:type="dcterms:W3CDTF">2026-07-14T10:26:17Z</dcterms:modified>
</cp:coreProperties>
</file>