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81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·  WEEK 3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3800" dirty="0"/>
          </a:p>
        </p:txBody>
      </p:sp>
      <p:sp>
        <p:nvSpPr>
          <p:cNvPr id="185" name="Text 18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filters automatically. Day 16's edge detectors were hand-designed; today's are learned. MNIST &gt;99% target.</a:t>
            </a:r>
            <a:endParaRPr lang="en-US" sz="1500" dirty="0"/>
          </a:p>
        </p:txBody>
      </p:sp>
      <p:sp>
        <p:nvSpPr>
          <p:cNvPr id="186" name="Text 183"/>
          <p:cNvSpPr/>
          <p:nvPr/>
        </p:nvSpPr>
        <p:spPr>
          <a:xfrm>
            <a:off x="64008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  ·  New tools: Conv2D, MaxPooling2D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Day 16's hand-crafted filters to automatic learning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18872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31520" y="14173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</p:sp>
      <p:sp>
        <p:nvSpPr>
          <p:cNvPr id="187" name="Text 185"/>
          <p:cNvSpPr/>
          <p:nvPr/>
        </p:nvSpPr>
        <p:spPr>
          <a:xfrm>
            <a:off x="731520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0:50</a:t>
            </a:r>
            <a:endParaRPr lang="en-US" sz="1050" dirty="0"/>
          </a:p>
        </p:txBody>
      </p:sp>
      <p:sp>
        <p:nvSpPr>
          <p:cNvPr id="188" name="Text 186"/>
          <p:cNvSpPr/>
          <p:nvPr/>
        </p:nvSpPr>
        <p:spPr>
          <a:xfrm>
            <a:off x="2331720" y="124358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500" dirty="0"/>
          </a:p>
        </p:txBody>
      </p:sp>
      <p:sp>
        <p:nvSpPr>
          <p:cNvPr id="189" name="Text 187"/>
          <p:cNvSpPr/>
          <p:nvPr/>
        </p:nvSpPr>
        <p:spPr>
          <a:xfrm>
            <a:off x="2331720" y="159105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operation · padding · pooling · full pipeline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502920" y="2084832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1" name="Shape 189"/>
          <p:cNvSpPr/>
          <p:nvPr/>
        </p:nvSpPr>
        <p:spPr>
          <a:xfrm>
            <a:off x="731520" y="23134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3EDFD"/>
          </a:solidFill>
          <a:ln/>
        </p:spPr>
      </p:sp>
      <p:sp>
        <p:nvSpPr>
          <p:cNvPr id="192" name="Text 190"/>
          <p:cNvSpPr/>
          <p:nvPr/>
        </p:nvSpPr>
        <p:spPr>
          <a:xfrm>
            <a:off x="731520" y="2313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 – 1:25</a:t>
            </a:r>
            <a:endParaRPr lang="en-US" sz="1050" dirty="0"/>
          </a:p>
        </p:txBody>
      </p:sp>
      <p:sp>
        <p:nvSpPr>
          <p:cNvPr id="193" name="Text 191"/>
          <p:cNvSpPr/>
          <p:nvPr/>
        </p:nvSpPr>
        <p:spPr>
          <a:xfrm>
            <a:off x="2331720" y="213969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train</a:t>
            </a:r>
            <a:endParaRPr lang="en-US" sz="1500" dirty="0"/>
          </a:p>
        </p:txBody>
      </p:sp>
      <p:sp>
        <p:nvSpPr>
          <p:cNvPr id="194" name="Text 192"/>
          <p:cNvSpPr/>
          <p:nvPr/>
        </p:nvSpPr>
        <p:spPr>
          <a:xfrm>
            <a:off x="2331720" y="24871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MNIST, build CNN, hit 98.9% in 30 seconds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502920" y="2980944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6" name="Shape 194"/>
          <p:cNvSpPr/>
          <p:nvPr/>
        </p:nvSpPr>
        <p:spPr>
          <a:xfrm>
            <a:off x="731520" y="320954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197" name="Text 195"/>
          <p:cNvSpPr/>
          <p:nvPr/>
        </p:nvSpPr>
        <p:spPr>
          <a:xfrm>
            <a:off x="731520" y="32095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 – 1:50</a:t>
            </a:r>
            <a:endParaRPr lang="en-US" sz="1050" dirty="0"/>
          </a:p>
        </p:txBody>
      </p:sp>
      <p:sp>
        <p:nvSpPr>
          <p:cNvPr id="198" name="Text 196"/>
          <p:cNvSpPr/>
          <p:nvPr/>
        </p:nvSpPr>
        <p:spPr>
          <a:xfrm>
            <a:off x="2331720" y="303580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interpret</a:t>
            </a:r>
            <a:endParaRPr lang="en-US" sz="1500" dirty="0"/>
          </a:p>
        </p:txBody>
      </p:sp>
      <p:sp>
        <p:nvSpPr>
          <p:cNvPr id="199" name="Text 197"/>
          <p:cNvSpPr/>
          <p:nvPr/>
        </p:nvSpPr>
        <p:spPr>
          <a:xfrm>
            <a:off x="2331720" y="33832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learned filters, watch them look like edges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502920" y="3877056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201" name="Shape 199"/>
          <p:cNvSpPr/>
          <p:nvPr/>
        </p:nvSpPr>
        <p:spPr>
          <a:xfrm>
            <a:off x="731520" y="41056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F2E2"/>
          </a:solidFill>
          <a:ln/>
        </p:spPr>
      </p:sp>
      <p:sp>
        <p:nvSpPr>
          <p:cNvPr id="202" name="Text 200"/>
          <p:cNvSpPr/>
          <p:nvPr/>
        </p:nvSpPr>
        <p:spPr>
          <a:xfrm>
            <a:off x="731520" y="4105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– 2:00</a:t>
            </a:r>
            <a:endParaRPr lang="en-US" sz="1050" dirty="0"/>
          </a:p>
        </p:txBody>
      </p:sp>
      <p:sp>
        <p:nvSpPr>
          <p:cNvPr id="203" name="Text 201"/>
          <p:cNvSpPr/>
          <p:nvPr/>
        </p:nvSpPr>
        <p:spPr>
          <a:xfrm>
            <a:off x="2331720" y="39319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04" name="Text 202"/>
          <p:cNvSpPr/>
          <p:nvPr/>
        </p:nvSpPr>
        <p:spPr>
          <a:xfrm>
            <a:off x="2331720" y="42793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&gt;99% test accuracy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Yesterday to Today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connection: hand-designed vs automatically learned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ECEAFB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</a:t>
            </a:r>
            <a:endParaRPr lang="en-US" sz="1500" dirty="0"/>
          </a:p>
        </p:txBody>
      </p:sp>
      <p:sp>
        <p:nvSpPr>
          <p:cNvPr id="187" name="Text 185"/>
          <p:cNvSpPr/>
          <p:nvPr/>
        </p:nvSpPr>
        <p:spPr>
          <a:xfrm>
            <a:off x="73152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operators: hand-designed 3×3 grids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detector: fixed rules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 them across the image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edge map (fixed for all images)</a:t>
            </a:r>
            <a:endParaRPr lang="en-US" sz="1250" dirty="0"/>
          </a:p>
        </p:txBody>
      </p:sp>
      <p:sp>
        <p:nvSpPr>
          <p:cNvPr id="188" name="Shape 186"/>
          <p:cNvSpPr/>
          <p:nvPr/>
        </p:nvSpPr>
        <p:spPr>
          <a:xfrm>
            <a:off x="4709160" y="132588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E6F7F5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49377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</a:t>
            </a:r>
            <a:endParaRPr lang="en-US" sz="1500" dirty="0"/>
          </a:p>
        </p:txBody>
      </p:sp>
      <p:sp>
        <p:nvSpPr>
          <p:cNvPr id="190" name="Text 188"/>
          <p:cNvSpPr/>
          <p:nvPr/>
        </p:nvSpPr>
        <p:spPr>
          <a:xfrm>
            <a:off x="493776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layers: 3×3 grids, LEARNED from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different filters, all learning in parallel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them across the image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discovers edges look useful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Convolution Operation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 small learned filter across the image, collecting features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CEAFB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× filter → output</a:t>
            </a:r>
            <a:endParaRPr lang="en-US" sz="18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06040"/>
            <a:ext cx="8138160" cy="1645920"/>
          </a:xfrm>
          <a:prstGeom prst="roundRect">
            <a:avLst>
              <a:gd name="adj" fmla="val 2778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612648" y="2679192"/>
            <a:ext cx="791870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image (28×28)   Filter (3×3)           Output (28×28 with padding='same')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[0,0]:    (1×w1 + 2×w2 + ... 9×w9) = value → output[0,0]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[0,1]:    (shift one right, repeat)             → output[0,1]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[27,27]:  (bottom-right corner)                 → output[27,27]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Parameters in Keras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tune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ECEAFB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3258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filters=32</a:t>
            </a:r>
            <a:endParaRPr lang="en-US" sz="1400" dirty="0"/>
          </a:p>
        </p:txBody>
      </p:sp>
      <p:sp>
        <p:nvSpPr>
          <p:cNvPr id="187" name="Text 185"/>
          <p:cNvSpPr/>
          <p:nvPr/>
        </p:nvSpPr>
        <p:spPr>
          <a:xfrm>
            <a:off x="3246120" y="13258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3×3 grids to learn (32 different feature detectors)</a:t>
            </a:r>
            <a:endParaRPr lang="en-US" sz="1300" dirty="0"/>
          </a:p>
        </p:txBody>
      </p:sp>
      <p:sp>
        <p:nvSpPr>
          <p:cNvPr id="188" name="Shape 186"/>
          <p:cNvSpPr/>
          <p:nvPr/>
        </p:nvSpPr>
        <p:spPr>
          <a:xfrm>
            <a:off x="502920" y="224028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3EDFD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777240" y="22402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kernel_size=(3,3)</a:t>
            </a:r>
            <a:endParaRPr lang="en-US" sz="1400" dirty="0"/>
          </a:p>
        </p:txBody>
      </p:sp>
      <p:sp>
        <p:nvSpPr>
          <p:cNvPr id="190" name="Text 188"/>
          <p:cNvSpPr/>
          <p:nvPr/>
        </p:nvSpPr>
        <p:spPr>
          <a:xfrm>
            <a:off x="3246120" y="22402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each filter (3×3 is tiny, 5×5 is slightly larger)</a:t>
            </a:r>
            <a:endParaRPr lang="en-US" sz="1300" dirty="0"/>
          </a:p>
        </p:txBody>
      </p:sp>
      <p:sp>
        <p:nvSpPr>
          <p:cNvPr id="191" name="Shape 189"/>
          <p:cNvSpPr/>
          <p:nvPr/>
        </p:nvSpPr>
        <p:spPr>
          <a:xfrm>
            <a:off x="502920" y="315468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E6F7F5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777240" y="31546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activation='relu'</a:t>
            </a:r>
            <a:endParaRPr lang="en-US" sz="1400" dirty="0"/>
          </a:p>
        </p:txBody>
      </p:sp>
      <p:sp>
        <p:nvSpPr>
          <p:cNvPr id="193" name="Text 191"/>
          <p:cNvSpPr/>
          <p:nvPr/>
        </p:nvSpPr>
        <p:spPr>
          <a:xfrm>
            <a:off x="3246120" y="31546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ReLU to each filter's output (nonlinearity)</a:t>
            </a:r>
            <a:endParaRPr lang="en-US" sz="1300" dirty="0"/>
          </a:p>
        </p:txBody>
      </p:sp>
      <p:sp>
        <p:nvSpPr>
          <p:cNvPr id="194" name="Shape 192"/>
          <p:cNvSpPr/>
          <p:nvPr/>
        </p:nvSpPr>
        <p:spPr>
          <a:xfrm>
            <a:off x="502920" y="406908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DF2E2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777240" y="4069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padding='same'</a:t>
            </a:r>
            <a:endParaRPr lang="en-US" sz="1400" dirty="0"/>
          </a:p>
        </p:txBody>
      </p:sp>
      <p:sp>
        <p:nvSpPr>
          <p:cNvPr id="196" name="Text 194"/>
          <p:cNvSpPr/>
          <p:nvPr/>
        </p:nvSpPr>
        <p:spPr>
          <a:xfrm>
            <a:off x="3246120" y="40690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with zeros so output size = input size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 — Downsampling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strongest feature in each 2×2 region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F3EDFD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the spatial size, keeps high-value features, adds regularization</a:t>
            </a:r>
            <a:endParaRPr lang="en-US" sz="17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97480"/>
            <a:ext cx="8138160" cy="1371600"/>
          </a:xfrm>
          <a:prstGeom prst="roundRect">
            <a:avLst>
              <a:gd name="adj" fmla="val 3333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612648" y="2770632"/>
            <a:ext cx="79187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(4×4):          MaxPool 2×2:          Output (2×2):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5 │ 2 3             Take max in each      5 7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7 │ 4 6             2×2 region      →     7 6</a:t>
            </a:r>
            <a:endParaRPr lang="en-US" sz="1200" dirty="0"/>
          </a:p>
        </p:txBody>
      </p:sp>
      <p:sp>
        <p:nvSpPr>
          <p:cNvPr id="189" name="Shape 187"/>
          <p:cNvSpPr/>
          <p:nvPr/>
        </p:nvSpPr>
        <p:spPr>
          <a:xfrm>
            <a:off x="502920" y="429768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77240" y="42976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28×28 → 14×14 → 7×7 as we go deeper. Fewer parameters downstream, less overfitting.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— Early to Late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→ Features → Decision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34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28×28×1</a:t>
            </a:r>
            <a:endParaRPr lang="en-US" sz="1050" dirty="0"/>
          </a:p>
        </p:txBody>
      </p:sp>
      <p:sp>
        <p:nvSpPr>
          <p:cNvPr id="187" name="Text 185"/>
          <p:cNvSpPr/>
          <p:nvPr/>
        </p:nvSpPr>
        <p:spPr>
          <a:xfrm>
            <a:off x="4160520" y="12344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</a:t>
            </a:r>
            <a:endParaRPr lang="en-US" sz="1050" dirty="0"/>
          </a:p>
        </p:txBody>
      </p:sp>
      <p:sp>
        <p:nvSpPr>
          <p:cNvPr id="188" name="Shape 186"/>
          <p:cNvSpPr/>
          <p:nvPr/>
        </p:nvSpPr>
        <p:spPr>
          <a:xfrm>
            <a:off x="502920" y="1581912"/>
            <a:ext cx="813816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9" name="Text 187"/>
          <p:cNvSpPr/>
          <p:nvPr/>
        </p:nvSpPr>
        <p:spPr>
          <a:xfrm>
            <a:off x="777240" y="15819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Conv (learn edges)</a:t>
            </a:r>
            <a:endParaRPr lang="en-US" sz="1050" dirty="0"/>
          </a:p>
        </p:txBody>
      </p:sp>
      <p:sp>
        <p:nvSpPr>
          <p:cNvPr id="190" name="Text 188"/>
          <p:cNvSpPr/>
          <p:nvPr/>
        </p:nvSpPr>
        <p:spPr>
          <a:xfrm>
            <a:off x="4160520" y="15819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28×28×32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1" name="Shape 189"/>
          <p:cNvSpPr/>
          <p:nvPr/>
        </p:nvSpPr>
        <p:spPr>
          <a:xfrm>
            <a:off x="502920" y="1929384"/>
            <a:ext cx="813816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777240" y="1929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Pool</a:t>
            </a:r>
            <a:endParaRPr lang="en-US" sz="1050" dirty="0"/>
          </a:p>
        </p:txBody>
      </p:sp>
      <p:sp>
        <p:nvSpPr>
          <p:cNvPr id="193" name="Text 191"/>
          <p:cNvSpPr/>
          <p:nvPr/>
        </p:nvSpPr>
        <p:spPr>
          <a:xfrm>
            <a:off x="4160520" y="19293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14×14×32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4" name="Shape 192"/>
          <p:cNvSpPr/>
          <p:nvPr/>
        </p:nvSpPr>
        <p:spPr>
          <a:xfrm>
            <a:off x="502920" y="2276856"/>
            <a:ext cx="813816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777240" y="2276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Conv (learn shapes)</a:t>
            </a:r>
            <a:endParaRPr lang="en-US" sz="1050" dirty="0"/>
          </a:p>
        </p:txBody>
      </p:sp>
      <p:sp>
        <p:nvSpPr>
          <p:cNvPr id="196" name="Text 194"/>
          <p:cNvSpPr/>
          <p:nvPr/>
        </p:nvSpPr>
        <p:spPr>
          <a:xfrm>
            <a:off x="4160520" y="22768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14×14×64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7" name="Shape 195"/>
          <p:cNvSpPr/>
          <p:nvPr/>
        </p:nvSpPr>
        <p:spPr>
          <a:xfrm>
            <a:off x="502920" y="2624328"/>
            <a:ext cx="813816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777240" y="2624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Pool</a:t>
            </a:r>
            <a:endParaRPr lang="en-US" sz="1050" dirty="0"/>
          </a:p>
        </p:txBody>
      </p:sp>
      <p:sp>
        <p:nvSpPr>
          <p:cNvPr id="199" name="Text 197"/>
          <p:cNvSpPr/>
          <p:nvPr/>
        </p:nvSpPr>
        <p:spPr>
          <a:xfrm>
            <a:off x="4160520" y="26243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7×7×64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00" name="Shape 198"/>
          <p:cNvSpPr/>
          <p:nvPr/>
        </p:nvSpPr>
        <p:spPr>
          <a:xfrm>
            <a:off x="502920" y="2971800"/>
            <a:ext cx="813816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777240" y="2971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Flatten</a:t>
            </a:r>
            <a:endParaRPr lang="en-US" sz="1050" dirty="0"/>
          </a:p>
        </p:txBody>
      </p:sp>
      <p:sp>
        <p:nvSpPr>
          <p:cNvPr id="202" name="Text 200"/>
          <p:cNvSpPr/>
          <p:nvPr/>
        </p:nvSpPr>
        <p:spPr>
          <a:xfrm>
            <a:off x="4160520" y="29718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3136</a:t>
            </a: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numbers</a:t>
            </a:r>
            <a:endParaRPr lang="en-US" sz="1050" dirty="0"/>
          </a:p>
        </p:txBody>
      </p:sp>
      <p:sp>
        <p:nvSpPr>
          <p:cNvPr id="203" name="Shape 201"/>
          <p:cNvSpPr/>
          <p:nvPr/>
        </p:nvSpPr>
        <p:spPr>
          <a:xfrm>
            <a:off x="502920" y="3319272"/>
            <a:ext cx="813816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204" name="Text 202"/>
          <p:cNvSpPr/>
          <p:nvPr/>
        </p:nvSpPr>
        <p:spPr>
          <a:xfrm>
            <a:off x="777240" y="3319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Dense(128, relu)</a:t>
            </a:r>
            <a:endParaRPr lang="en-US" sz="1050" dirty="0"/>
          </a:p>
        </p:txBody>
      </p:sp>
      <p:sp>
        <p:nvSpPr>
          <p:cNvPr id="205" name="Text 203"/>
          <p:cNvSpPr/>
          <p:nvPr/>
        </p:nvSpPr>
        <p:spPr>
          <a:xfrm>
            <a:off x="4160520" y="33192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high-level features</a:t>
            </a:r>
            <a:endParaRPr lang="en-US" sz="1050" dirty="0"/>
          </a:p>
        </p:txBody>
      </p:sp>
      <p:sp>
        <p:nvSpPr>
          <p:cNvPr id="206" name="Shape 204"/>
          <p:cNvSpPr/>
          <p:nvPr/>
        </p:nvSpPr>
        <p:spPr>
          <a:xfrm>
            <a:off x="502920" y="3666744"/>
            <a:ext cx="813816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77240" y="3666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Dropout(0.5)</a:t>
            </a:r>
            <a:endParaRPr lang="en-US" sz="1050" dirty="0"/>
          </a:p>
        </p:txBody>
      </p:sp>
      <p:sp>
        <p:nvSpPr>
          <p:cNvPr id="208" name="Text 206"/>
          <p:cNvSpPr/>
          <p:nvPr/>
        </p:nvSpPr>
        <p:spPr>
          <a:xfrm>
            <a:off x="4160520" y="36667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overfitting</a:t>
            </a:r>
            <a:endParaRPr lang="en-US" sz="1050" dirty="0"/>
          </a:p>
        </p:txBody>
      </p:sp>
      <p:sp>
        <p:nvSpPr>
          <p:cNvPr id="209" name="Shape 207"/>
          <p:cNvSpPr/>
          <p:nvPr/>
        </p:nvSpPr>
        <p:spPr>
          <a:xfrm>
            <a:off x="502920" y="4014216"/>
            <a:ext cx="813816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0" name="Text 208"/>
          <p:cNvSpPr/>
          <p:nvPr/>
        </p:nvSpPr>
        <p:spPr>
          <a:xfrm>
            <a:off x="777240" y="40142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Dense(10, softmax)</a:t>
            </a:r>
            <a:endParaRPr lang="en-US" sz="1050" dirty="0"/>
          </a:p>
        </p:txBody>
      </p:sp>
      <p:sp>
        <p:nvSpPr>
          <p:cNvPr id="211" name="Text 209"/>
          <p:cNvSpPr/>
          <p:nvPr/>
        </p:nvSpPr>
        <p:spPr>
          <a:xfrm>
            <a:off x="4160520" y="40142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probabilities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 Beats Dense on Images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parameters, built-in spatial structure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FBEAEC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E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approach</a:t>
            </a:r>
            <a:endParaRPr lang="en-US" sz="1400" dirty="0"/>
          </a:p>
        </p:txBody>
      </p:sp>
      <p:sp>
        <p:nvSpPr>
          <p:cNvPr id="187" name="Text 185"/>
          <p:cNvSpPr/>
          <p:nvPr/>
        </p:nvSpPr>
        <p:spPr>
          <a:xfrm>
            <a:off x="73152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28×28 → 784 inputs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Dense(128) = 784×128 = 100k+ weights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training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spatial structure</a:t>
            </a:r>
            <a:endParaRPr lang="en-US" sz="1250" dirty="0"/>
          </a:p>
        </p:txBody>
      </p:sp>
      <p:sp>
        <p:nvSpPr>
          <p:cNvPr id="188" name="Shape 186"/>
          <p:cNvSpPr/>
          <p:nvPr/>
        </p:nvSpPr>
        <p:spPr>
          <a:xfrm>
            <a:off x="4709160" y="132588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E6F7F5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49377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approach</a:t>
            </a:r>
            <a:endParaRPr lang="en-US" sz="1400" dirty="0"/>
          </a:p>
        </p:txBody>
      </p:sp>
      <p:sp>
        <p:nvSpPr>
          <p:cNvPr id="190" name="Text 188"/>
          <p:cNvSpPr/>
          <p:nvPr/>
        </p:nvSpPr>
        <p:spPr>
          <a:xfrm>
            <a:off x="493776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 of 3×3×1 = 288 weights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350× fewer! (+ biases)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spatial relationships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— The Dataset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 handwritten digits, 28×28 grayscale, 10 classes (0–9)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ECEAFB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87" name="Text 185"/>
          <p:cNvSpPr/>
          <p:nvPr/>
        </p:nvSpPr>
        <p:spPr>
          <a:xfrm>
            <a:off x="73152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images</a:t>
            </a:r>
            <a:endParaRPr lang="en-US" sz="1500" dirty="0"/>
          </a:p>
        </p:txBody>
      </p:sp>
      <p:sp>
        <p:nvSpPr>
          <p:cNvPr id="188" name="Shape 186"/>
          <p:cNvSpPr/>
          <p:nvPr/>
        </p:nvSpPr>
        <p:spPr>
          <a:xfrm>
            <a:off x="3337560" y="137160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F3EDFD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356616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190" name="Text 188"/>
          <p:cNvSpPr/>
          <p:nvPr/>
        </p:nvSpPr>
        <p:spPr>
          <a:xfrm>
            <a:off x="356616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images</a:t>
            </a:r>
            <a:endParaRPr lang="en-US" sz="1500" dirty="0"/>
          </a:p>
        </p:txBody>
      </p:sp>
      <p:sp>
        <p:nvSpPr>
          <p:cNvPr id="191" name="Shape 189"/>
          <p:cNvSpPr/>
          <p:nvPr/>
        </p:nvSpPr>
        <p:spPr>
          <a:xfrm>
            <a:off x="6172200" y="137160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E6F7F5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640080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93" name="Text 191"/>
          <p:cNvSpPr/>
          <p:nvPr/>
        </p:nvSpPr>
        <p:spPr>
          <a:xfrm>
            <a:off x="640080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&gt;99% test accuracy</a:t>
            </a:r>
            <a:endParaRPr lang="en-US" sz="1500" dirty="0"/>
          </a:p>
        </p:txBody>
      </p:sp>
      <p:sp>
        <p:nvSpPr>
          <p:cNvPr id="194" name="Shape 192"/>
          <p:cNvSpPr/>
          <p:nvPr/>
        </p:nvSpPr>
        <p:spPr>
          <a:xfrm>
            <a:off x="502920" y="3291840"/>
            <a:ext cx="8138160" cy="914400"/>
          </a:xfrm>
          <a:prstGeom prst="roundRect">
            <a:avLst>
              <a:gd name="adj" fmla="val 5000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12648" y="3364992"/>
            <a:ext cx="79187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(X_train, y_train), (X_test, y_test) = tf.keras.datasets.mnist.load_data()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CNN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architecture from the guide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3200400"/>
          </a:xfrm>
          <a:prstGeom prst="roundRect">
            <a:avLst>
              <a:gd name="adj" fmla="val 1429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tf.keras.Sequential([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Conv2D(32, (3,3), activation='relu', padding='same', input_shape=(28,28,1)),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MaxPooling2D((2,2)),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Conv2D(64, (3,3), activation='relu', padding='same'),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MaxPooling2D((2,2)),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Flatten(),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Dense(128, activation='relu'),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Dropout(0.5),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Dense(10, activation='softmax')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model.compile(optimizer='adam', loss='sparse_categorical_crossentropy', metrics=['accuracy'])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MNIST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98.9% validation accuracy by epoch 15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868680"/>
          </a:xfrm>
          <a:prstGeom prst="roundRect">
            <a:avLst>
              <a:gd name="adj" fmla="val 5263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model.fit(X_train, y_train, validation_split=0.2, epochs=15, batch_size=128)</a:t>
            </a:r>
            <a:endParaRPr lang="en-US" sz="1250" dirty="0"/>
          </a:p>
        </p:txBody>
      </p:sp>
      <p:sp>
        <p:nvSpPr>
          <p:cNvPr id="187" name="Shape 185"/>
          <p:cNvSpPr/>
          <p:nvPr/>
        </p:nvSpPr>
        <p:spPr>
          <a:xfrm>
            <a:off x="502920" y="228600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ECEAFB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3152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300" dirty="0"/>
          </a:p>
        </p:txBody>
      </p:sp>
      <p:sp>
        <p:nvSpPr>
          <p:cNvPr id="189" name="Text 187"/>
          <p:cNvSpPr/>
          <p:nvPr/>
        </p:nvSpPr>
        <p:spPr>
          <a:xfrm>
            <a:off x="73152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1:   0.234</a:t>
            </a:r>
            <a:endParaRPr lang="en-US" sz="1250" dirty="0"/>
          </a:p>
        </p:txBody>
      </p:sp>
      <p:sp>
        <p:nvSpPr>
          <p:cNvPr id="190" name="Text 188"/>
          <p:cNvSpPr/>
          <p:nvPr/>
        </p:nvSpPr>
        <p:spPr>
          <a:xfrm>
            <a:off x="73152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15:  0.021</a:t>
            </a:r>
            <a:endParaRPr lang="en-US" sz="1250" dirty="0"/>
          </a:p>
        </p:txBody>
      </p:sp>
      <p:sp>
        <p:nvSpPr>
          <p:cNvPr id="191" name="Text 189"/>
          <p:cNvSpPr/>
          <p:nvPr/>
        </p:nvSpPr>
        <p:spPr>
          <a:xfrm>
            <a:off x="73152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~95× improvement</a:t>
            </a:r>
            <a:endParaRPr lang="en-US" sz="1300" dirty="0"/>
          </a:p>
        </p:txBody>
      </p:sp>
      <p:sp>
        <p:nvSpPr>
          <p:cNvPr id="192" name="Shape 190"/>
          <p:cNvSpPr/>
          <p:nvPr/>
        </p:nvSpPr>
        <p:spPr>
          <a:xfrm>
            <a:off x="4709160" y="228600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E6F7F5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3776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94" name="Text 192"/>
          <p:cNvSpPr/>
          <p:nvPr/>
        </p:nvSpPr>
        <p:spPr>
          <a:xfrm>
            <a:off x="49377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Epoch 5:   97.8%</a:t>
            </a:r>
            <a:endParaRPr lang="en-US" sz="1250" dirty="0"/>
          </a:p>
        </p:txBody>
      </p:sp>
      <p:sp>
        <p:nvSpPr>
          <p:cNvPr id="195" name="Text 193"/>
          <p:cNvSpPr/>
          <p:nvPr/>
        </p:nvSpPr>
        <p:spPr>
          <a:xfrm>
            <a:off x="493776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Epoch 15:  98.9%</a:t>
            </a:r>
            <a:endParaRPr lang="en-US" sz="1250" dirty="0"/>
          </a:p>
        </p:txBody>
      </p:sp>
      <p:sp>
        <p:nvSpPr>
          <p:cNvPr id="196" name="Text 194"/>
          <p:cNvSpPr/>
          <p:nvPr/>
        </p:nvSpPr>
        <p:spPr>
          <a:xfrm>
            <a:off x="493776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99%!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Test Set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score after 15 epochs of training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F3EDFD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3716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98.9%</a:t>
            </a:r>
            <a:endParaRPr lang="en-US" sz="2800" dirty="0"/>
          </a:p>
        </p:txBody>
      </p:sp>
      <p:sp>
        <p:nvSpPr>
          <p:cNvPr id="187" name="Shape 185"/>
          <p:cNvSpPr/>
          <p:nvPr/>
        </p:nvSpPr>
        <p:spPr>
          <a:xfrm>
            <a:off x="502920" y="2743200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ECEAFB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pic>
        <p:nvPicPr>
          <p:cNvPr id="18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26080"/>
            <a:ext cx="548640" cy="548640"/>
          </a:xfrm>
          <a:prstGeom prst="rect">
            <a:avLst/>
          </a:prstGeom>
        </p:spPr>
      </p:pic>
      <p:sp>
        <p:nvSpPr>
          <p:cNvPr id="189" name="Text 186"/>
          <p:cNvSpPr/>
          <p:nvPr/>
        </p:nvSpPr>
        <p:spPr>
          <a:xfrm>
            <a:off x="1554480" y="274320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&gt;98% accuracy on 10,000 never-before-seen handwritten digits, in 30 seconds on CPU. </a:t>
            </a: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hand-tuned features, no manual engineering — just architecture + data + backprop.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2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— 70 MINUTES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874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Work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</a:t>
            </a:r>
            <a:endParaRPr lang="en-US" sz="3600" dirty="0"/>
          </a:p>
        </p:txBody>
      </p:sp>
      <p:sp>
        <p:nvSpPr>
          <p:cNvPr id="185" name="Text 182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MNIST → build → train → plot curves → visualize filters → achieve &gt;99%</a:t>
            </a:r>
            <a:endParaRPr lang="en-US" sz="1450" dirty="0"/>
          </a:p>
        </p:txBody>
      </p:sp>
      <p:sp>
        <p:nvSpPr>
          <p:cNvPr id="186" name="Text 183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98.9% accuracy by epoch 15 on real MNIST.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these first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reshape to (H,W,1)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349240" y="12344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53212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expected 4D, got 3D</a:t>
            </a:r>
            <a:endParaRPr lang="en-US" sz="1050" dirty="0"/>
          </a:p>
        </p:txBody>
      </p:sp>
      <p:sp>
        <p:nvSpPr>
          <p:cNvPr id="189" name="Shape 187"/>
          <p:cNvSpPr/>
          <p:nvPr/>
        </p:nvSpPr>
        <p:spPr>
          <a:xfrm>
            <a:off x="502920" y="1929384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31520" y="19293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normalization (raw 0–255)</a:t>
            </a:r>
            <a:endParaRPr lang="en-US" sz="1200" dirty="0"/>
          </a:p>
        </p:txBody>
      </p:sp>
      <p:sp>
        <p:nvSpPr>
          <p:cNvPr id="191" name="Shape 189"/>
          <p:cNvSpPr/>
          <p:nvPr/>
        </p:nvSpPr>
        <p:spPr>
          <a:xfrm>
            <a:off x="5349240" y="1929384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553212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huge, accuracy random</a:t>
            </a:r>
            <a:endParaRPr lang="en-US" sz="1050" dirty="0"/>
          </a:p>
        </p:txBody>
      </p:sp>
      <p:sp>
        <p:nvSpPr>
          <p:cNvPr id="193" name="Shape 191"/>
          <p:cNvSpPr/>
          <p:nvPr/>
        </p:nvSpPr>
        <p:spPr>
          <a:xfrm>
            <a:off x="502920" y="2624328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731520" y="26243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 too big</a:t>
            </a:r>
            <a:endParaRPr lang="en-US" sz="1200" dirty="0"/>
          </a:p>
        </p:txBody>
      </p:sp>
      <p:sp>
        <p:nvSpPr>
          <p:cNvPr id="195" name="Shape 193"/>
          <p:cNvSpPr/>
          <p:nvPr/>
        </p:nvSpPr>
        <p:spPr>
          <a:xfrm>
            <a:off x="5349240" y="262432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553212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params when Conv+Pool exists</a:t>
            </a:r>
            <a:endParaRPr lang="en-US" sz="1050" dirty="0"/>
          </a:p>
        </p:txBody>
      </p:sp>
      <p:sp>
        <p:nvSpPr>
          <p:cNvPr id="197" name="Shape 195"/>
          <p:cNvSpPr/>
          <p:nvPr/>
        </p:nvSpPr>
        <p:spPr>
          <a:xfrm>
            <a:off x="502920" y="3319272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731520" y="33192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Dropout</a:t>
            </a:r>
            <a:endParaRPr lang="en-US" sz="1200" dirty="0"/>
          </a:p>
        </p:txBody>
      </p:sp>
      <p:sp>
        <p:nvSpPr>
          <p:cNvPr id="199" name="Shape 197"/>
          <p:cNvSpPr/>
          <p:nvPr/>
        </p:nvSpPr>
        <p:spPr>
          <a:xfrm>
            <a:off x="5349240" y="3319272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553212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rises while train loss falls</a:t>
            </a:r>
            <a:endParaRPr lang="en-US" sz="1050" dirty="0"/>
          </a:p>
        </p:txBody>
      </p:sp>
      <p:sp>
        <p:nvSpPr>
          <p:cNvPr id="201" name="Shape 199"/>
          <p:cNvSpPr/>
          <p:nvPr/>
        </p:nvSpPr>
        <p:spPr>
          <a:xfrm>
            <a:off x="502920" y="4014216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731520" y="401421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activation on Conv</a:t>
            </a:r>
            <a:endParaRPr lang="en-US" sz="1200" dirty="0"/>
          </a:p>
        </p:txBody>
      </p:sp>
      <p:sp>
        <p:nvSpPr>
          <p:cNvPr id="203" name="Shape 201"/>
          <p:cNvSpPr/>
          <p:nvPr/>
        </p:nvSpPr>
        <p:spPr>
          <a:xfrm>
            <a:off x="5349240" y="401421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204" name="Text 202"/>
          <p:cNvSpPr/>
          <p:nvPr/>
        </p:nvSpPr>
        <p:spPr>
          <a:xfrm>
            <a:off x="5532120" y="40142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learns almost nothing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Challenge: &gt;99% Test Accuracy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already very close — this should happen naturally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F3EDFD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pic>
        <p:nvPicPr>
          <p:cNvPr id="18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0"/>
            <a:ext cx="548640" cy="548640"/>
          </a:xfrm>
          <a:prstGeom prst="rect">
            <a:avLst/>
          </a:prstGeom>
        </p:spPr>
      </p:pic>
      <p:sp>
        <p:nvSpPr>
          <p:cNvPr id="187" name="Text 184"/>
          <p:cNvSpPr/>
          <p:nvPr/>
        </p:nvSpPr>
        <p:spPr>
          <a:xfrm>
            <a:off x="1554480" y="128016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to epoch 15–20 and watch val accuracy cross 99%. </a:t>
            </a: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tweak: add 3rd Conv block, increase filters to 64, try 20 epochs. Validated: baseline hits &gt;99% by epoch 14–15.</a:t>
            </a:r>
            <a:endParaRPr lang="en-US" sz="1350" dirty="0"/>
          </a:p>
        </p:txBody>
      </p:sp>
      <p:sp>
        <p:nvSpPr>
          <p:cNvPr id="188" name="Shape 185"/>
          <p:cNvSpPr/>
          <p:nvPr/>
        </p:nvSpPr>
        <p:spPr>
          <a:xfrm>
            <a:off x="502920" y="274320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ECEAFB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9" name="Text 186"/>
          <p:cNvSpPr/>
          <p:nvPr/>
        </p:nvSpPr>
        <p:spPr>
          <a:xfrm>
            <a:off x="777240" y="27432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visualize the 32 learned 3×3 filters from Conv1. They should look like edges, corners, textures — similar to hand-crafted Canny from Day 16.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Learned Filters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discovered edges look useful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6F7F5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learned 3×3 filters from Conv1 layer — organized in a 4×8 grid</a:t>
            </a:r>
            <a:endParaRPr lang="en-US" sz="1600" dirty="0"/>
          </a:p>
        </p:txBody>
      </p:sp>
      <p:sp>
        <p:nvSpPr>
          <p:cNvPr id="187" name="Shape 185"/>
          <p:cNvSpPr/>
          <p:nvPr/>
        </p:nvSpPr>
        <p:spPr>
          <a:xfrm>
            <a:off x="502920" y="2560320"/>
            <a:ext cx="8138160" cy="1188720"/>
          </a:xfrm>
          <a:prstGeom prst="roundRect">
            <a:avLst>
              <a:gd name="adj" fmla="val 3846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612648" y="2633472"/>
            <a:ext cx="79187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conv1_weights = model.layers[0].get_weights()[0]  # shape: (3, 3, 1, 32)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Plot all 32 filters in a 4×8 grid</a:t>
            </a:r>
            <a:endParaRPr lang="en-US" sz="1200" dirty="0"/>
          </a:p>
        </p:txBody>
      </p:sp>
      <p:sp>
        <p:nvSpPr>
          <p:cNvPr id="189" name="Shape 187"/>
          <p:cNvSpPr/>
          <p:nvPr/>
        </p:nvSpPr>
        <p:spPr>
          <a:xfrm>
            <a:off x="502920" y="3886200"/>
            <a:ext cx="8138160" cy="594360"/>
          </a:xfrm>
          <a:prstGeom prst="roundRect">
            <a:avLst>
              <a:gd name="adj" fmla="val 9231"/>
            </a:avLst>
          </a:prstGeom>
          <a:solidFill>
            <a:srgbClr val="F3EDFD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77240" y="38862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learned filters look like edge detectors, corners, textures — eerily similar to Canny.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622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2" name="Text 18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18</a:t>
            </a:r>
            <a:endParaRPr lang="en-US" sz="1400" dirty="0"/>
          </a:p>
        </p:txBody>
      </p:sp>
      <p:sp>
        <p:nvSpPr>
          <p:cNvPr id="183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Overfitting</a:t>
            </a:r>
            <a:endParaRPr lang="en-US" sz="3800" dirty="0"/>
          </a:p>
        </p:txBody>
      </p:sp>
      <p:sp>
        <p:nvSpPr>
          <p:cNvPr id="184" name="Text 182"/>
          <p:cNvSpPr/>
          <p:nvPr/>
        </p:nvSpPr>
        <p:spPr>
          <a:xfrm>
            <a:off x="640080" y="3291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60k MNIST images. Tomorrow: rotate, flip, shift them to make 600k variations. The dataset that trains models which win competitions.</a:t>
            </a:r>
            <a:endParaRPr lang="en-US" sz="1400" dirty="0"/>
          </a:p>
        </p:txBody>
      </p:sp>
      <p:sp>
        <p:nvSpPr>
          <p:cNvPr id="185" name="Text 183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Early Stopping, L1/L2 regularization, reading overfitting curves.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 of Week 3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CEAFB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77240" y="151790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87" name="Text 185"/>
          <p:cNvSpPr/>
          <p:nvPr/>
        </p:nvSpPr>
        <p:spPr>
          <a:xfrm>
            <a:off x="77724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88" name="Text 186"/>
          <p:cNvSpPr/>
          <p:nvPr/>
        </p:nvSpPr>
        <p:spPr>
          <a:xfrm>
            <a:off x="1463040" y="135331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16: hand-designed filters (Canny). Day 17: learned filters (CNN). Day 18: learned + augmented data.</a:t>
            </a:r>
            <a:endParaRPr lang="en-US" sz="1250" dirty="0"/>
          </a:p>
        </p:txBody>
      </p:sp>
      <p:sp>
        <p:nvSpPr>
          <p:cNvPr id="189" name="Shape 187"/>
          <p:cNvSpPr/>
          <p:nvPr/>
        </p:nvSpPr>
        <p:spPr>
          <a:xfrm>
            <a:off x="502920" y="237744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3EDFD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0" name="Shape 188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1" name="Text 189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2" name="Text 190"/>
          <p:cNvSpPr/>
          <p:nvPr/>
        </p:nvSpPr>
        <p:spPr>
          <a:xfrm>
            <a:off x="1463040" y="245059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Pool + Dense is the universal architecture. Scale it to 50+ layers and you get ResNet.</a:t>
            </a:r>
            <a:endParaRPr lang="en-US" sz="1250" dirty="0"/>
          </a:p>
        </p:txBody>
      </p:sp>
      <p:sp>
        <p:nvSpPr>
          <p:cNvPr id="193" name="Shape 191"/>
          <p:cNvSpPr/>
          <p:nvPr/>
        </p:nvSpPr>
        <p:spPr>
          <a:xfrm>
            <a:off x="502920" y="347472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6F7F5"/>
          </a:solidFill>
          <a:ln/>
          <a:effectLst>
            <a:outerShdw blurRad="101600" dist="38100" dir="8100000" algn="bl" rotWithShape="0">
              <a:srgbClr val="1E1B3A">
                <a:alpha val="10000"/>
              </a:srgbClr>
            </a:outerShdw>
          </a:effectLst>
        </p:spPr>
      </p:sp>
      <p:sp>
        <p:nvSpPr>
          <p:cNvPr id="194" name="Shape 192"/>
          <p:cNvSpPr/>
          <p:nvPr/>
        </p:nvSpPr>
        <p:spPr>
          <a:xfrm>
            <a:off x="777240" y="37124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5" name="Text 193"/>
          <p:cNvSpPr/>
          <p:nvPr/>
        </p:nvSpPr>
        <p:spPr>
          <a:xfrm>
            <a:off x="7772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6" name="Text 194"/>
          <p:cNvSpPr/>
          <p:nvPr/>
        </p:nvSpPr>
        <p:spPr>
          <a:xfrm>
            <a:off x="1463040" y="354787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&gt;98% accuracy, the remaining 2% comes from augmentation, regularization, ensembling. Know the ceiling.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1283</Words>
  <Application>Microsoft Office PowerPoint</Application>
  <PresentationFormat>On-screen Show (16:9)</PresentationFormat>
  <Paragraphs>198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Gagan Pradhan</cp:lastModifiedBy>
  <cp:revision>2</cp:revision>
  <dcterms:created xsi:type="dcterms:W3CDTF">2026-08-02T06:01:13Z</dcterms:created>
  <dcterms:modified xsi:type="dcterms:W3CDTF">2026-08-02T07:30:09Z</dcterms:modified>
</cp:coreProperties>
</file>