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pic>
        <p:nvPicPr>
          <p:cNvPr id="18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777240"/>
            <a:ext cx="777240" cy="777240"/>
          </a:xfrm>
          <a:prstGeom prst="rect">
            <a:avLst/>
          </a:prstGeom>
        </p:spPr>
      </p:pic>
      <p:sp>
        <p:nvSpPr>
          <p:cNvPr id="183" name="Text 180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  ·  WEEK 3</a:t>
            </a:r>
            <a:endParaRPr lang="en-US" sz="1400" dirty="0"/>
          </a:p>
        </p:txBody>
      </p:sp>
      <p:sp>
        <p:nvSpPr>
          <p:cNvPr id="184" name="Text 181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YOLO</a:t>
            </a:r>
            <a:endParaRPr lang="en-US" sz="3800" dirty="0"/>
          </a:p>
        </p:txBody>
      </p:sp>
      <p:sp>
        <p:nvSpPr>
          <p:cNvPr id="185" name="Text 182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WHAT — WHERE. A box around every object, even several at once, in a single pass.</a:t>
            </a:r>
            <a:endParaRPr lang="en-US" sz="1500" dirty="0"/>
          </a:p>
        </p:txBody>
      </p:sp>
      <p:sp>
        <p:nvSpPr>
          <p:cNvPr id="186" name="Text 183"/>
          <p:cNvSpPr/>
          <p:nvPr/>
        </p:nvSpPr>
        <p:spPr>
          <a:xfrm>
            <a:off x="64008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  ·  Tool: Ultralytics YOLOv8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bridge to the Day 22 surveillance capstone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188720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731520" y="14173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</p:sp>
      <p:sp>
        <p:nvSpPr>
          <p:cNvPr id="187" name="Text 185"/>
          <p:cNvSpPr/>
          <p:nvPr/>
        </p:nvSpPr>
        <p:spPr>
          <a:xfrm>
            <a:off x="731520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0:50</a:t>
            </a:r>
            <a:endParaRPr lang="en-US" sz="1050" dirty="0"/>
          </a:p>
        </p:txBody>
      </p:sp>
      <p:sp>
        <p:nvSpPr>
          <p:cNvPr id="188" name="Text 186"/>
          <p:cNvSpPr/>
          <p:nvPr/>
        </p:nvSpPr>
        <p:spPr>
          <a:xfrm>
            <a:off x="2331720" y="124358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500" dirty="0"/>
          </a:p>
        </p:txBody>
      </p:sp>
      <p:sp>
        <p:nvSpPr>
          <p:cNvPr id="189" name="Text 187"/>
          <p:cNvSpPr/>
          <p:nvPr/>
        </p:nvSpPr>
        <p:spPr>
          <a:xfrm>
            <a:off x="2331720" y="159105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vs classification · YOLO grid cells · NMS · mAP</a:t>
            </a:r>
            <a:endParaRPr lang="en-US" sz="1100" dirty="0"/>
          </a:p>
        </p:txBody>
      </p:sp>
      <p:sp>
        <p:nvSpPr>
          <p:cNvPr id="190" name="Shape 188"/>
          <p:cNvSpPr/>
          <p:nvPr/>
        </p:nvSpPr>
        <p:spPr>
          <a:xfrm>
            <a:off x="502920" y="2084832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1" name="Shape 189"/>
          <p:cNvSpPr/>
          <p:nvPr/>
        </p:nvSpPr>
        <p:spPr>
          <a:xfrm>
            <a:off x="731520" y="231343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3EDFD"/>
          </a:solidFill>
          <a:ln/>
        </p:spPr>
      </p:sp>
      <p:sp>
        <p:nvSpPr>
          <p:cNvPr id="192" name="Text 190"/>
          <p:cNvSpPr/>
          <p:nvPr/>
        </p:nvSpPr>
        <p:spPr>
          <a:xfrm>
            <a:off x="731520" y="2313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 – 1:25</a:t>
            </a:r>
            <a:endParaRPr lang="en-US" sz="1050" dirty="0"/>
          </a:p>
        </p:txBody>
      </p:sp>
      <p:sp>
        <p:nvSpPr>
          <p:cNvPr id="193" name="Text 191"/>
          <p:cNvSpPr/>
          <p:nvPr/>
        </p:nvSpPr>
        <p:spPr>
          <a:xfrm>
            <a:off x="2331720" y="213969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tune</a:t>
            </a:r>
            <a:endParaRPr lang="en-US" sz="1500" dirty="0"/>
          </a:p>
        </p:txBody>
      </p:sp>
      <p:sp>
        <p:nvSpPr>
          <p:cNvPr id="194" name="Text 192"/>
          <p:cNvSpPr/>
          <p:nvPr/>
        </p:nvSpPr>
        <p:spPr>
          <a:xfrm>
            <a:off x="2331720" y="248716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YOLOv8n, run on real photo, tune confidence threshold</a:t>
            </a:r>
            <a:endParaRPr lang="en-US" sz="1100" dirty="0"/>
          </a:p>
        </p:txBody>
      </p:sp>
      <p:sp>
        <p:nvSpPr>
          <p:cNvPr id="195" name="Shape 193"/>
          <p:cNvSpPr/>
          <p:nvPr/>
        </p:nvSpPr>
        <p:spPr>
          <a:xfrm>
            <a:off x="502920" y="2980944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6" name="Shape 194"/>
          <p:cNvSpPr/>
          <p:nvPr/>
        </p:nvSpPr>
        <p:spPr>
          <a:xfrm>
            <a:off x="731520" y="320954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197" name="Text 195"/>
          <p:cNvSpPr/>
          <p:nvPr/>
        </p:nvSpPr>
        <p:spPr>
          <a:xfrm>
            <a:off x="731520" y="32095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 – 1:50</a:t>
            </a:r>
            <a:endParaRPr lang="en-US" sz="1050" dirty="0"/>
          </a:p>
        </p:txBody>
      </p:sp>
      <p:sp>
        <p:nvSpPr>
          <p:cNvPr id="198" name="Text 196"/>
          <p:cNvSpPr/>
          <p:nvPr/>
        </p:nvSpPr>
        <p:spPr>
          <a:xfrm>
            <a:off x="2331720" y="303580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&amp; fine-tune</a:t>
            </a:r>
            <a:endParaRPr lang="en-US" sz="1500" dirty="0"/>
          </a:p>
        </p:txBody>
      </p:sp>
      <p:sp>
        <p:nvSpPr>
          <p:cNvPr id="199" name="Text 197"/>
          <p:cNvSpPr/>
          <p:nvPr/>
        </p:nvSpPr>
        <p:spPr>
          <a:xfrm>
            <a:off x="2331720" y="338328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FPS, count by class, fine-tune on coco128</a:t>
            </a:r>
            <a:endParaRPr lang="en-US" sz="1100" dirty="0"/>
          </a:p>
        </p:txBody>
      </p:sp>
      <p:sp>
        <p:nvSpPr>
          <p:cNvPr id="200" name="Shape 198"/>
          <p:cNvSpPr/>
          <p:nvPr/>
        </p:nvSpPr>
        <p:spPr>
          <a:xfrm>
            <a:off x="502920" y="3877056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1" name="Shape 199"/>
          <p:cNvSpPr/>
          <p:nvPr/>
        </p:nvSpPr>
        <p:spPr>
          <a:xfrm>
            <a:off x="731520" y="41056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DF2E2"/>
          </a:solidFill>
          <a:ln/>
        </p:spPr>
      </p:sp>
      <p:sp>
        <p:nvSpPr>
          <p:cNvPr id="202" name="Text 200"/>
          <p:cNvSpPr/>
          <p:nvPr/>
        </p:nvSpPr>
        <p:spPr>
          <a:xfrm>
            <a:off x="731520" y="4105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 – 2:00</a:t>
            </a:r>
            <a:endParaRPr lang="en-US" sz="1050" dirty="0"/>
          </a:p>
        </p:txBody>
      </p:sp>
      <p:sp>
        <p:nvSpPr>
          <p:cNvPr id="203" name="Text 201"/>
          <p:cNvSpPr/>
          <p:nvPr/>
        </p:nvSpPr>
        <p:spPr>
          <a:xfrm>
            <a:off x="2331720" y="393192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204" name="Text 202"/>
          <p:cNvSpPr/>
          <p:nvPr/>
        </p:nvSpPr>
        <p:spPr>
          <a:xfrm>
            <a:off x="2331720" y="427939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Roboflow: label 50 custom images, fine-tune 10 epochs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vs Classification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about the whole image vs. a LIST of answers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25880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315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(Days 17-19)</a:t>
            </a:r>
            <a:endParaRPr lang="en-US" sz="1350" dirty="0"/>
          </a:p>
        </p:txBody>
      </p:sp>
      <p:sp>
        <p:nvSpPr>
          <p:cNvPr id="187" name="Text 185"/>
          <p:cNvSpPr/>
          <p:nvPr/>
        </p:nvSpPr>
        <p:spPr>
          <a:xfrm>
            <a:off x="731520" y="19202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there a cat somewhere in here?"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per image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WHAT, not where</a:t>
            </a:r>
            <a:endParaRPr lang="en-US" sz="1300" dirty="0"/>
          </a:p>
        </p:txBody>
      </p:sp>
      <p:sp>
        <p:nvSpPr>
          <p:cNvPr id="188" name="Shape 186"/>
          <p:cNvSpPr/>
          <p:nvPr/>
        </p:nvSpPr>
        <p:spPr>
          <a:xfrm>
            <a:off x="4709160" y="1325880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493776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(Today)</a:t>
            </a:r>
            <a:endParaRPr lang="en-US" sz="1350" dirty="0"/>
          </a:p>
        </p:txBody>
      </p:sp>
      <p:sp>
        <p:nvSpPr>
          <p:cNvPr id="190" name="Text 188"/>
          <p:cNvSpPr/>
          <p:nvPr/>
        </p:nvSpPr>
        <p:spPr>
          <a:xfrm>
            <a:off x="4937760" y="19202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is each cat? How many?"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LIST: box + label + confidence, per object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and WHERE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fractions of image size, not raw pixels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(x_center, y_center, width, height) — all normalized to 0-1</a:t>
            </a:r>
            <a:endParaRPr lang="en-US" sz="1800" dirty="0"/>
          </a:p>
        </p:txBody>
      </p:sp>
      <p:sp>
        <p:nvSpPr>
          <p:cNvPr id="187" name="Shape 185"/>
          <p:cNvSpPr/>
          <p:nvPr/>
        </p:nvSpPr>
        <p:spPr>
          <a:xfrm>
            <a:off x="502920" y="2606040"/>
            <a:ext cx="8138160" cy="1691640"/>
          </a:xfrm>
          <a:prstGeom prst="roundRect">
            <a:avLst>
              <a:gd name="adj" fmla="val 3243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606040"/>
            <a:ext cx="7589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fractions, not pixels? </a:t>
            </a:r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x_center=0.5, y_center=0.5 is dead-center regardless of whether the image is 640x480 or 1920x1080. Resizing for training doesn't require recalculating every box by hand.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YOLO Works — Single Pass, Grid Cells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Look Once — the name IS the concept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image into a grid → each cell predicts, in ONE pass: is there an object here, what class, what box?</a:t>
            </a:r>
            <a:endParaRPr lang="en-US" sz="1500" dirty="0"/>
          </a:p>
        </p:txBody>
      </p:sp>
      <p:sp>
        <p:nvSpPr>
          <p:cNvPr id="187" name="Shape 185"/>
          <p:cNvSpPr/>
          <p:nvPr/>
        </p:nvSpPr>
        <p:spPr>
          <a:xfrm>
            <a:off x="502920" y="2834640"/>
            <a:ext cx="8138160" cy="1463040"/>
          </a:xfrm>
          <a:prstGeom prst="roundRect">
            <a:avLst>
              <a:gd name="adj" fmla="val 3750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83464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approach (R-CNN family): </a:t>
            </a:r>
            <a:pPr indent="0" marL="0">
              <a:buNone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thousands of candidate regions, classify each SEPARATELY — slow, many forward passes. YOLO does it all at once.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Boxes &amp; Confidence Score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shapes, learned offsets — like transfer learning's head start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boxes: predefined starting shapes (tall for pedestrians, wide for cars) — network learns OFFSETS, not raw coordinates from scratch.</a:t>
            </a:r>
            <a:endParaRPr lang="en-US" sz="1350" dirty="0"/>
          </a:p>
        </p:txBody>
      </p:sp>
      <p:sp>
        <p:nvSpPr>
          <p:cNvPr id="187" name="Shape 185"/>
          <p:cNvSpPr/>
          <p:nvPr/>
        </p:nvSpPr>
        <p:spPr>
          <a:xfrm>
            <a:off x="502920" y="2651760"/>
            <a:ext cx="8138160" cy="822960"/>
          </a:xfrm>
          <a:prstGeom prst="roundRect">
            <a:avLst>
              <a:gd name="adj" fmla="val 5556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612648" y="2724912"/>
            <a:ext cx="79187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= objectness × class_probability</a:t>
            </a:r>
            <a:endParaRPr lang="en-US" sz="1500" dirty="0"/>
          </a:p>
        </p:txBody>
      </p:sp>
      <p:sp>
        <p:nvSpPr>
          <p:cNvPr id="189" name="Shape 187"/>
          <p:cNvSpPr/>
          <p:nvPr/>
        </p:nvSpPr>
        <p:spPr>
          <a:xfrm>
            <a:off x="502920" y="365760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77240" y="36576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any object here?" times "given there is, how sure is it a dog?" — two questions multiplied.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Non-Maximum Suppression: Cleaning Up Duplicates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dog can trigger 5-6 overlapping candidate boxes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530352"/>
          </a:xfrm>
          <a:prstGeom prst="roundRect">
            <a:avLst>
              <a:gd name="adj" fmla="val 10345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Keep highest-confidence box</a:t>
            </a:r>
            <a:endParaRPr lang="en-US" sz="1350" dirty="0"/>
          </a:p>
        </p:txBody>
      </p:sp>
      <p:sp>
        <p:nvSpPr>
          <p:cNvPr id="187" name="Shape 185"/>
          <p:cNvSpPr/>
          <p:nvPr/>
        </p:nvSpPr>
        <p:spPr>
          <a:xfrm>
            <a:off x="502920" y="1938528"/>
            <a:ext cx="8138160" cy="530352"/>
          </a:xfrm>
          <a:prstGeom prst="roundRect">
            <a:avLst>
              <a:gd name="adj" fmla="val 10345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1938528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IoU vs other candidates</a:t>
            </a:r>
            <a:endParaRPr lang="en-US" sz="1350" dirty="0"/>
          </a:p>
        </p:txBody>
      </p:sp>
      <p:sp>
        <p:nvSpPr>
          <p:cNvPr id="189" name="Shape 187"/>
          <p:cNvSpPr/>
          <p:nvPr/>
        </p:nvSpPr>
        <p:spPr>
          <a:xfrm>
            <a:off x="502920" y="2596896"/>
            <a:ext cx="8138160" cy="530352"/>
          </a:xfrm>
          <a:prstGeom prst="roundRect">
            <a:avLst>
              <a:gd name="adj" fmla="val 10345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77240" y="2596896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Discard high-overlap duplicates</a:t>
            </a:r>
            <a:endParaRPr lang="en-US" sz="1350" dirty="0"/>
          </a:p>
        </p:txBody>
      </p:sp>
      <p:sp>
        <p:nvSpPr>
          <p:cNvPr id="191" name="Shape 189"/>
          <p:cNvSpPr/>
          <p:nvPr/>
        </p:nvSpPr>
        <p:spPr>
          <a:xfrm>
            <a:off x="502920" y="3255264"/>
            <a:ext cx="8138160" cy="530352"/>
          </a:xfrm>
          <a:prstGeom prst="roundRect">
            <a:avLst>
              <a:gd name="adj" fmla="val 10345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777240" y="325526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Repeat for next box</a:t>
            </a:r>
            <a:endParaRPr lang="en-US" sz="1350" dirty="0"/>
          </a:p>
        </p:txBody>
      </p:sp>
      <p:sp>
        <p:nvSpPr>
          <p:cNvPr id="193" name="Shape 191"/>
          <p:cNvSpPr/>
          <p:nvPr/>
        </p:nvSpPr>
        <p:spPr>
          <a:xfrm>
            <a:off x="502920" y="397764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777240" y="39776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the stop-sign false positive stayed in results at ALL confidence thresholds — NMS handles duplicates, not wrong detections.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— The Standard Detection Metric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uses accuracy; detection uses mean Average Precision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 = using IoU &gt;= 0.5 to count a box correct. mAP50-95 = averaged across stricter thresholds.</a:t>
            </a:r>
            <a:endParaRPr lang="en-US" sz="1500" dirty="0"/>
          </a:p>
        </p:txBody>
      </p:sp>
      <p:sp>
        <p:nvSpPr>
          <p:cNvPr id="187" name="Shape 185"/>
          <p:cNvSpPr/>
          <p:nvPr/>
        </p:nvSpPr>
        <p:spPr>
          <a:xfrm>
            <a:off x="502920" y="2834640"/>
            <a:ext cx="8138160" cy="1463040"/>
          </a:xfrm>
          <a:prstGeom prst="roundRect">
            <a:avLst>
              <a:gd name="adj" fmla="val 3750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83464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mAP50 = 0.518 after just 2 fine-tuning epochs on 128 images — a real anchor point for "not bad for 2 epochs on a tiny dataset."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Sizes — Speed vs Accuracy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YOLOv8n, the fastest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YOLOv8n</a:t>
            </a:r>
            <a:endParaRPr lang="en-US" sz="1350" dirty="0"/>
          </a:p>
        </p:txBody>
      </p:sp>
      <p:sp>
        <p:nvSpPr>
          <p:cNvPr id="187" name="Text 185"/>
          <p:cNvSpPr/>
          <p:nvPr/>
        </p:nvSpPr>
        <p:spPr>
          <a:xfrm>
            <a:off x="2606040" y="12801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200" dirty="0"/>
          </a:p>
        </p:txBody>
      </p:sp>
      <p:sp>
        <p:nvSpPr>
          <p:cNvPr id="188" name="Text 186"/>
          <p:cNvSpPr/>
          <p:nvPr/>
        </p:nvSpPr>
        <p:spPr>
          <a:xfrm>
            <a:off x="4251960" y="128016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devices, real-time — TODAY</a:t>
            </a:r>
            <a:endParaRPr lang="en-US" sz="1200" dirty="0"/>
          </a:p>
        </p:txBody>
      </p:sp>
      <p:sp>
        <p:nvSpPr>
          <p:cNvPr id="189" name="Shape 187"/>
          <p:cNvSpPr/>
          <p:nvPr/>
        </p:nvSpPr>
        <p:spPr>
          <a:xfrm>
            <a:off x="502920" y="205740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77240" y="20574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YOLOv8s</a:t>
            </a:r>
            <a:endParaRPr lang="en-US" sz="1350" dirty="0"/>
          </a:p>
        </p:txBody>
      </p:sp>
      <p:sp>
        <p:nvSpPr>
          <p:cNvPr id="191" name="Text 189"/>
          <p:cNvSpPr/>
          <p:nvPr/>
        </p:nvSpPr>
        <p:spPr>
          <a:xfrm>
            <a:off x="2606040" y="205740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200" dirty="0"/>
          </a:p>
        </p:txBody>
      </p:sp>
      <p:sp>
        <p:nvSpPr>
          <p:cNvPr id="192" name="Text 190"/>
          <p:cNvSpPr/>
          <p:nvPr/>
        </p:nvSpPr>
        <p:spPr>
          <a:xfrm>
            <a:off x="4251960" y="205740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default balance</a:t>
            </a:r>
            <a:endParaRPr lang="en-US" sz="1200" dirty="0"/>
          </a:p>
        </p:txBody>
      </p:sp>
      <p:sp>
        <p:nvSpPr>
          <p:cNvPr id="193" name="Shape 191"/>
          <p:cNvSpPr/>
          <p:nvPr/>
        </p:nvSpPr>
        <p:spPr>
          <a:xfrm>
            <a:off x="502920" y="283464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777240" y="28346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YOLOv8m</a:t>
            </a:r>
            <a:endParaRPr lang="en-US" sz="1350" dirty="0"/>
          </a:p>
        </p:txBody>
      </p:sp>
      <p:sp>
        <p:nvSpPr>
          <p:cNvPr id="195" name="Text 193"/>
          <p:cNvSpPr/>
          <p:nvPr/>
        </p:nvSpPr>
        <p:spPr>
          <a:xfrm>
            <a:off x="2606040" y="283464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196" name="Text 194"/>
          <p:cNvSpPr/>
          <p:nvPr/>
        </p:nvSpPr>
        <p:spPr>
          <a:xfrm>
            <a:off x="4251960" y="283464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matters more</a:t>
            </a:r>
            <a:endParaRPr lang="en-US" sz="1200" dirty="0"/>
          </a:p>
        </p:txBody>
      </p:sp>
      <p:sp>
        <p:nvSpPr>
          <p:cNvPr id="197" name="Shape 195"/>
          <p:cNvSpPr/>
          <p:nvPr/>
        </p:nvSpPr>
        <p:spPr>
          <a:xfrm>
            <a:off x="502920" y="361188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8" name="Text 196"/>
          <p:cNvSpPr/>
          <p:nvPr/>
        </p:nvSpPr>
        <p:spPr>
          <a:xfrm>
            <a:off x="777240" y="36118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YOLOv8l/x</a:t>
            </a:r>
            <a:endParaRPr lang="en-US" sz="1350" dirty="0"/>
          </a:p>
        </p:txBody>
      </p:sp>
      <p:sp>
        <p:nvSpPr>
          <p:cNvPr id="199" name="Text 197"/>
          <p:cNvSpPr/>
          <p:nvPr/>
        </p:nvSpPr>
        <p:spPr>
          <a:xfrm>
            <a:off x="2606040" y="361188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Slow(est)</a:t>
            </a:r>
            <a:endParaRPr lang="en-US" sz="1200" dirty="0"/>
          </a:p>
        </p:txBody>
      </p:sp>
      <p:sp>
        <p:nvSpPr>
          <p:cNvPr id="200" name="Text 198"/>
          <p:cNvSpPr/>
          <p:nvPr/>
        </p:nvSpPr>
        <p:spPr>
          <a:xfrm>
            <a:off x="4251960" y="361188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Server-side, research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pic>
        <p:nvPicPr>
          <p:cNvPr id="18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777240"/>
            <a:ext cx="777240" cy="777240"/>
          </a:xfrm>
          <a:prstGeom prst="rect">
            <a:avLst/>
          </a:prstGeom>
        </p:spPr>
      </p:pic>
      <p:sp>
        <p:nvSpPr>
          <p:cNvPr id="183" name="Text 180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— 70 MINUTES</a:t>
            </a:r>
            <a:endParaRPr lang="en-US" sz="1400" dirty="0"/>
          </a:p>
        </p:txBody>
      </p:sp>
      <p:sp>
        <p:nvSpPr>
          <p:cNvPr id="184" name="Text 181"/>
          <p:cNvSpPr/>
          <p:nvPr/>
        </p:nvSpPr>
        <p:spPr>
          <a:xfrm>
            <a:off x="640080" y="18745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Tune,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3800" dirty="0"/>
          </a:p>
        </p:txBody>
      </p:sp>
      <p:sp>
        <p:nvSpPr>
          <p:cNvPr id="185" name="Text 182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YOLOv8n -&gt; detect on real photo -&gt; tune confidence -&gt; video FPS -&gt; fine-tune</a:t>
            </a:r>
            <a:endParaRPr lang="en-US" sz="1450" dirty="0"/>
          </a:p>
        </p:txBody>
      </p:sp>
      <p:sp>
        <p:nvSpPr>
          <p:cNvPr id="186" name="Text 183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ahead was run for real this session, including a live fine-tuning run.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Install and Load YOLOv8n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Auto-downloads pretrained weights on first run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188720"/>
          </a:xfrm>
          <a:prstGeom prst="roundRect">
            <a:avLst>
              <a:gd name="adj" fmla="val 3846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53312"/>
            <a:ext cx="79187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ultralytics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YOLO('yolov8n.pt')</a:t>
            </a:r>
            <a:endParaRPr lang="en-US" sz="1300" dirty="0"/>
          </a:p>
        </p:txBody>
      </p:sp>
      <p:sp>
        <p:nvSpPr>
          <p:cNvPr id="187" name="Shape 185"/>
          <p:cNvSpPr/>
          <p:nvPr/>
        </p:nvSpPr>
        <p:spPr>
          <a:xfrm>
            <a:off x="502920" y="265176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65176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6.2MB download, 129 layers, 3,157,200 parameters, 8.9 GFLOPs — smaller and faster than Day 19's MobileNetV2 (154 layers).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Detect on a Real Photo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scene: bus + 4 pedestrians, validated this session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737360"/>
          </a:xfrm>
          <a:prstGeom prst="roundRect">
            <a:avLst>
              <a:gd name="adj" fmla="val 2632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model('your_image.jpg')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box in results[0].boxes: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print(model.names[int(box.cls[0])], float(box.conf[0]))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502920" y="3108960"/>
            <a:ext cx="8138160" cy="1463040"/>
          </a:xfrm>
          <a:prstGeom prst="roundRect">
            <a:avLst>
              <a:gd name="adj" fmla="val 3750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310896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bus: 0.87   person: 0.87   person: 0.85   person: 0.83   person: 0.26   stop sign: 0.26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False Positive, Live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 sign detection — there's no stop sign in the frame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71600"/>
            <a:ext cx="8138160" cy="2468880"/>
          </a:xfrm>
          <a:prstGeom prst="roundRect">
            <a:avLst>
              <a:gd name="adj" fmla="val 2222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548640" cy="548640"/>
          </a:xfrm>
          <a:prstGeom prst="rect">
            <a:avLst/>
          </a:prstGeom>
        </p:spPr>
      </p:pic>
      <p:sp>
        <p:nvSpPr>
          <p:cNvPr id="187" name="Text 184"/>
          <p:cNvSpPr/>
          <p:nvPr/>
        </p:nvSpPr>
        <p:spPr>
          <a:xfrm>
            <a:off x="1554480" y="1371600"/>
            <a:ext cx="685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3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kind of result that motivates a sensible confidence threshold in production. </a:t>
            </a:r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0.255 confidence — barely above the default 0.25 cutoff. A real, teachable moment for why thresholds matter.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Tune the Confidence Threshold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where the false positive disappears, real detections stay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914400"/>
          </a:xfrm>
          <a:prstGeom prst="roundRect">
            <a:avLst>
              <a:gd name="adj" fmla="val 5000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 in [0.25, 0.5, 0.7]: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print(c, len(model('img.jpg', conf=c)[0].boxes))</a:t>
            </a:r>
            <a:endParaRPr lang="en-US" sz="1250" dirty="0"/>
          </a:p>
        </p:txBody>
      </p:sp>
      <p:sp>
        <p:nvSpPr>
          <p:cNvPr id="187" name="Shape 185"/>
          <p:cNvSpPr/>
          <p:nvPr/>
        </p:nvSpPr>
        <p:spPr>
          <a:xfrm>
            <a:off x="502920" y="233172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31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conf=0.25</a:t>
            </a:r>
            <a:endParaRPr lang="en-US" sz="1300" dirty="0"/>
          </a:p>
        </p:txBody>
      </p:sp>
      <p:sp>
        <p:nvSpPr>
          <p:cNvPr id="189" name="Text 187"/>
          <p:cNvSpPr/>
          <p:nvPr/>
        </p:nvSpPr>
        <p:spPr>
          <a:xfrm>
            <a:off x="251460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E3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detections</a:t>
            </a:r>
            <a:endParaRPr lang="en-US" sz="1250" dirty="0"/>
          </a:p>
        </p:txBody>
      </p:sp>
      <p:sp>
        <p:nvSpPr>
          <p:cNvPr id="190" name="Text 188"/>
          <p:cNvSpPr/>
          <p:nvPr/>
        </p:nvSpPr>
        <p:spPr>
          <a:xfrm>
            <a:off x="4617720" y="2331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false positive + low-conf person</a:t>
            </a:r>
            <a:endParaRPr lang="en-US" sz="1100" dirty="0"/>
          </a:p>
        </p:txBody>
      </p:sp>
      <p:sp>
        <p:nvSpPr>
          <p:cNvPr id="191" name="Shape 189"/>
          <p:cNvSpPr/>
          <p:nvPr/>
        </p:nvSpPr>
        <p:spPr>
          <a:xfrm>
            <a:off x="502920" y="301752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777240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conf=0.5</a:t>
            </a:r>
            <a:endParaRPr lang="en-US" sz="1300" dirty="0"/>
          </a:p>
        </p:txBody>
      </p:sp>
      <p:sp>
        <p:nvSpPr>
          <p:cNvPr id="193" name="Text 191"/>
          <p:cNvSpPr/>
          <p:nvPr/>
        </p:nvSpPr>
        <p:spPr>
          <a:xfrm>
            <a:off x="2514600" y="3017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detections</a:t>
            </a:r>
            <a:endParaRPr lang="en-US" sz="1250" dirty="0"/>
          </a:p>
        </p:txBody>
      </p:sp>
      <p:sp>
        <p:nvSpPr>
          <p:cNvPr id="194" name="Text 192"/>
          <p:cNvSpPr/>
          <p:nvPr/>
        </p:nvSpPr>
        <p:spPr>
          <a:xfrm>
            <a:off x="4617720" y="3017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— only confident real detections</a:t>
            </a:r>
            <a:endParaRPr lang="en-US" sz="1100" dirty="0"/>
          </a:p>
        </p:txBody>
      </p:sp>
      <p:sp>
        <p:nvSpPr>
          <p:cNvPr id="195" name="Shape 193"/>
          <p:cNvSpPr/>
          <p:nvPr/>
        </p:nvSpPr>
        <p:spPr>
          <a:xfrm>
            <a:off x="502920" y="3703320"/>
            <a:ext cx="8138160" cy="54864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6" name="Text 194"/>
          <p:cNvSpPr/>
          <p:nvPr/>
        </p:nvSpPr>
        <p:spPr>
          <a:xfrm>
            <a:off x="777240" y="3703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conf=0.7</a:t>
            </a:r>
            <a:endParaRPr lang="en-US" sz="1300" dirty="0"/>
          </a:p>
        </p:txBody>
      </p:sp>
      <p:sp>
        <p:nvSpPr>
          <p:cNvPr id="197" name="Text 195"/>
          <p:cNvSpPr/>
          <p:nvPr/>
        </p:nvSpPr>
        <p:spPr>
          <a:xfrm>
            <a:off x="2514600" y="3703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detections</a:t>
            </a:r>
            <a:endParaRPr lang="en-US" sz="1250" dirty="0"/>
          </a:p>
        </p:txBody>
      </p:sp>
      <p:sp>
        <p:nvSpPr>
          <p:cNvPr id="198" name="Text 196"/>
          <p:cNvSpPr/>
          <p:nvPr/>
        </p:nvSpPr>
        <p:spPr>
          <a:xfrm>
            <a:off x="4617720" y="3703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0.5 — all 4 comfortably clear it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Video &amp; Speed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FPS on CPU — honest, useful number for the speed discussion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005840"/>
          </a:xfrm>
          <a:prstGeom prst="roundRect">
            <a:avLst>
              <a:gd name="adj" fmla="val 4545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model('video.mp4', save=True)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measure: 20 runs, average time per image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502920" y="242316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42316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142.6 ms/image  —  ~7 FPS on a single CPU core</a:t>
            </a:r>
            <a:endParaRPr lang="en-US" sz="1800" dirty="0"/>
          </a:p>
        </p:txBody>
      </p:sp>
      <p:sp>
        <p:nvSpPr>
          <p:cNvPr id="189" name="Shape 187"/>
          <p:cNvSpPr/>
          <p:nvPr/>
        </p:nvSpPr>
        <p:spPr>
          <a:xfrm>
            <a:off x="502920" y="352044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77240" y="35204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on GPU: typically 100+ FPS. Day 22 doesn't need every frame — sampling every 2nd/3rd frame is standard practice.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5-6: Count by Class, Then Fine-Tune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foreshadows Day 22 directly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005840"/>
          </a:xfrm>
          <a:prstGeom prst="roundRect">
            <a:avLst>
              <a:gd name="adj" fmla="val 4545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Counter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Counter(model.names[int(b.cls[0])] for b in results[0].boxes)</a:t>
            </a:r>
            <a:endParaRPr lang="en-US" sz="1150" dirty="0"/>
          </a:p>
        </p:txBody>
      </p:sp>
      <p:sp>
        <p:nvSpPr>
          <p:cNvPr id="187" name="Shape 185"/>
          <p:cNvSpPr/>
          <p:nvPr/>
        </p:nvSpPr>
        <p:spPr>
          <a:xfrm>
            <a:off x="502920" y="2377440"/>
            <a:ext cx="8138160" cy="777240"/>
          </a:xfrm>
          <a:prstGeom prst="roundRect">
            <a:avLst>
              <a:gd name="adj" fmla="val 5882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612648" y="2450592"/>
            <a:ext cx="79187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model.train(data='coco128.yaml', epochs=3, imgsz=640)</a:t>
            </a:r>
            <a:endParaRPr lang="en-US" sz="1250" dirty="0"/>
          </a:p>
        </p:txBody>
      </p:sp>
      <p:sp>
        <p:nvSpPr>
          <p:cNvPr id="189" name="Shape 187"/>
          <p:cNvSpPr/>
          <p:nvPr/>
        </p:nvSpPr>
        <p:spPr>
          <a:xfrm>
            <a:off x="502920" y="3291840"/>
            <a:ext cx="8138160" cy="1280160"/>
          </a:xfrm>
          <a:prstGeom prst="roundRect">
            <a:avLst>
              <a:gd name="adj" fmla="val 4286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77240" y="329184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live: 128 images, 929 instances, 65 seconds on CPU, mAP50=0.518 after 2 epochs. Starts from pretrained yolov8n.pt — fine-tuning, exactly like Day 19's MobileNetV2 recipe.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Today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these first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31520" y="12344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objectness with class confidence</a:t>
            </a:r>
            <a:endParaRPr lang="en-US" sz="1100" dirty="0"/>
          </a:p>
        </p:txBody>
      </p:sp>
      <p:sp>
        <p:nvSpPr>
          <p:cNvPr id="187" name="Shape 185"/>
          <p:cNvSpPr/>
          <p:nvPr/>
        </p:nvSpPr>
        <p:spPr>
          <a:xfrm>
            <a:off x="5349240" y="123444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5532120" y="12344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confidence = objectness x class prob</a:t>
            </a:r>
            <a:endParaRPr lang="en-US" sz="950" dirty="0"/>
          </a:p>
        </p:txBody>
      </p:sp>
      <p:sp>
        <p:nvSpPr>
          <p:cNvPr id="189" name="Shape 187"/>
          <p:cNvSpPr/>
          <p:nvPr/>
        </p:nvSpPr>
        <p:spPr>
          <a:xfrm>
            <a:off x="502920" y="1929384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31520" y="192938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too low</a:t>
            </a:r>
            <a:endParaRPr lang="en-US" sz="1100" dirty="0"/>
          </a:p>
        </p:txBody>
      </p:sp>
      <p:sp>
        <p:nvSpPr>
          <p:cNvPr id="191" name="Shape 189"/>
          <p:cNvSpPr/>
          <p:nvPr/>
        </p:nvSpPr>
        <p:spPr>
          <a:xfrm>
            <a:off x="5349240" y="1929384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5532120" y="1929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clutter results (stop sign example)</a:t>
            </a:r>
            <a:endParaRPr lang="en-US" sz="950" dirty="0"/>
          </a:p>
        </p:txBody>
      </p:sp>
      <p:sp>
        <p:nvSpPr>
          <p:cNvPr id="193" name="Shape 191"/>
          <p:cNvSpPr/>
          <p:nvPr/>
        </p:nvSpPr>
        <p:spPr>
          <a:xfrm>
            <a:off x="502920" y="2624328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731520" y="262432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too high</a:t>
            </a:r>
            <a:endParaRPr lang="en-US" sz="1100" dirty="0"/>
          </a:p>
        </p:txBody>
      </p:sp>
      <p:sp>
        <p:nvSpPr>
          <p:cNvPr id="195" name="Shape 193"/>
          <p:cNvSpPr/>
          <p:nvPr/>
        </p:nvSpPr>
        <p:spPr>
          <a:xfrm>
            <a:off x="5349240" y="262432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6" name="Text 194"/>
          <p:cNvSpPr/>
          <p:nvPr/>
        </p:nvSpPr>
        <p:spPr>
          <a:xfrm>
            <a:off x="5532120" y="26243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objects missed, especially occluded ones</a:t>
            </a:r>
            <a:endParaRPr lang="en-US" sz="950" dirty="0"/>
          </a:p>
        </p:txBody>
      </p:sp>
      <p:sp>
        <p:nvSpPr>
          <p:cNvPr id="197" name="Shape 195"/>
          <p:cNvSpPr/>
          <p:nvPr/>
        </p:nvSpPr>
        <p:spPr>
          <a:xfrm>
            <a:off x="502920" y="3319272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8" name="Text 196"/>
          <p:cNvSpPr/>
          <p:nvPr/>
        </p:nvSpPr>
        <p:spPr>
          <a:xfrm>
            <a:off x="731520" y="331927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fine-tuning starts pretrained</a:t>
            </a:r>
            <a:endParaRPr lang="en-US" sz="1100" dirty="0"/>
          </a:p>
        </p:txBody>
      </p:sp>
      <p:sp>
        <p:nvSpPr>
          <p:cNvPr id="199" name="Shape 197"/>
          <p:cNvSpPr/>
          <p:nvPr/>
        </p:nvSpPr>
        <p:spPr>
          <a:xfrm>
            <a:off x="5349240" y="3319272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0" name="Text 198"/>
          <p:cNvSpPr/>
          <p:nvPr/>
        </p:nvSpPr>
        <p:spPr>
          <a:xfrm>
            <a:off x="5532120" y="33192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2-3 epochs already show results</a:t>
            </a:r>
            <a:endParaRPr lang="en-US" sz="950" dirty="0"/>
          </a:p>
        </p:txBody>
      </p:sp>
      <p:sp>
        <p:nvSpPr>
          <p:cNvPr id="201" name="Shape 199"/>
          <p:cNvSpPr/>
          <p:nvPr/>
        </p:nvSpPr>
        <p:spPr>
          <a:xfrm>
            <a:off x="502920" y="4014216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2" name="Text 200"/>
          <p:cNvSpPr/>
          <p:nvPr/>
        </p:nvSpPr>
        <p:spPr>
          <a:xfrm>
            <a:off x="731520" y="401421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imgsz=640 on low-RAM CPU machines</a:t>
            </a:r>
            <a:endParaRPr lang="en-US" sz="1100" dirty="0"/>
          </a:p>
        </p:txBody>
      </p:sp>
      <p:sp>
        <p:nvSpPr>
          <p:cNvPr id="203" name="Shape 201"/>
          <p:cNvSpPr/>
          <p:nvPr/>
        </p:nvSpPr>
        <p:spPr>
          <a:xfrm>
            <a:off x="5349240" y="4014216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4" name="Text 202"/>
          <p:cNvSpPr/>
          <p:nvPr/>
        </p:nvSpPr>
        <p:spPr>
          <a:xfrm>
            <a:off x="5532120" y="401421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hangs/OOM — drop to 320-416, batch=4-8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Challenge: Custom Object with Roboflow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50 images, fine-tune 10 epochs, test on 10 held-out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280160"/>
          </a:xfrm>
          <a:prstGeom prst="roundRect">
            <a:avLst>
              <a:gd name="adj" fmla="val 4286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548640" cy="548640"/>
          </a:xfrm>
          <a:prstGeom prst="rect">
            <a:avLst/>
          </a:prstGeom>
        </p:spPr>
      </p:pic>
      <p:sp>
        <p:nvSpPr>
          <p:cNvPr id="187" name="Text 184"/>
          <p:cNvSpPr/>
          <p:nvPr/>
        </p:nvSpPr>
        <p:spPr>
          <a:xfrm>
            <a:off x="1554480" y="128016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coffee cups, or anything in the room. </a:t>
            </a:r>
            <a:pPr indent="0" marL="0">
              <a:buNone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handles browser-based labeling and exports directly in YOLO format.</a:t>
            </a:r>
            <a:endParaRPr lang="en-US" sz="1350" dirty="0"/>
          </a:p>
        </p:txBody>
      </p:sp>
      <p:sp>
        <p:nvSpPr>
          <p:cNvPr id="188" name="Shape 185"/>
          <p:cNvSpPr/>
          <p:nvPr/>
        </p:nvSpPr>
        <p:spPr>
          <a:xfrm>
            <a:off x="502920" y="2788920"/>
            <a:ext cx="8138160" cy="777240"/>
          </a:xfrm>
          <a:prstGeom prst="roundRect">
            <a:avLst>
              <a:gd name="adj" fmla="val 5882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9" name="Text 186"/>
          <p:cNvSpPr/>
          <p:nvPr/>
        </p:nvSpPr>
        <p:spPr>
          <a:xfrm>
            <a:off x="612648" y="2862072"/>
            <a:ext cx="79187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model.train(data='your_dataset/data.yaml', epochs=10, imgsz=640)</a:t>
            </a:r>
            <a:endParaRPr lang="en-US" sz="1200" dirty="0"/>
          </a:p>
        </p:txBody>
      </p:sp>
      <p:sp>
        <p:nvSpPr>
          <p:cNvPr id="190" name="Shape 187"/>
          <p:cNvSpPr/>
          <p:nvPr/>
        </p:nvSpPr>
        <p:spPr>
          <a:xfrm>
            <a:off x="502920" y="379476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1" name="Text 188"/>
          <p:cNvSpPr/>
          <p:nvPr/>
        </p:nvSpPr>
        <p:spPr>
          <a:xfrm>
            <a:off x="777240" y="37947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foundation: today's coco128 run (65s, mAP50=0.518) sets realistic time expectations.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Remember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else survives the day…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777240" y="1517904"/>
            <a:ext cx="457200" cy="45720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87" name="Text 185"/>
          <p:cNvSpPr/>
          <p:nvPr/>
        </p:nvSpPr>
        <p:spPr>
          <a:xfrm>
            <a:off x="777240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88" name="Text 186"/>
          <p:cNvSpPr/>
          <p:nvPr/>
        </p:nvSpPr>
        <p:spPr>
          <a:xfrm>
            <a:off x="1463040" y="135331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gives a LIST: box + label + confidence per object, not one label per image.</a:t>
            </a:r>
            <a:endParaRPr lang="en-US" sz="1250" dirty="0"/>
          </a:p>
        </p:txBody>
      </p:sp>
      <p:sp>
        <p:nvSpPr>
          <p:cNvPr id="189" name="Shape 187"/>
          <p:cNvSpPr/>
          <p:nvPr/>
        </p:nvSpPr>
        <p:spPr>
          <a:xfrm>
            <a:off x="502920" y="237744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Shape 188"/>
          <p:cNvSpPr/>
          <p:nvPr/>
        </p:nvSpPr>
        <p:spPr>
          <a:xfrm>
            <a:off x="777240" y="261518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1" name="Text 189"/>
          <p:cNvSpPr/>
          <p:nvPr/>
        </p:nvSpPr>
        <p:spPr>
          <a:xfrm>
            <a:off x="77724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2" name="Text 190"/>
          <p:cNvSpPr/>
          <p:nvPr/>
        </p:nvSpPr>
        <p:spPr>
          <a:xfrm>
            <a:off x="1463040" y="245059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is the dial between missing real objects and keeping false positives.</a:t>
            </a:r>
            <a:endParaRPr lang="en-US" sz="1250" dirty="0"/>
          </a:p>
        </p:txBody>
      </p:sp>
      <p:sp>
        <p:nvSpPr>
          <p:cNvPr id="193" name="Shape 191"/>
          <p:cNvSpPr/>
          <p:nvPr/>
        </p:nvSpPr>
        <p:spPr>
          <a:xfrm>
            <a:off x="502920" y="347472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Shape 192"/>
          <p:cNvSpPr/>
          <p:nvPr/>
        </p:nvSpPr>
        <p:spPr>
          <a:xfrm>
            <a:off x="777240" y="371246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5" name="Text 193"/>
          <p:cNvSpPr/>
          <p:nvPr/>
        </p:nvSpPr>
        <p:spPr>
          <a:xfrm>
            <a:off x="77724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6" name="Text 194"/>
          <p:cNvSpPr/>
          <p:nvPr/>
        </p:nvSpPr>
        <p:spPr>
          <a:xfrm>
            <a:off x="1463040" y="354787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fine-tuning starts from pretrained weights — the same recipe as Day 19's transfer learning.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2" name="Text 180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21</a:t>
            </a:r>
            <a:endParaRPr lang="en-US" sz="1400" dirty="0"/>
          </a:p>
        </p:txBody>
      </p:sp>
      <p:sp>
        <p:nvSpPr>
          <p:cNvPr id="183" name="Text 181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Deployment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FastAPI</a:t>
            </a:r>
            <a:endParaRPr lang="en-US" sz="3200" dirty="0"/>
          </a:p>
        </p:txBody>
      </p:sp>
      <p:sp>
        <p:nvSpPr>
          <p:cNvPr id="184" name="Text 182"/>
          <p:cNvSpPr/>
          <p:nvPr/>
        </p:nvSpPr>
        <p:spPr>
          <a:xfrm>
            <a:off x="640080" y="32461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model runs great in a notebook. Tomorrow wraps it behind a real REST API — image uploads in, JSON predictions out, connected to a Streamlit frontend.</a:t>
            </a:r>
            <a:endParaRPr lang="en-US" sz="1350" dirty="0"/>
          </a:p>
        </p:txBody>
      </p:sp>
      <p:sp>
        <p:nvSpPr>
          <p:cNvPr id="185" name="Text 183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building the deployment skeleton Day 22's dashboard sits on top of.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2026-08-04T05:42:54Z</dcterms:created>
  <dcterms:modified xsi:type="dcterms:W3CDTF">2026-08-04T05:42:54Z</dcterms:modified>
</cp:coreProperties>
</file>