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374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228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Foundations, NumPy &amp; Pandas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457200" y="1417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begins — from programmer thinking to data thinking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57200" y="1828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arrays that compute fast, tables that explore data — using the Titanic dataset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2578608"/>
            <a:ext cx="91440" cy="914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24688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intuition: scalars, vectors, matrices — no heavy calculus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" y="3035808"/>
            <a:ext cx="91440" cy="914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29260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NumPy: arrays, creation, operations, broadcasting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40080" y="3493008"/>
            <a:ext cx="91440" cy="914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33832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Series, DataFrames, .loc/.iloc, groupby()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0080" y="3950208"/>
            <a:ext cx="91440" cy="914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38404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 ·  Beginner  ·  100% Google Colab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47091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  —  Week 2: Data Science &amp; Machine Learning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Topics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118872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1188720"/>
            <a:ext cx="54864" cy="566928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13533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0:00–0:05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737360" y="1353312"/>
            <a:ext cx="84124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0" y="136245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1252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math matters for ML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2697480" y="14813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Scalars, vectors, matrices — visual only, no calculus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1856232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1856232"/>
            <a:ext cx="54864" cy="566928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202082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0:05–0:25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737360" y="2020824"/>
            <a:ext cx="621792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0" y="202996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19202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Fundamentals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2697480" y="21488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creation, operations, broadcasting, reshaping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65760" y="2523744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65760" y="2523744"/>
            <a:ext cx="54864" cy="566928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" y="268833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0:25–0:45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737360" y="2688336"/>
            <a:ext cx="621792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37360" y="26974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697480" y="25877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Fundamentals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2697480" y="28163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Series, DataFrame, .loc/.iloc, filtering, groupby()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65760" y="3191256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65760" y="3191256"/>
            <a:ext cx="54864" cy="566928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4360" y="33558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0:45–1:45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737360" y="3355848"/>
            <a:ext cx="768096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37360" y="3364992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2697480" y="32552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EDA in Colab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2697480" y="348386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steps from raw CSV to exported, summarized findings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65760" y="3858768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365760" y="3858768"/>
            <a:ext cx="54864" cy="566928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4360" y="40233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1:45–2:00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737360" y="4023360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737360" y="40325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2697480" y="39227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notebook + Daily Challenge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2697480" y="415137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linalg challenge: determinant &amp; inverse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INTUITION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Scalars, Vectors, Matrices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literally what a spreadsheet is. We're teaching Python to understand spreadsheets.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50876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508760"/>
            <a:ext cx="54864" cy="28346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645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40080" y="2057400"/>
            <a:ext cx="2194560" cy="10058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2194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4864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number. One grade.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27832" y="150876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27832" y="1508760"/>
            <a:ext cx="54864" cy="283464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10712" y="1645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3502152" y="2057400"/>
            <a:ext cx="2194560" cy="10058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02152" y="2194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[5, 3, 8]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410712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of numbers. One student's grades.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089904" y="150876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089904" y="1508760"/>
            <a:ext cx="54864" cy="283464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72784" y="1645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364224" y="2057400"/>
            <a:ext cx="2194560" cy="10058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64224" y="2194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[[5,3],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[8,1]]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272784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of numbers. Every student's grades.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NUMPY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NumPy is Faster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11704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motivating demo: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1426464"/>
            <a:ext cx="4572000" cy="324612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536192"/>
            <a:ext cx="424281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Plain Python list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[10, 20, 30, 40, 50]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* 2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[10,20,30,40,50,10,20,30,40,50]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Repeated the list! Not what we want.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NumPy array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np.array([10, 20, 30, 40, 50])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* 2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[20, 40, 60, 80, 100]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Actual element-wise multiplication!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74920" y="1426464"/>
            <a:ext cx="3703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074920" y="1426464"/>
            <a:ext cx="54864" cy="100584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7800" y="15179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C-backend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257800" y="17556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is written in C under the hood, not pure Python.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74920" y="2542032"/>
            <a:ext cx="3703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074920" y="2542032"/>
            <a:ext cx="54864" cy="100584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57800" y="26334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memory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257800" y="287121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sit next to each other, not scattered like list objects.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74920" y="3657600"/>
            <a:ext cx="3703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074920" y="3657600"/>
            <a:ext cx="54864" cy="100584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57800" y="37490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Vectorisation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257800" y="398678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apply to the WHOLE array at once — no explicit loop.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NUMPY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Arrays &amp; Key Attributes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1170432"/>
            <a:ext cx="4389120" cy="23774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1280160"/>
            <a:ext cx="405993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a list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np.array([1, 2, 3, 4, 5])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arr.shape    # (5,)         dimensions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arr.dtype    # dtype('int64')   data type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arr.ndim     # 1            number of dimensions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arr.size     # 5            total elements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2D array (matrix)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= np.array([[1, 2, 3], [4, 5, 6]])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matrix.shape  # (2, 3) -&gt; 2 rows, 3 columns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37760" y="11704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shortcuts: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37760" y="1426464"/>
            <a:ext cx="3840480" cy="14630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02352" y="1536192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np.zeros((3, 3))     # grid of zeros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np.ones((2, 4))       # grid of ones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np.arange(0, 10, 2)   # [0,2,4,6,8]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np.linspace(0, 1, 5)  # 5 evenly spaced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np.random.rand(3, 3)  # random floats 0-1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937760" y="3017520"/>
            <a:ext cx="3840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937760" y="3017520"/>
            <a:ext cx="54864" cy="128016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310896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each is used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20640" y="336499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zeros/ones: init placeholders (ML weight init). arange: integer sequences. linspace: smooth plotting ranges. random.rand: testing/simulating data.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NUMPY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Broadcasting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1170432"/>
            <a:ext cx="4572000" cy="35204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1280160"/>
            <a:ext cx="4242816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3])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np.array([10, 20, 30])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   # [11, 22, 33]  element-wise add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* b   # [10, 40, 90]  element-wise multiply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* 2   # [2, 4, 6]     broadcasting!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Reshaping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np.arange(12)         # [0,1,...,11]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= arr.reshape(3, 4)  # 3 rows, 4 cols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Slicing — like lists, but 2 dimensions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matrix[0, :]      # first row, all cols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matrix[:, 1]      # all rows, 2nd col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matrix[0:2, 0:2]  # top-left 2x2 block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74920" y="1170432"/>
            <a:ext cx="3703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074920" y="1170432"/>
            <a:ext cx="54864" cy="169164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7800" y="12801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rule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57800" y="155448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"array * 2" doesn't literally duplicate the 2. NumPy conceptually stretches the smaller thing to match the bigger shape, then does element-wise math.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74920" y="2999232"/>
            <a:ext cx="3703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074920" y="2999232"/>
            <a:ext cx="54864" cy="169164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7800" y="31089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reminder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57800" y="338328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slicing is [rows, columns]. The colon : alone means 'all.' This mirrors df.loc/.iloc syntax you'll see in Pandas next.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PANDAS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NumPy arrays are spreadsheet cells, a DataFrame is the whole spreadsheet tab.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463040"/>
            <a:ext cx="4480560" cy="21945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572768"/>
            <a:ext cx="415137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Series — a NumPy array WITH labels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pd.Series([10, 20, 30], index=["a","b","c"])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print(s["b"])   # 20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DataFrame — a 2D table: columns + rows + index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["Ali", "Sara", "Ahmed"],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"age": [25, 24, 27]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83480" y="1463040"/>
            <a:ext cx="3794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983480" y="1463040"/>
            <a:ext cx="54864" cy="219456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1572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166360" y="19202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Series is ONE column with labels.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is a whole table made of Series — each column IS a Series.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379476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3794760"/>
            <a:ext cx="54864" cy="86868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38862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468880" y="38862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008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   25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Sara  24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Ahmed 27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114800" y="4206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Each column (name, age) is a Series. Together they form the DataFrame.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PANDAS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Data &amp; The First 5 Commands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these FIRST on every new dataset — the professional EDA reflex.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1307592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14447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Loading: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1707315"/>
            <a:ext cx="8412480" cy="10515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9047" y="1792224"/>
            <a:ext cx="80832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"https://raw.githubusercontent.com/"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r>
              <a:rPr lang="en-US" sz="10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datasciencedojo</a:t>
            </a: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/datasets/master/titanic.csv"</a:t>
            </a:r>
            <a:endParaRPr lang="en-US" sz="1000" dirty="0"/>
          </a:p>
          <a:p>
            <a:pPr marL="0" indent="0">
              <a:buNone/>
            </a:pPr>
            <a:r>
              <a:rPr lang="en-US" sz="10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</a:t>
            </a: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pd.read_csv("data.csv")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pd.read_excel("data.xlsx")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5760" y="28803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inspection commands — always run these first: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315468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3154680"/>
            <a:ext cx="54864" cy="6858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920" y="3520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rows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27832" y="315468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27832" y="3154680"/>
            <a:ext cx="54864" cy="6858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64992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364992" y="3520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 rows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089904" y="315468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089904" y="3154680"/>
            <a:ext cx="54864" cy="6858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27064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227064" y="3520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(rows, columns)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65760" y="3931920"/>
            <a:ext cx="54864" cy="6858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4023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02920" y="4297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each column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227832" y="393192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227832" y="3931920"/>
            <a:ext cx="54864" cy="6858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64992" y="4023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364992" y="4297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Stats: mean, std, min, max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PANDAS — CRITICAL CONCEPT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.loc vs .iloc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most-confused concept in early Pandas. Slow down here.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46304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463040"/>
            <a:ext cx="54864" cy="22860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572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.loc  —  LABEL-based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48640" y="1874520"/>
            <a:ext cx="3749040" cy="16916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1984248"/>
            <a:ext cx="34198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df.loc[0, 'Age']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row labeled 0, column 'Age'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df.loc[0:4, 'Age']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rows 0 through 4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INCLUSIVE of row 4!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146304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1463040"/>
            <a:ext cx="54864" cy="228600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1572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.iloc  —  POSITION-based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846320" y="1874520"/>
            <a:ext cx="3749040" cy="16916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10912" y="1984248"/>
            <a:ext cx="34198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df.iloc[0, 1]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1st row, 2nd column (0-indexed)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df.iloc[0:5, 0:3]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5 rows, first 3 cols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 is EXCLUSIVE (like Python slicing)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388620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5760" y="3886200"/>
            <a:ext cx="54864" cy="7772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pic>
        <p:nvPicPr>
          <p:cNvPr id="5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23360"/>
            <a:ext cx="256032" cy="256032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868680" y="40050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trap: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1783080" y="400507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row labels happen to be 0,1,2,3... .loc and .iloc LOOK the same. But .loc[0:4] includes row 4, while .iloc[0:4] stops BEFORE row 4.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PANDAS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Rows — Boolean Indexing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1170432"/>
            <a:ext cx="8412480" cy="17373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1280160"/>
            <a:ext cx="808329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df[df['Age'] &gt; 30]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rows where Age &gt; 30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df[(df['Age'] &gt; 30) &amp; (df['Survived'] == 1)]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AND condition — note the parentheses!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df[df['Pclass'].isin([1, 2])]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rows where Pclass is 1 OR 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3063240"/>
            <a:ext cx="8412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3063240"/>
            <a:ext cx="54864" cy="160020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200400"/>
            <a:ext cx="274320" cy="27432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914400" y="31821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 students WILL make: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566928" y="3520440"/>
            <a:ext cx="8001000" cy="10515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31520" y="3630168"/>
            <a:ext cx="767181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WRONG — Python's and/or don't work element-wise on Series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df[df['Age'] &gt; 30 and df['Survived'] == 1]   # ERROR!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RIGHT — use &amp; and | for Series, with parentheses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df[(df['Age'] &gt; 30) &amp; (df['Survived'] == 1)]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PANDAS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— Split, Apply, Combine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powerful Pandas method. Answers 90% of business questions.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1307592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444752"/>
            <a:ext cx="4389120" cy="17373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554480"/>
            <a:ext cx="40599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df.groupby('Pclass')['Survived'].mean()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each passenger class,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fraction survived?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df.groupby('Pclass')['Survived'].agg(['mean', 'count'])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Same, but also show how many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passengers were in each group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37760" y="144475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937760" y="1444752"/>
            <a:ext cx="54864" cy="530352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15361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55080" y="15636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data by Pclass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37760" y="206654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937760" y="2066544"/>
            <a:ext cx="54864" cy="530352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0" y="21579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55080" y="21854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mean() per group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937760" y="2688336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937760" y="2688336"/>
            <a:ext cx="54864" cy="530352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0640" y="27797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55080" y="28072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neat result table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65760" y="338328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65760" y="3383280"/>
            <a:ext cx="54864" cy="12801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"groupby is split-apply-combine in one line."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48640" y="3794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 into groups. APPLY a function to each group. COMBINE results back into one table. This ONE pattern: average by category, total by region, count by status — and it's exactly what SQL's GROUP BY does.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EDA Notebook — Colab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457200" y="9144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NOTEBOOK BUILD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65760" y="1280160"/>
            <a:ext cx="4069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365760" y="1280160"/>
            <a:ext cx="54864" cy="64008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30352" y="13990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3035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1024128" y="13716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matrix warm-up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1024128" y="1627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 min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617720" y="1280160"/>
            <a:ext cx="4069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617720" y="1280160"/>
            <a:ext cx="54864" cy="64008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782312" y="13990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78231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5276088" y="13716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Titanic dataset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5276088" y="1627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 min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365760" y="2029968"/>
            <a:ext cx="4069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365760" y="2029968"/>
            <a:ext cx="54864" cy="64008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30352" y="214884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3035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1024128" y="21214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inspection commands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1024128" y="2377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 min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4617720" y="2029968"/>
            <a:ext cx="4069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4617720" y="2029968"/>
            <a:ext cx="54864" cy="64008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782312" y="214884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78231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7" name="Text 64"/>
          <p:cNvSpPr/>
          <p:nvPr/>
        </p:nvSpPr>
        <p:spPr>
          <a:xfrm>
            <a:off x="5276088" y="21214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numeric &amp; filter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5276088" y="2377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 min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365760" y="2779776"/>
            <a:ext cx="4069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365760" y="2779776"/>
            <a:ext cx="54864" cy="64008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30352" y="28986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3" name="Text 70"/>
          <p:cNvSpPr/>
          <p:nvPr/>
        </p:nvSpPr>
        <p:spPr>
          <a:xfrm>
            <a:off x="1024128" y="28712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groupby: survival by class</a:t>
            </a:r>
            <a:endParaRPr lang="en-US" sz="1100" dirty="0"/>
          </a:p>
        </p:txBody>
      </p:sp>
      <p:sp>
        <p:nvSpPr>
          <p:cNvPr id="74" name="Text 71"/>
          <p:cNvSpPr/>
          <p:nvPr/>
        </p:nvSpPr>
        <p:spPr>
          <a:xfrm>
            <a:off x="1024128" y="31272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 min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4617720" y="2779776"/>
            <a:ext cx="4069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617720" y="2779776"/>
            <a:ext cx="54864" cy="64008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782312" y="28986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782312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79" name="Text 76"/>
          <p:cNvSpPr/>
          <p:nvPr/>
        </p:nvSpPr>
        <p:spPr>
          <a:xfrm>
            <a:off x="5276088" y="28712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cleaned subset</a:t>
            </a:r>
            <a:endParaRPr lang="en-US" sz="1100" dirty="0"/>
          </a:p>
        </p:txBody>
      </p:sp>
      <p:sp>
        <p:nvSpPr>
          <p:cNvPr id="80" name="Text 77"/>
          <p:cNvSpPr/>
          <p:nvPr/>
        </p:nvSpPr>
        <p:spPr>
          <a:xfrm>
            <a:off x="5276088" y="31272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 min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365760" y="3529584"/>
            <a:ext cx="4069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365760" y="3529584"/>
            <a:ext cx="54864" cy="64008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530352" y="36484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530352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85" name="Text 82"/>
          <p:cNvSpPr/>
          <p:nvPr/>
        </p:nvSpPr>
        <p:spPr>
          <a:xfrm>
            <a:off x="1024128" y="36210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summary cell</a:t>
            </a:r>
            <a:endParaRPr lang="en-US" sz="1100" dirty="0"/>
          </a:p>
        </p:txBody>
      </p:sp>
      <p:sp>
        <p:nvSpPr>
          <p:cNvPr id="86" name="Text 83"/>
          <p:cNvSpPr/>
          <p:nvPr/>
        </p:nvSpPr>
        <p:spPr>
          <a:xfrm>
            <a:off x="1024128" y="38770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 min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365760" y="4572000"/>
            <a:ext cx="4069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365760" y="4572000"/>
            <a:ext cx="54864" cy="384048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502920" y="4572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notebook IS the deliverable today.</a:t>
            </a:r>
            <a:endParaRPr lang="en-US" sz="950" dirty="0"/>
          </a:p>
        </p:txBody>
      </p:sp>
      <p:sp>
        <p:nvSpPr>
          <p:cNvPr id="90" name="Text 8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STEP 1 OF 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Matrix Warm-Up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real data, get comfortable with @ for matrix multiplication.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7423" y="1394460"/>
            <a:ext cx="8412480" cy="338328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" y="1372252"/>
            <a:ext cx="80832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= np.array([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[1, 2, 3],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[4, 5, 6],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[7, 8, 9]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print("Original matrix:")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print(matrix)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Transpose — flip rows and columns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print("\nTransposed:")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print(matrix.T)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Dot product with itself (matrix multiplication)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print("\nDot product (matrix @ matrix):")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print(matrix @ matrix)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NOTE: matrix @ matrix is NOT the same as matrix * matrix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 is matrix multiplication, * is element-wise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STEP 2 OF 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Titanic Dataset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URL straight into a DataFrame — no download step needed.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78131"/>
            <a:ext cx="8412480" cy="155448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481328"/>
            <a:ext cx="80832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"https://raw.githubusercontent.com/"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"datasciencedojo/datasets/master/titanic.csv"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pd.read_csv(url)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print(f"Dataset shape: {df.shape}")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070860"/>
            <a:ext cx="8412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063240"/>
            <a:ext cx="54864" cy="16002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1729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in df.head():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48640" y="3456432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 rows, 12 columns: PassengerId, Survived, Pclass, Name, Sex, Age, SibSp, Parch, Ticket, Fare, Cabin, Embarked. A genuine mix of numeric, categorical, and text columns — ideal for practicing every Pandas skill today.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STEP 3 OF 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Inspection Commands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df.describe() and look closely — there's a clue about missing data.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71600"/>
            <a:ext cx="8412480" cy="16916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481328"/>
            <a:ext cx="808329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       # how many rows, columns?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      # what are the column names?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       # what type is each column?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     # first 5 rows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df.tail()       # last 5 rows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   # numeric summary stats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200400"/>
            <a:ext cx="8412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200400"/>
            <a:ext cx="54864" cy="14630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37560"/>
            <a:ext cx="274320" cy="27432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914400" y="33192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'count' row for Age in describe()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548640" y="3657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LESS than the total row count (891). That means Age has missing values! This sets up Day 9's entire missing-data lesson — point it out now so the connection lands later.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STEP 4 OF 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Numeric Columns &amp; Filter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select_dtypes with boolean filtering — both &amp; and parentheses matter.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71600"/>
            <a:ext cx="8412480" cy="21945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481328"/>
            <a:ext cx="808329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Select only numeric columns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numeric_df = df.select_dtypes(include='number')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print(numeric_df.columns)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Filter: passengers over 30 who survived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survivors_over_30 = df[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(df['Age'] &gt; 30) &amp; (df['Survived'] == 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print(f"Survivors over 30: {len(survivors_over_30)}")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survivors_over_30.head()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70332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703320"/>
            <a:ext cx="54864" cy="100584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7947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Hypothesis-then-verify habit: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48640" y="40507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running a filter, ask students to guess roughly how many rows will match. This turns passive code-following into active data thinking.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STEP 5 OF 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groupby: Survival Rate by Class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before you run it — then confirm with real data.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71600"/>
            <a:ext cx="8412480" cy="228600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481328"/>
            <a:ext cx="80832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survival_by_class = df.groupby('Pclass')['Survived'].mean()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print(survival_by_class)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Make it readable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pclass, rate in survival_by_class.items():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print(f"Class {pclass}: {rate:.1%} survived")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Class 1: 63.0% survived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Class 2: 47.3% survived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Class 3: 24.2% survived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7947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794760"/>
            <a:ext cx="54864" cy="91440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8862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prompt (2 min):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41330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you think 1st class passengers survived more often? Why, historically?" Ask BEFORE running the code, then confirm. This is exactly what real EDA work looks like.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STEP 6 OF 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Cleaned Subset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.copy() here is deliberate — a real Pandas gotcha worth knowing exists.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71600"/>
            <a:ext cx="8412480" cy="19202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481328"/>
            <a:ext cx="8083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Focused subset: just the columns we care about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subset = df[['Pclass', 'Sex', 'Age', 'Fare', 'Survived']].copy()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Export to a new CSV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subset.to_csv('titanic_subset.csv', index=False)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print("Saved titanic_subset.csv")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Colab, download it: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google.colab import files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files.download('titanic_subset.csv')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42900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429000"/>
            <a:ext cx="54864" cy="128016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66160"/>
            <a:ext cx="274320" cy="27432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914400" y="3547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.copy() matters here: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548640" y="3886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.copy(), subset would be a VIEW into the original df. Modifying subset later could trigger a SettingWithCopyWarning or silently change df too</a:t>
            </a:r>
            <a:r>
              <a:rPr lang="en-US" sz="100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STEP 7 OF 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Wrap-Up Cell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'a notebook with code' and 'a mini case study.'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71600"/>
            <a:ext cx="8412480" cy="182880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481328"/>
            <a:ext cx="808329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Summary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Dataset: Titanic, 891 passengers, 12 columns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Key finding: 1st class passengers had a 63% survival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 vs 24% for 3rd class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Missing data noted in: Age, Cabin columns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(more on this Day 9)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Exported a cleaned subset: titanic_subset.csv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83280"/>
            <a:ext cx="8412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383280"/>
            <a:ext cx="54864" cy="132588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"Always close with a written takeaway."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8640" y="3794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yourself in six months, and for anyone reviewing your portfolio. A notebook with markdown headers and a closing summary reads like a professional case study — not just scratch work.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Today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118872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1188720"/>
            <a:ext cx="54864" cy="96012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0352" y="1316736"/>
            <a:ext cx="2286000" cy="292608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13350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1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* 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0352" y="16642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the list, doesn't multiply. Use np.array instead.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17720" y="118872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17720" y="1188720"/>
            <a:ext cx="54864" cy="96012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82312" y="1316736"/>
            <a:ext cx="2286000" cy="292608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13350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and/or on Series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82312" y="16642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&amp; and | with parentheses for element-wise logic.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228600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65760" y="2286000"/>
            <a:ext cx="54864" cy="96012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0352" y="2414016"/>
            <a:ext cx="2286000" cy="292608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" y="243230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1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df['Age','Fare']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0352" y="27614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double brackets. Needs df[['Age','Fare']].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17720" y="228600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17720" y="2286000"/>
            <a:ext cx="54864" cy="96012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82312" y="2414016"/>
            <a:ext cx="2286000" cy="292608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18888" y="243230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.loc[0:4] vs .iloc[0:4]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782312" y="27614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.loc is inclusive of 4, .iloc stops before it.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338328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65760" y="3383280"/>
            <a:ext cx="54864" cy="96012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0352" y="3511296"/>
            <a:ext cx="2286000" cy="292608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6928" y="35295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1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* matrix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30352" y="38587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Element-wise, not matrix multiply. Use @ instead.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617720" y="338328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617720" y="3383280"/>
            <a:ext cx="54864" cy="96012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82312" y="3511296"/>
            <a:ext cx="2286000" cy="292608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18888" y="35295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.copy()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782312" y="38587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Subsets without .copy() can trigger silent bugs later.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Challenge: Determinant &amp; Inverse</a:t>
            </a:r>
            <a:endParaRPr lang="en-US" sz="2200" dirty="0"/>
          </a:p>
        </p:txBody>
      </p:sp>
      <p:sp>
        <p:nvSpPr>
          <p:cNvPr id="43" name="Shape 40"/>
          <p:cNvSpPr/>
          <p:nvPr/>
        </p:nvSpPr>
        <p:spPr>
          <a:xfrm>
            <a:off x="365760" y="960120"/>
            <a:ext cx="8412480" cy="16916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30352" y="1069848"/>
            <a:ext cx="808329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np.array([[2, 1, 1], [1, 3, 2], [1, 0, 0]])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 = np.linalg.det(A)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A_inv = np.linalg.inv(A)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print("Determinant:", det)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print("Inverse:\n", A_inv)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 @ A_inv:\n", A @ A_inv)  # should be ~identity matrix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365760" y="278892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365760" y="2788920"/>
            <a:ext cx="54864" cy="86868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48640" y="28803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1737360" y="28803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@ A_inv should be approximately the identity matrix. It won't be EXACT due to floating-point rounding — explain why in a comment.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365760" y="3749040"/>
            <a:ext cx="54864" cy="10515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8640" y="38404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1737360" y="384048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matrix with determinant 0 (e.g. a row of all zeros) and observe the error NumPy raises. Explain why a zero-determinant matrix has no inverse — conceptually, "it collapses dimensions," no heavy math needed.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RECAP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Learned &amp; What's Next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118872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1188720"/>
            <a:ext cx="54864" cy="438912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07592"/>
            <a:ext cx="201168" cy="201168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841248" y="1280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3017520" y="129844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vectorised math. Creation, operations, broadcasting, reshaping.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365760" y="169164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365760" y="1691640"/>
            <a:ext cx="54864" cy="438912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10512"/>
            <a:ext cx="201168" cy="201168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841248" y="1783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Series/DF</a:t>
            </a:r>
            <a:endParaRPr lang="en-US" sz="1150" dirty="0"/>
          </a:p>
        </p:txBody>
      </p:sp>
      <p:sp>
        <p:nvSpPr>
          <p:cNvPr id="52" name="Text 48"/>
          <p:cNvSpPr/>
          <p:nvPr/>
        </p:nvSpPr>
        <p:spPr>
          <a:xfrm>
            <a:off x="3017520" y="180136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columns and tables. The data structure for everything ahead.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365760" y="219456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4" name="Shape 50"/>
          <p:cNvSpPr/>
          <p:nvPr/>
        </p:nvSpPr>
        <p:spPr>
          <a:xfrm>
            <a:off x="365760" y="2194560"/>
            <a:ext cx="54864" cy="438912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5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01168" cy="201168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841248" y="2286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.loc vs .iloc</a:t>
            </a:r>
            <a:endParaRPr lang="en-US" sz="1150" dirty="0"/>
          </a:p>
        </p:txBody>
      </p:sp>
      <p:sp>
        <p:nvSpPr>
          <p:cNvPr id="57" name="Text 52"/>
          <p:cNvSpPr/>
          <p:nvPr/>
        </p:nvSpPr>
        <p:spPr>
          <a:xfrm>
            <a:off x="3017520" y="230428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Label-based vs position-based indexing — the classic early trap.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365760" y="269748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9" name="Shape 54"/>
          <p:cNvSpPr/>
          <p:nvPr/>
        </p:nvSpPr>
        <p:spPr>
          <a:xfrm>
            <a:off x="365760" y="2697480"/>
            <a:ext cx="54864" cy="438912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6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16352"/>
            <a:ext cx="201168" cy="201168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841248" y="2788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groupby</a:t>
            </a:r>
            <a:endParaRPr lang="en-US" sz="1150" dirty="0"/>
          </a:p>
        </p:txBody>
      </p:sp>
      <p:sp>
        <p:nvSpPr>
          <p:cNvPr id="62" name="Text 56"/>
          <p:cNvSpPr/>
          <p:nvPr/>
        </p:nvSpPr>
        <p:spPr>
          <a:xfrm>
            <a:off x="3017520" y="280720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indexing with &amp;/|, split-apply-combine with groupby().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365760" y="320040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4" name="Shape 58"/>
          <p:cNvSpPr/>
          <p:nvPr/>
        </p:nvSpPr>
        <p:spPr>
          <a:xfrm>
            <a:off x="365760" y="3200400"/>
            <a:ext cx="54864" cy="438912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pic>
        <p:nvPicPr>
          <p:cNvPr id="6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19272"/>
            <a:ext cx="201168" cy="201168"/>
          </a:xfrm>
          <a:prstGeom prst="rect">
            <a:avLst/>
          </a:prstGeom>
        </p:spPr>
      </p:pic>
      <p:sp>
        <p:nvSpPr>
          <p:cNvPr id="66" name="Text 59"/>
          <p:cNvSpPr/>
          <p:nvPr/>
        </p:nvSpPr>
        <p:spPr>
          <a:xfrm>
            <a:off x="841248" y="3291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EDA notebook</a:t>
            </a:r>
            <a:endParaRPr lang="en-US" sz="1150" dirty="0"/>
          </a:p>
        </p:txBody>
      </p:sp>
      <p:sp>
        <p:nvSpPr>
          <p:cNvPr id="67" name="Text 60"/>
          <p:cNvSpPr/>
          <p:nvPr/>
        </p:nvSpPr>
        <p:spPr>
          <a:xfrm>
            <a:off x="3017520" y="331012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mini case study, pushed with a written summary.</a:t>
            </a:r>
            <a:endParaRPr lang="en-US" sz="1000" dirty="0"/>
          </a:p>
        </p:txBody>
      </p:sp>
      <p:sp>
        <p:nvSpPr>
          <p:cNvPr id="68" name="Shape 61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9" name="Shape 62"/>
          <p:cNvSpPr/>
          <p:nvPr/>
        </p:nvSpPr>
        <p:spPr>
          <a:xfrm>
            <a:off x="365760" y="3794760"/>
            <a:ext cx="54864" cy="100584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70" name="Text 63"/>
          <p:cNvSpPr/>
          <p:nvPr/>
        </p:nvSpPr>
        <p:spPr>
          <a:xfrm>
            <a:off x="548640" y="3886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9: EDA &amp; Visualisation</a:t>
            </a:r>
            <a:endParaRPr lang="en-US" sz="1300" dirty="0"/>
          </a:p>
        </p:txBody>
      </p:sp>
      <p:sp>
        <p:nvSpPr>
          <p:cNvPr id="71" name="Text 64"/>
          <p:cNvSpPr/>
          <p:nvPr/>
        </p:nvSpPr>
        <p:spPr>
          <a:xfrm>
            <a:off x="548640" y="41879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missing-data clue from today becomes a full lesson. matplotlib and seaborn arrive — you'll finally SEE your data, not just print it. House Prices dataset replaces Titanic as the main practical.</a:t>
            </a:r>
            <a:endParaRPr lang="en-US" sz="1050" dirty="0"/>
          </a:p>
        </p:txBody>
      </p:sp>
      <p:sp>
        <p:nvSpPr>
          <p:cNvPr id="72" name="Text 6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2999</Words>
  <Application>Microsoft Office PowerPoint</Application>
  <PresentationFormat>On-screen Show (16:9)</PresentationFormat>
  <Paragraphs>425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 — Math Foundations, NumPy &amp; Pandas</dc:title>
  <dc:subject>PptxGenJS Presentation</dc:subject>
  <dc:creator>PptxGenJS</dc:creator>
  <cp:lastModifiedBy>Gagan Pradhan</cp:lastModifiedBy>
  <cp:revision>4</cp:revision>
  <dcterms:created xsi:type="dcterms:W3CDTF">2026-06-23T08:01:27Z</dcterms:created>
  <dcterms:modified xsi:type="dcterms:W3CDTF">2026-07-02T09:15:02Z</dcterms:modified>
</cp:coreProperties>
</file>