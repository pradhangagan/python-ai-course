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300" y="-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534943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945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233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494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782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657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7548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2C4870"/>
          </a:solidFill>
          <a:ln w="12700">
            <a:solidFill>
              <a:srgbClr val="2C487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2286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09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&amp; Visualisation</a:t>
            </a:r>
            <a:endParaRPr lang="en-US" sz="2800" dirty="0"/>
          </a:p>
        </p:txBody>
      </p:sp>
      <p:sp>
        <p:nvSpPr>
          <p:cNvPr id="43" name="Text 41"/>
          <p:cNvSpPr/>
          <p:nvPr/>
        </p:nvSpPr>
        <p:spPr>
          <a:xfrm>
            <a:off x="457200" y="1417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data visible — trends, outliers, and relationships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457200" y="1828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datasets: NEPSE stocks (NABIL, NLIC, NTC) + House Prices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457200" y="2212848"/>
            <a:ext cx="8229600" cy="0"/>
          </a:xfrm>
          <a:prstGeom prst="line">
            <a:avLst/>
          </a:prstGeom>
          <a:noFill/>
          <a:ln w="12700">
            <a:solidFill>
              <a:srgbClr val="E1E7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40080" y="2578608"/>
            <a:ext cx="91440" cy="91440"/>
          </a:xfrm>
          <a:prstGeom prst="rect">
            <a:avLst/>
          </a:prstGeom>
          <a:solidFill>
            <a:srgbClr val="2C4870"/>
          </a:solidFill>
          <a:ln w="12700">
            <a:solidFill>
              <a:srgbClr val="2C487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14400" y="246888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venv: why virtual environments matter + how to set up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640080" y="3035808"/>
            <a:ext cx="91440" cy="91440"/>
          </a:xfrm>
          <a:prstGeom prst="rect">
            <a:avLst/>
          </a:prstGeom>
          <a:solidFill>
            <a:srgbClr val="2C4870"/>
          </a:solidFill>
          <a:ln w="12700">
            <a:solidFill>
              <a:srgbClr val="2C487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14400" y="292608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 data 2 ways: upload to Colab + load from GitHub/Drive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640080" y="3493008"/>
            <a:ext cx="91440" cy="91440"/>
          </a:xfrm>
          <a:prstGeom prst="rect">
            <a:avLst/>
          </a:prstGeom>
          <a:solidFill>
            <a:srgbClr val="2C4870"/>
          </a:solidFill>
          <a:ln w="12700">
            <a:solidFill>
              <a:srgbClr val="2C487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14400" y="338328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NEPSE stock EDA: trends, returns, moving averages, correlation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640080" y="3950208"/>
            <a:ext cx="91440" cy="91440"/>
          </a:xfrm>
          <a:prstGeom prst="rect">
            <a:avLst/>
          </a:prstGeom>
          <a:solidFill>
            <a:srgbClr val="2C4870"/>
          </a:solidFill>
          <a:ln w="12700">
            <a:solidFill>
              <a:srgbClr val="2C487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14400" y="384048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Prices EDA: missing values, outliers, heatmaps, pairplots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457200" y="470916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Python · AI · ML Curriculum  —  Week 2: Data Science &amp; Machine Learning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27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945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233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494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782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657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7548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27432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PLAN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&amp; Topics</a:t>
            </a:r>
            <a:endParaRPr lang="en-US" sz="2600" dirty="0"/>
          </a:p>
        </p:txBody>
      </p:sp>
      <p:sp>
        <p:nvSpPr>
          <p:cNvPr id="42" name="Shape 40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noFill/>
          <a:ln w="12700">
            <a:solidFill>
              <a:srgbClr val="E1E7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65760" y="1170432"/>
            <a:ext cx="841248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365760" y="1170432"/>
            <a:ext cx="54864" cy="512064"/>
          </a:xfrm>
          <a:prstGeom prst="rect">
            <a:avLst/>
          </a:prstGeom>
          <a:solidFill>
            <a:srgbClr val="2C4870"/>
          </a:solidFill>
          <a:ln w="12700">
            <a:solidFill>
              <a:srgbClr val="2C487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66928" y="1316736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6B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0:00–0:10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1691640" y="1316736"/>
            <a:ext cx="548640" cy="219456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2700">
            <a:solidFill>
              <a:srgbClr val="2C487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691640" y="132588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2651760" y="1225296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venv — virtual environments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2651760" y="1444752"/>
            <a:ext cx="5989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isolation matters + how to create one locally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365760" y="1773936"/>
            <a:ext cx="841248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365760" y="1773936"/>
            <a:ext cx="54864" cy="512064"/>
          </a:xfrm>
          <a:prstGeom prst="rect">
            <a:avLst/>
          </a:prstGeom>
          <a:solidFill>
            <a:srgbClr val="0E7C9E"/>
          </a:solidFill>
          <a:ln w="12700">
            <a:solidFill>
              <a:srgbClr val="0E7C9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66928" y="1920240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6B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0:10–0:30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1691640" y="1920240"/>
            <a:ext cx="621792" cy="219456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2700">
            <a:solidFill>
              <a:srgbClr val="0E7C9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691640" y="1929384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E7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2651760" y="182880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concepts + matplotlib/seaborn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2651760" y="2048256"/>
            <a:ext cx="5989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EDA is, plot anatomy, visual storytelling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365760" y="2377440"/>
            <a:ext cx="841248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365760" y="2377440"/>
            <a:ext cx="54864" cy="512064"/>
          </a:xfrm>
          <a:prstGeom prst="rect">
            <a:avLst/>
          </a:prstGeom>
          <a:solidFill>
            <a:srgbClr val="B8720A"/>
          </a:solidFill>
          <a:ln w="12700">
            <a:solidFill>
              <a:srgbClr val="B8720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66928" y="2523744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6B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0:30–0:40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1691640" y="2523744"/>
            <a:ext cx="548640" cy="219456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2700">
            <a:solidFill>
              <a:srgbClr val="B8720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691640" y="25328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B87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2651760" y="2432304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ways to load data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2651760" y="2651760"/>
            <a:ext cx="5989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to Colab + load from GitHub / Drive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365760" y="2980944"/>
            <a:ext cx="841248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365760" y="2980944"/>
            <a:ext cx="54864" cy="512064"/>
          </a:xfrm>
          <a:prstGeom prst="rect">
            <a:avLst/>
          </a:prstGeom>
          <a:solidFill>
            <a:srgbClr val="1A8A5F"/>
          </a:solidFill>
          <a:ln w="12700">
            <a:solidFill>
              <a:srgbClr val="1A8A5F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66928" y="3127248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6B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0:40–1:20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1691640" y="3127248"/>
            <a:ext cx="621792" cy="219456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2700">
            <a:solidFill>
              <a:srgbClr val="1A8A5F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691640" y="3136392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STOCKS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2651760" y="3035808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NEPSE Stock EDA</a:t>
            </a:r>
            <a:endParaRPr lang="en-US" sz="1200" dirty="0"/>
          </a:p>
        </p:txBody>
      </p:sp>
      <p:sp>
        <p:nvSpPr>
          <p:cNvPr id="70" name="Text 68"/>
          <p:cNvSpPr/>
          <p:nvPr/>
        </p:nvSpPr>
        <p:spPr>
          <a:xfrm>
            <a:off x="2651760" y="3255264"/>
            <a:ext cx="5989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trend, returns, moving averages, compare 3 stocks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365760" y="3584448"/>
            <a:ext cx="841248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72" name="Shape 70"/>
          <p:cNvSpPr/>
          <p:nvPr/>
        </p:nvSpPr>
        <p:spPr>
          <a:xfrm>
            <a:off x="365760" y="3584448"/>
            <a:ext cx="54864" cy="512064"/>
          </a:xfrm>
          <a:prstGeom prst="rect">
            <a:avLst/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66928" y="3730752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6B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1:20–2:05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1691640" y="3730752"/>
            <a:ext cx="621792" cy="219456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1691640" y="3739896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B4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HOUSES</a:t>
            </a:r>
            <a:endParaRPr lang="en-US" sz="800" dirty="0"/>
          </a:p>
        </p:txBody>
      </p:sp>
      <p:sp>
        <p:nvSpPr>
          <p:cNvPr id="76" name="Text 74"/>
          <p:cNvSpPr/>
          <p:nvPr/>
        </p:nvSpPr>
        <p:spPr>
          <a:xfrm>
            <a:off x="2651760" y="3639312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Prices EDA</a:t>
            </a:r>
            <a:endParaRPr lang="en-US" sz="1200" dirty="0"/>
          </a:p>
        </p:txBody>
      </p:sp>
      <p:sp>
        <p:nvSpPr>
          <p:cNvPr id="77" name="Text 75"/>
          <p:cNvSpPr/>
          <p:nvPr/>
        </p:nvSpPr>
        <p:spPr>
          <a:xfrm>
            <a:off x="2651760" y="3858768"/>
            <a:ext cx="5989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Missing, outliers (IQR+z-score), viz, correlation, encoding, scaling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365760" y="4187952"/>
            <a:ext cx="841248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79" name="Shape 77"/>
          <p:cNvSpPr/>
          <p:nvPr/>
        </p:nvSpPr>
        <p:spPr>
          <a:xfrm>
            <a:off x="365760" y="4187952"/>
            <a:ext cx="54864" cy="512064"/>
          </a:xfrm>
          <a:prstGeom prst="rect">
            <a:avLst/>
          </a:prstGeom>
          <a:solidFill>
            <a:srgbClr val="C13A3A"/>
          </a:solidFill>
          <a:ln w="12700">
            <a:solidFill>
              <a:srgbClr val="C13A3A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566928" y="4334256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6B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2:05–2:15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1691640" y="4334256"/>
            <a:ext cx="548640" cy="219456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2700">
            <a:solidFill>
              <a:srgbClr val="C13A3A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1691640" y="43434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1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</a:t>
            </a:r>
            <a:endParaRPr lang="en-US" sz="800" dirty="0"/>
          </a:p>
        </p:txBody>
      </p:sp>
      <p:sp>
        <p:nvSpPr>
          <p:cNvPr id="83" name="Text 81"/>
          <p:cNvSpPr/>
          <p:nvPr/>
        </p:nvSpPr>
        <p:spPr>
          <a:xfrm>
            <a:off x="2651760" y="4242816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+ Challenge</a:t>
            </a:r>
            <a:endParaRPr lang="en-US" sz="1200" dirty="0"/>
          </a:p>
        </p:txBody>
      </p:sp>
      <p:sp>
        <p:nvSpPr>
          <p:cNvPr id="84" name="Text 82"/>
          <p:cNvSpPr/>
          <p:nvPr/>
        </p:nvSpPr>
        <p:spPr>
          <a:xfrm>
            <a:off x="2651760" y="4462272"/>
            <a:ext cx="5989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cleaned data for Day 10, Plotly challenge</a:t>
            </a:r>
            <a:endParaRPr lang="en-US" sz="900" dirty="0"/>
          </a:p>
        </p:txBody>
      </p:sp>
      <p:sp>
        <p:nvSpPr>
          <p:cNvPr id="85" name="Text 83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27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945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233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494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782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657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7548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27432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 — SETUP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Virtual Environments?</a:t>
            </a:r>
            <a:endParaRPr lang="en-US" sz="2600" dirty="0"/>
          </a:p>
        </p:txBody>
      </p:sp>
      <p:sp>
        <p:nvSpPr>
          <p:cNvPr id="42" name="Text 40"/>
          <p:cNvSpPr/>
          <p:nvPr/>
        </p:nvSpPr>
        <p:spPr>
          <a:xfrm>
            <a:off x="457200" y="10332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"Every project gets its own toolbox — its own isolated packages."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57200" y="1335024"/>
            <a:ext cx="8229600" cy="0"/>
          </a:xfrm>
          <a:prstGeom prst="line">
            <a:avLst/>
          </a:prstGeom>
          <a:noFill/>
          <a:ln w="12700">
            <a:solidFill>
              <a:srgbClr val="E1E7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65760" y="1508760"/>
            <a:ext cx="40690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365760" y="1508760"/>
            <a:ext cx="54864" cy="914400"/>
          </a:xfrm>
          <a:prstGeom prst="rect">
            <a:avLst/>
          </a:prstGeom>
          <a:solidFill>
            <a:srgbClr val="2C4870"/>
          </a:solidFill>
          <a:ln w="12700">
            <a:solidFill>
              <a:srgbClr val="2C487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48640" y="163677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548640" y="1929384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 needs pandas 1.5, Project B needs 2.0. Separate environments = no conflict.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617720" y="1508760"/>
            <a:ext cx="40690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4617720" y="1508760"/>
            <a:ext cx="54864" cy="914400"/>
          </a:xfrm>
          <a:prstGeom prst="rect">
            <a:avLst/>
          </a:prstGeom>
          <a:solidFill>
            <a:srgbClr val="0E7C9E"/>
          </a:solidFill>
          <a:ln w="12700">
            <a:solidFill>
              <a:srgbClr val="0E7C9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00600" y="163677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7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4800600" y="1929384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requirements.txt lets anyone recreate your exact setup, package for package.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365760" y="2560320"/>
            <a:ext cx="40690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365760" y="2560320"/>
            <a:ext cx="54864" cy="914400"/>
          </a:xfrm>
          <a:prstGeom prst="rect">
            <a:avLst/>
          </a:prstGeom>
          <a:solidFill>
            <a:srgbClr val="1A8A5F"/>
          </a:solidFill>
          <a:ln w="12700">
            <a:solidFill>
              <a:srgbClr val="1A8A5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48640" y="268833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Cleanliness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548640" y="2980944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global Python install stays uncluttered and stable.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4617720" y="2560320"/>
            <a:ext cx="40690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4617720" y="2560320"/>
            <a:ext cx="54864" cy="914400"/>
          </a:xfrm>
          <a:prstGeom prst="rect">
            <a:avLst/>
          </a:prstGeom>
          <a:solidFill>
            <a:srgbClr val="B8720A"/>
          </a:solidFill>
          <a:ln w="12700">
            <a:solidFill>
              <a:srgbClr val="B8720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800600" y="268833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7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"Works on my machine" fix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4800600" y="2980944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venv + requirements.txt means it works on EVERYONE's machine.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365760" y="3703320"/>
            <a:ext cx="84124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365760" y="3703320"/>
            <a:ext cx="54864" cy="960120"/>
          </a:xfrm>
          <a:prstGeom prst="rect">
            <a:avLst/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48640" y="379476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4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wait — do we need venv in Colab?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548640" y="40690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No! Colab is already an isolated cloud environment with packages pre-installed. venv is for when you run Python LOCALLY in VSCode — which you'll do when deploying Streamlit apps later in Week 2.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27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945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233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494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782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657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7548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27432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 — SETUP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Up venv</a:t>
            </a:r>
            <a:endParaRPr lang="en-US" sz="2600" dirty="0"/>
          </a:p>
        </p:txBody>
      </p:sp>
      <p:sp>
        <p:nvSpPr>
          <p:cNvPr id="42" name="Shape 40"/>
          <p:cNvSpPr/>
          <p:nvPr/>
        </p:nvSpPr>
        <p:spPr>
          <a:xfrm>
            <a:off x="457200" y="1024128"/>
            <a:ext cx="8229600" cy="0"/>
          </a:xfrm>
          <a:prstGeom prst="line">
            <a:avLst/>
          </a:prstGeom>
          <a:noFill/>
          <a:ln w="12700">
            <a:solidFill>
              <a:srgbClr val="E1E7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65760" y="1188720"/>
            <a:ext cx="5120640" cy="2926080"/>
          </a:xfrm>
          <a:prstGeom prst="rect">
            <a:avLst/>
          </a:prstGeom>
          <a:solidFill>
            <a:srgbClr val="EEF1F8"/>
          </a:solidFill>
          <a:ln w="12700">
            <a:solidFill>
              <a:srgbClr val="D3DAE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30352" y="1298448"/>
            <a:ext cx="4791456" cy="2706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Create a virtual environment named "venv"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venv venv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Activate it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 venv/bin/activate      # Mac / Linux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venv\Scripts\activate         # Windows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Prompt now shows (venv) — install packages here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pandas matplotlib seaborn scikit-learn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4. Save dependencies for reproducibility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freeze &gt; requirements.txt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5. Exit when done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deactivate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623560" y="1188720"/>
            <a:ext cx="31546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5623560" y="1188720"/>
            <a:ext cx="54864" cy="1371600"/>
          </a:xfrm>
          <a:prstGeom prst="rect">
            <a:avLst/>
          </a:prstGeom>
          <a:solidFill>
            <a:srgbClr val="1A8A5F"/>
          </a:solidFill>
          <a:ln w="12700">
            <a:solidFill>
              <a:srgbClr val="1A8A5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806440" y="128016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Recreate from requirements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806440" y="155448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8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venv venv</a:t>
            </a:r>
            <a:endParaRPr lang="en-US" sz="8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8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 venv/bin/activate</a:t>
            </a:r>
            <a:endParaRPr lang="en-US" sz="8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8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-r requirements.txt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5623560" y="2697480"/>
            <a:ext cx="31546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5623560" y="2697480"/>
            <a:ext cx="54864" cy="1417320"/>
          </a:xfrm>
          <a:prstGeom prst="rect">
            <a:avLst/>
          </a:prstGeom>
          <a:solidFill>
            <a:srgbClr val="C13A3A"/>
          </a:solidFill>
          <a:ln w="12700">
            <a:solidFill>
              <a:srgbClr val="C13A3A"/>
            </a:solidFill>
            <a:prstDash val="solid"/>
          </a:ln>
        </p:spPr>
      </p:sp>
      <p:pic>
        <p:nvPicPr>
          <p:cNvPr id="5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2816352"/>
            <a:ext cx="237744" cy="237744"/>
          </a:xfrm>
          <a:prstGeom prst="rect">
            <a:avLst/>
          </a:prstGeom>
        </p:spPr>
      </p:pic>
      <p:sp>
        <p:nvSpPr>
          <p:cNvPr id="52" name="Text 49"/>
          <p:cNvSpPr/>
          <p:nvPr/>
        </p:nvSpPr>
        <p:spPr>
          <a:xfrm>
            <a:off x="6108192" y="280720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1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commit venv/</a:t>
            </a:r>
            <a:endParaRPr lang="en-US" sz="1100" dirty="0"/>
          </a:p>
        </p:txBody>
      </p:sp>
      <p:sp>
        <p:nvSpPr>
          <p:cNvPr id="53" name="Text 50"/>
          <p:cNvSpPr/>
          <p:nvPr/>
        </p:nvSpPr>
        <p:spPr>
          <a:xfrm>
            <a:off x="5806440" y="3108960"/>
            <a:ext cx="2834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00" dirty="0">
                <a:solidFill>
                  <a:srgbClr val="5C6B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 to .gitignore:</a:t>
            </a:r>
            <a:endParaRPr lang="en-US" sz="9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00" dirty="0">
                <a:solidFill>
                  <a:srgbClr val="5C6B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venv/</a:t>
            </a:r>
            <a:endParaRPr lang="en-US" sz="9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00" dirty="0">
                <a:solidFill>
                  <a:srgbClr val="5C6B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__pycache__/</a:t>
            </a:r>
            <a:endParaRPr lang="en-US" sz="9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00" dirty="0">
                <a:solidFill>
                  <a:srgbClr val="5C6B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*.pyc</a:t>
            </a:r>
            <a:endParaRPr lang="en-US" sz="9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00" dirty="0">
                <a:solidFill>
                  <a:srgbClr val="5C6B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.env</a:t>
            </a:r>
            <a:endParaRPr lang="en-US" sz="900" dirty="0"/>
          </a:p>
        </p:txBody>
      </p:sp>
      <p:sp>
        <p:nvSpPr>
          <p:cNvPr id="54" name="Text 51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27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945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233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494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782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657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7548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27432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EDA CONCEPTS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is Detective Work</a:t>
            </a:r>
            <a:endParaRPr lang="en-US" sz="2600" dirty="0"/>
          </a:p>
        </p:txBody>
      </p:sp>
      <p:sp>
        <p:nvSpPr>
          <p:cNvPr id="42" name="Text 40"/>
          <p:cNvSpPr/>
          <p:nvPr/>
        </p:nvSpPr>
        <p:spPr>
          <a:xfrm>
            <a:off x="457200" y="10332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data BEFORE you trust any model with it.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57200" y="1335024"/>
            <a:ext cx="8229600" cy="0"/>
          </a:xfrm>
          <a:prstGeom prst="line">
            <a:avLst/>
          </a:prstGeom>
          <a:noFill/>
          <a:ln w="12700">
            <a:solidFill>
              <a:srgbClr val="E1E7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5760" y="148132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EDA checklist — works on ANY dataset: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365760" y="1783080"/>
            <a:ext cx="40690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365760" y="1783080"/>
            <a:ext cx="54864" cy="530352"/>
          </a:xfrm>
          <a:prstGeom prst="rect">
            <a:avLst/>
          </a:prstGeom>
          <a:solidFill>
            <a:srgbClr val="2C4870"/>
          </a:solidFill>
          <a:ln w="12700">
            <a:solidFill>
              <a:srgbClr val="2C487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02920" y="1901952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C4870"/>
          </a:solidFill>
          <a:ln w="12700">
            <a:solidFill>
              <a:srgbClr val="2C487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02920" y="19019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914400" y="1856232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 &amp; structure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914400" y="2066544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rows/columns? What types?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617720" y="1783080"/>
            <a:ext cx="40690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4617720" y="1783080"/>
            <a:ext cx="54864" cy="530352"/>
          </a:xfrm>
          <a:prstGeom prst="rect">
            <a:avLst/>
          </a:prstGeom>
          <a:solidFill>
            <a:srgbClr val="0E7C9E"/>
          </a:solidFill>
          <a:ln w="12700">
            <a:solidFill>
              <a:srgbClr val="0E7C9E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754880" y="1901952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0E7C9E"/>
          </a:solidFill>
          <a:ln w="12700">
            <a:solidFill>
              <a:srgbClr val="0E7C9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754880" y="19019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5166360" y="1856232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5166360" y="2066544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are the gaps? How many?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365760" y="2423160"/>
            <a:ext cx="40690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365760" y="2423160"/>
            <a:ext cx="54864" cy="530352"/>
          </a:xfrm>
          <a:prstGeom prst="rect">
            <a:avLst/>
          </a:prstGeom>
          <a:solidFill>
            <a:srgbClr val="1A8A5F"/>
          </a:solidFill>
          <a:ln w="12700">
            <a:solidFill>
              <a:srgbClr val="1A8A5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02920" y="2542032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A8A5F"/>
          </a:solidFill>
          <a:ln w="12700">
            <a:solidFill>
              <a:srgbClr val="1A8A5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02920" y="25420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914400" y="2496312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Distributions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914400" y="2706624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Histograms, describe()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4617720" y="2423160"/>
            <a:ext cx="40690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4617720" y="2423160"/>
            <a:ext cx="54864" cy="530352"/>
          </a:xfrm>
          <a:prstGeom prst="rect">
            <a:avLst/>
          </a:prstGeom>
          <a:solidFill>
            <a:srgbClr val="B8720A"/>
          </a:solidFill>
          <a:ln w="12700">
            <a:solidFill>
              <a:srgbClr val="B8720A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754880" y="2542032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B8720A"/>
          </a:solidFill>
          <a:ln w="12700">
            <a:solidFill>
              <a:srgbClr val="B8720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754880" y="25420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5166360" y="2496312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5166360" y="2706624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Boxplots, IQR method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365760" y="3063240"/>
            <a:ext cx="40690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70" name="Shape 68"/>
          <p:cNvSpPr/>
          <p:nvPr/>
        </p:nvSpPr>
        <p:spPr>
          <a:xfrm>
            <a:off x="365760" y="3063240"/>
            <a:ext cx="54864" cy="530352"/>
          </a:xfrm>
          <a:prstGeom prst="rect">
            <a:avLst/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502920" y="3182112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02920" y="31821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914400" y="3136392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914400" y="3346704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Correlation, scatter plots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4617720" y="3063240"/>
            <a:ext cx="40690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76" name="Shape 74"/>
          <p:cNvSpPr/>
          <p:nvPr/>
        </p:nvSpPr>
        <p:spPr>
          <a:xfrm>
            <a:off x="4617720" y="3063240"/>
            <a:ext cx="54864" cy="530352"/>
          </a:xfrm>
          <a:prstGeom prst="rect">
            <a:avLst/>
          </a:prstGeom>
          <a:solidFill>
            <a:srgbClr val="C13A3A"/>
          </a:solidFill>
          <a:ln w="12700">
            <a:solidFill>
              <a:srgbClr val="C13A3A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4754880" y="3182112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C13A3A"/>
          </a:solidFill>
          <a:ln w="12700">
            <a:solidFill>
              <a:srgbClr val="C13A3A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754880" y="31821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79" name="Text 77"/>
          <p:cNvSpPr/>
          <p:nvPr/>
        </p:nvSpPr>
        <p:spPr>
          <a:xfrm>
            <a:off x="5166360" y="3136392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questions</a:t>
            </a:r>
            <a:endParaRPr lang="en-US" sz="1100" dirty="0"/>
          </a:p>
        </p:txBody>
      </p:sp>
      <p:sp>
        <p:nvSpPr>
          <p:cNvPr id="80" name="Text 78"/>
          <p:cNvSpPr/>
          <p:nvPr/>
        </p:nvSpPr>
        <p:spPr>
          <a:xfrm>
            <a:off x="5166360" y="3346704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the business want to know?</a:t>
            </a:r>
            <a:endParaRPr lang="en-US" sz="900" dirty="0"/>
          </a:p>
        </p:txBody>
      </p:sp>
      <p:sp>
        <p:nvSpPr>
          <p:cNvPr id="81" name="Text 79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27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945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233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494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782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657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7548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27432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EDA CONCEPTS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Flavours of EDA Today</a:t>
            </a:r>
            <a:endParaRPr lang="en-US" sz="2600" dirty="0"/>
          </a:p>
        </p:txBody>
      </p:sp>
      <p:sp>
        <p:nvSpPr>
          <p:cNvPr id="42" name="Text 40"/>
          <p:cNvSpPr/>
          <p:nvPr/>
        </p:nvSpPr>
        <p:spPr>
          <a:xfrm>
            <a:off x="457200" y="10332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datasets ask different questions. A data scientist needs both reflexes.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57200" y="1335024"/>
            <a:ext cx="8229600" cy="0"/>
          </a:xfrm>
          <a:prstGeom prst="line">
            <a:avLst/>
          </a:prstGeom>
          <a:noFill/>
          <a:ln w="12700">
            <a:solidFill>
              <a:srgbClr val="E1E7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65760" y="1554480"/>
            <a:ext cx="411480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365760" y="1554480"/>
            <a:ext cx="54864" cy="3017520"/>
          </a:xfrm>
          <a:prstGeom prst="rect">
            <a:avLst/>
          </a:prstGeom>
          <a:solidFill>
            <a:srgbClr val="1A8A5F"/>
          </a:solidFill>
          <a:ln w="12700">
            <a:solidFill>
              <a:srgbClr val="1A8A5F"/>
            </a:solidFill>
            <a:prstDash val="solid"/>
          </a:ln>
        </p:spPr>
      </p:sp>
      <p:pic>
        <p:nvPicPr>
          <p:cNvPr id="4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737360"/>
            <a:ext cx="365760" cy="365760"/>
          </a:xfrm>
          <a:prstGeom prst="rect">
            <a:avLst/>
          </a:prstGeom>
        </p:spPr>
      </p:pic>
      <p:sp>
        <p:nvSpPr>
          <p:cNvPr id="47" name="Text 44"/>
          <p:cNvSpPr/>
          <p:nvPr/>
        </p:nvSpPr>
        <p:spPr>
          <a:xfrm>
            <a:off x="1051560" y="175564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 EDA</a:t>
            </a:r>
            <a:endParaRPr lang="en-US" sz="1500" dirty="0"/>
          </a:p>
        </p:txBody>
      </p:sp>
      <p:sp>
        <p:nvSpPr>
          <p:cNvPr id="48" name="Text 45"/>
          <p:cNvSpPr/>
          <p:nvPr/>
        </p:nvSpPr>
        <p:spPr>
          <a:xfrm>
            <a:off x="1051560" y="205740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NEPSE Stocks</a:t>
            </a:r>
            <a:endParaRPr lang="en-US" sz="1000" dirty="0"/>
          </a:p>
        </p:txBody>
      </p:sp>
      <p:sp>
        <p:nvSpPr>
          <p:cNvPr id="49" name="Shape 46"/>
          <p:cNvSpPr/>
          <p:nvPr/>
        </p:nvSpPr>
        <p:spPr>
          <a:xfrm>
            <a:off x="594360" y="2377440"/>
            <a:ext cx="3611880" cy="0"/>
          </a:xfrm>
          <a:prstGeom prst="line">
            <a:avLst/>
          </a:prstGeom>
          <a:noFill/>
          <a:ln w="12700">
            <a:solidFill>
              <a:srgbClr val="E1E7F0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621792" y="2587752"/>
            <a:ext cx="82296" cy="82296"/>
          </a:xfrm>
          <a:prstGeom prst="rect">
            <a:avLst/>
          </a:prstGeom>
          <a:solidFill>
            <a:srgbClr val="1A8A5F"/>
          </a:solidFill>
          <a:ln w="12700">
            <a:solidFill>
              <a:srgbClr val="1A8A5F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822960" y="251460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did it change over time?</a:t>
            </a:r>
            <a:endParaRPr lang="en-US" sz="1050" dirty="0"/>
          </a:p>
        </p:txBody>
      </p:sp>
      <p:sp>
        <p:nvSpPr>
          <p:cNvPr id="52" name="Shape 49"/>
          <p:cNvSpPr/>
          <p:nvPr/>
        </p:nvSpPr>
        <p:spPr>
          <a:xfrm>
            <a:off x="621792" y="3063240"/>
            <a:ext cx="82296" cy="82296"/>
          </a:xfrm>
          <a:prstGeom prst="rect">
            <a:avLst/>
          </a:prstGeom>
          <a:solidFill>
            <a:srgbClr val="1A8A5F"/>
          </a:solidFill>
          <a:ln w="12700">
            <a:solidFill>
              <a:srgbClr val="1A8A5F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822960" y="299008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Trends &amp; moving averages</a:t>
            </a:r>
            <a:endParaRPr lang="en-US" sz="1050" dirty="0"/>
          </a:p>
        </p:txBody>
      </p:sp>
      <p:sp>
        <p:nvSpPr>
          <p:cNvPr id="54" name="Shape 51"/>
          <p:cNvSpPr/>
          <p:nvPr/>
        </p:nvSpPr>
        <p:spPr>
          <a:xfrm>
            <a:off x="621792" y="3538728"/>
            <a:ext cx="82296" cy="82296"/>
          </a:xfrm>
          <a:prstGeom prst="rect">
            <a:avLst/>
          </a:prstGeom>
          <a:solidFill>
            <a:srgbClr val="1A8A5F"/>
          </a:solidFill>
          <a:ln w="12700">
            <a:solidFill>
              <a:srgbClr val="1A8A5F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822960" y="3465576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Volatility &amp; daily returns</a:t>
            </a:r>
            <a:endParaRPr lang="en-US" sz="1050" dirty="0"/>
          </a:p>
        </p:txBody>
      </p:sp>
      <p:sp>
        <p:nvSpPr>
          <p:cNvPr id="56" name="Shape 53"/>
          <p:cNvSpPr/>
          <p:nvPr/>
        </p:nvSpPr>
        <p:spPr>
          <a:xfrm>
            <a:off x="621792" y="4014216"/>
            <a:ext cx="82296" cy="82296"/>
          </a:xfrm>
          <a:prstGeom prst="rect">
            <a:avLst/>
          </a:prstGeom>
          <a:solidFill>
            <a:srgbClr val="1A8A5F"/>
          </a:solidFill>
          <a:ln w="12700">
            <a:solidFill>
              <a:srgbClr val="1A8A5F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822960" y="3941064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stocks move together?</a:t>
            </a:r>
            <a:endParaRPr lang="en-US" sz="1050" dirty="0"/>
          </a:p>
        </p:txBody>
      </p:sp>
      <p:sp>
        <p:nvSpPr>
          <p:cNvPr id="58" name="Shape 55"/>
          <p:cNvSpPr/>
          <p:nvPr/>
        </p:nvSpPr>
        <p:spPr>
          <a:xfrm>
            <a:off x="4663440" y="1554480"/>
            <a:ext cx="411480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59" name="Shape 56"/>
          <p:cNvSpPr/>
          <p:nvPr/>
        </p:nvSpPr>
        <p:spPr>
          <a:xfrm>
            <a:off x="4663440" y="1554480"/>
            <a:ext cx="54864" cy="3017520"/>
          </a:xfrm>
          <a:prstGeom prst="rect">
            <a:avLst/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pic>
        <p:nvPicPr>
          <p:cNvPr id="6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1737360"/>
            <a:ext cx="365760" cy="365760"/>
          </a:xfrm>
          <a:prstGeom prst="rect">
            <a:avLst/>
          </a:prstGeom>
        </p:spPr>
      </p:pic>
      <p:sp>
        <p:nvSpPr>
          <p:cNvPr id="61" name="Text 57"/>
          <p:cNvSpPr/>
          <p:nvPr/>
        </p:nvSpPr>
        <p:spPr>
          <a:xfrm>
            <a:off x="5349240" y="175564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B4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Feature-Relationship EDA</a:t>
            </a:r>
            <a:endParaRPr lang="en-US" sz="1500" dirty="0"/>
          </a:p>
        </p:txBody>
      </p:sp>
      <p:sp>
        <p:nvSpPr>
          <p:cNvPr id="62" name="Text 58"/>
          <p:cNvSpPr/>
          <p:nvPr/>
        </p:nvSpPr>
        <p:spPr>
          <a:xfrm>
            <a:off x="5349240" y="205740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Prices</a:t>
            </a:r>
            <a:endParaRPr lang="en-US" sz="1000" dirty="0"/>
          </a:p>
        </p:txBody>
      </p:sp>
      <p:sp>
        <p:nvSpPr>
          <p:cNvPr id="63" name="Shape 59"/>
          <p:cNvSpPr/>
          <p:nvPr/>
        </p:nvSpPr>
        <p:spPr>
          <a:xfrm>
            <a:off x="4892040" y="2377440"/>
            <a:ext cx="3611880" cy="0"/>
          </a:xfrm>
          <a:prstGeom prst="line">
            <a:avLst/>
          </a:prstGeom>
          <a:noFill/>
          <a:ln w="12700">
            <a:solidFill>
              <a:srgbClr val="E1E7F0"/>
            </a:solidFill>
            <a:prstDash val="solid"/>
          </a:ln>
        </p:spPr>
      </p:sp>
      <p:sp>
        <p:nvSpPr>
          <p:cNvPr id="64" name="Shape 60"/>
          <p:cNvSpPr/>
          <p:nvPr/>
        </p:nvSpPr>
        <p:spPr>
          <a:xfrm>
            <a:off x="4919472" y="2587752"/>
            <a:ext cx="82296" cy="82296"/>
          </a:xfrm>
          <a:prstGeom prst="rect">
            <a:avLst/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65" name="Text 61"/>
          <p:cNvSpPr/>
          <p:nvPr/>
        </p:nvSpPr>
        <p:spPr>
          <a:xfrm>
            <a:off x="5120640" y="251460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features predict target?</a:t>
            </a:r>
            <a:endParaRPr lang="en-US" sz="1050" dirty="0"/>
          </a:p>
        </p:txBody>
      </p:sp>
      <p:sp>
        <p:nvSpPr>
          <p:cNvPr id="66" name="Shape 62"/>
          <p:cNvSpPr/>
          <p:nvPr/>
        </p:nvSpPr>
        <p:spPr>
          <a:xfrm>
            <a:off x="4919472" y="3063240"/>
            <a:ext cx="82296" cy="82296"/>
          </a:xfrm>
          <a:prstGeom prst="rect">
            <a:avLst/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67" name="Text 63"/>
          <p:cNvSpPr/>
          <p:nvPr/>
        </p:nvSpPr>
        <p:spPr>
          <a:xfrm>
            <a:off x="5120640" y="299008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heatmaps</a:t>
            </a:r>
            <a:endParaRPr lang="en-US" sz="1050" dirty="0"/>
          </a:p>
        </p:txBody>
      </p:sp>
      <p:sp>
        <p:nvSpPr>
          <p:cNvPr id="68" name="Shape 64"/>
          <p:cNvSpPr/>
          <p:nvPr/>
        </p:nvSpPr>
        <p:spPr>
          <a:xfrm>
            <a:off x="4919472" y="3538728"/>
            <a:ext cx="82296" cy="82296"/>
          </a:xfrm>
          <a:prstGeom prst="rect">
            <a:avLst/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69" name="Text 65"/>
          <p:cNvSpPr/>
          <p:nvPr/>
        </p:nvSpPr>
        <p:spPr>
          <a:xfrm>
            <a:off x="5120640" y="3465576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detection (IQR)</a:t>
            </a:r>
            <a:endParaRPr lang="en-US" sz="1050" dirty="0"/>
          </a:p>
        </p:txBody>
      </p:sp>
      <p:sp>
        <p:nvSpPr>
          <p:cNvPr id="70" name="Shape 66"/>
          <p:cNvSpPr/>
          <p:nvPr/>
        </p:nvSpPr>
        <p:spPr>
          <a:xfrm>
            <a:off x="4919472" y="4014216"/>
            <a:ext cx="82296" cy="82296"/>
          </a:xfrm>
          <a:prstGeom prst="rect">
            <a:avLst/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71" name="Text 67"/>
          <p:cNvSpPr/>
          <p:nvPr/>
        </p:nvSpPr>
        <p:spPr>
          <a:xfrm>
            <a:off x="5120640" y="3941064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 strategies</a:t>
            </a:r>
            <a:endParaRPr lang="en-US" sz="1050" dirty="0"/>
          </a:p>
        </p:txBody>
      </p:sp>
      <p:sp>
        <p:nvSpPr>
          <p:cNvPr id="72" name="Text 68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27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945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233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494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782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657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7548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27432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TOOLS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&amp; seaborn</a:t>
            </a:r>
            <a:endParaRPr lang="en-US" sz="2600" dirty="0"/>
          </a:p>
        </p:txBody>
      </p:sp>
      <p:sp>
        <p:nvSpPr>
          <p:cNvPr id="42" name="Shape 40"/>
          <p:cNvSpPr/>
          <p:nvPr/>
        </p:nvSpPr>
        <p:spPr>
          <a:xfrm>
            <a:off x="457200" y="1024128"/>
            <a:ext cx="8229600" cy="0"/>
          </a:xfrm>
          <a:prstGeom prst="line">
            <a:avLst/>
          </a:prstGeom>
          <a:noFill/>
          <a:ln w="12700">
            <a:solidFill>
              <a:srgbClr val="E1E7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1170432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— anatomy of a plot: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365760" y="1426464"/>
            <a:ext cx="4206240" cy="2606040"/>
          </a:xfrm>
          <a:prstGeom prst="rect">
            <a:avLst/>
          </a:prstGeom>
          <a:solidFill>
            <a:srgbClr val="EEF1F8"/>
          </a:solidFill>
          <a:ln w="12700">
            <a:solidFill>
              <a:srgbClr val="D3DAE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30352" y="1536192"/>
            <a:ext cx="3877056" cy="2386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matplotlib.pyplot as plt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plt.figure(figsize=(12, 5))   # canvas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plt.plot(x, y)                 # data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plt.title("NABIL Close")       # title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plt.xlabel("Date")             # x label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plt.ylabel("Price (NPR)")      # y label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plt.legend(["NABIL"])          # legend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plt.grid(True, alpha=0.3)      # gridlines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plt.show()                      # render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754880" y="1170432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seaborn — beautiful defaults: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754880" y="1426464"/>
            <a:ext cx="4023360" cy="2606040"/>
          </a:xfrm>
          <a:prstGeom prst="rect">
            <a:avLst/>
          </a:prstGeom>
          <a:solidFill>
            <a:srgbClr val="EEF1F8"/>
          </a:solidFill>
          <a:ln w="12700">
            <a:solidFill>
              <a:srgbClr val="D3DAE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919472" y="1536192"/>
            <a:ext cx="3694176" cy="2386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seaborn as sns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Correlation heatmap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sns.heatmap(corr, annot=True,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cmap='coolwarm')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Outlier detection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sns.boxplot(data=df, y='SalePrice')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Distribution + smooth curve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sns.histplot(df['Close'], kde=True)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All pairwise relationships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sns.pairplot(df[top_features])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365760" y="4206240"/>
            <a:ext cx="8412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365760" y="4206240"/>
            <a:ext cx="54864" cy="548640"/>
          </a:xfrm>
          <a:prstGeom prst="rect">
            <a:avLst/>
          </a:prstGeom>
          <a:solidFill>
            <a:srgbClr val="B8720A"/>
          </a:solidFill>
          <a:ln w="12700">
            <a:solidFill>
              <a:srgbClr val="B8720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48640" y="429768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87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storytelling: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2286000" y="4297680"/>
            <a:ext cx="6355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chart should answer a QUESTION at a glance. Always title it, label both axes, use colour meaningfully.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945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233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494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782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657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7548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27432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LOADING DATA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Ways to Load Your Data</a:t>
            </a:r>
            <a:endParaRPr lang="en-US" sz="2400" dirty="0"/>
          </a:p>
        </p:txBody>
      </p:sp>
      <p:sp>
        <p:nvSpPr>
          <p:cNvPr id="42" name="Text 40"/>
          <p:cNvSpPr/>
          <p:nvPr/>
        </p:nvSpPr>
        <p:spPr>
          <a:xfrm>
            <a:off x="457200" y="10058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both — quick uploads for one-offs, remote loading for real projects.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57200" y="1307592"/>
            <a:ext cx="8229600" cy="0"/>
          </a:xfrm>
          <a:prstGeom prst="line">
            <a:avLst/>
          </a:prstGeom>
          <a:noFill/>
          <a:ln w="12700">
            <a:solidFill>
              <a:srgbClr val="E1E7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65760" y="1444752"/>
            <a:ext cx="41148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365760" y="1444752"/>
            <a:ext cx="54864" cy="3200400"/>
          </a:xfrm>
          <a:prstGeom prst="rect">
            <a:avLst/>
          </a:prstGeom>
          <a:solidFill>
            <a:srgbClr val="0E7C9E"/>
          </a:solidFill>
          <a:ln w="12700">
            <a:solidFill>
              <a:srgbClr val="0E7C9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48640" y="15544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7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1 — Upload to Colab</a:t>
            </a:r>
            <a:endParaRPr lang="en-US" sz="1250" dirty="0"/>
          </a:p>
        </p:txBody>
      </p:sp>
      <p:sp>
        <p:nvSpPr>
          <p:cNvPr id="47" name="Shape 45"/>
          <p:cNvSpPr/>
          <p:nvPr/>
        </p:nvSpPr>
        <p:spPr>
          <a:xfrm>
            <a:off x="548640" y="1874520"/>
            <a:ext cx="3749040" cy="1691640"/>
          </a:xfrm>
          <a:prstGeom prst="rect">
            <a:avLst/>
          </a:prstGeom>
          <a:solidFill>
            <a:srgbClr val="EEF1F8"/>
          </a:solidFill>
          <a:ln w="12700">
            <a:solidFill>
              <a:srgbClr val="D3DAE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13232" y="1984248"/>
            <a:ext cx="3419856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google.colab import files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uploaded = files.upload()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file picker opens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pandas as pd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nabil = pd.read_csv("NABIL.csv")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Or drag-drop into the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file panel (left sidebar)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48640" y="365760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Quick, but files vanish on runtime reset — re-upload each session.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663440" y="1444752"/>
            <a:ext cx="41148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4663440" y="1444752"/>
            <a:ext cx="54864" cy="3200400"/>
          </a:xfrm>
          <a:prstGeom prst="rect">
            <a:avLst/>
          </a:prstGeom>
          <a:solidFill>
            <a:srgbClr val="1A8A5F"/>
          </a:solidFill>
          <a:ln w="12700">
            <a:solidFill>
              <a:srgbClr val="1A8A5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846320" y="15544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2 — GitHub / Drive</a:t>
            </a:r>
            <a:endParaRPr lang="en-US" sz="1250" dirty="0"/>
          </a:p>
        </p:txBody>
      </p:sp>
      <p:sp>
        <p:nvSpPr>
          <p:cNvPr id="53" name="Shape 51"/>
          <p:cNvSpPr/>
          <p:nvPr/>
        </p:nvSpPr>
        <p:spPr>
          <a:xfrm>
            <a:off x="4846320" y="1874520"/>
            <a:ext cx="3749040" cy="1691640"/>
          </a:xfrm>
          <a:prstGeom prst="rect">
            <a:avLst/>
          </a:prstGeom>
          <a:solidFill>
            <a:srgbClr val="EEF1F8"/>
          </a:solidFill>
          <a:ln w="12700">
            <a:solidFill>
              <a:srgbClr val="D3DAE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010912" y="1984248"/>
            <a:ext cx="3419856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From GitHub raw URL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url = "https://raw.githubusercontent" \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".com/USER/REPO/main/NABIL.csv"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nabil = pd.read_csv(url)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From Google Drive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google.colab import drive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drive.mount('/content/drive')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nabil = pd.read_csv(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"/content/drive/MyDrive/NABIL.csv")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4846320" y="365760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Persists across sessions, reproducible, works for teammates. The pro way.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27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945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233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494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782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657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7548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8A5F"/>
          </a:solidFill>
          <a:ln w="12700">
            <a:solidFill>
              <a:srgbClr val="1A8A5F"/>
            </a:solidFill>
            <a:prstDash val="solid"/>
          </a:ln>
        </p:spPr>
      </p:sp>
      <p:pic>
        <p:nvPicPr>
          <p:cNvPr id="4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420624" cy="420624"/>
          </a:xfrm>
          <a:prstGeom prst="rect">
            <a:avLst/>
          </a:prstGeom>
        </p:spPr>
      </p:pic>
      <p:sp>
        <p:nvSpPr>
          <p:cNvPr id="42" name="Text 39"/>
          <p:cNvSpPr/>
          <p:nvPr/>
        </p:nvSpPr>
        <p:spPr>
          <a:xfrm>
            <a:off x="868680" y="10972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NEPSE Stock EDA</a:t>
            </a:r>
            <a:endParaRPr lang="en-US" sz="2400" dirty="0"/>
          </a:p>
        </p:txBody>
      </p:sp>
      <p:sp>
        <p:nvSpPr>
          <p:cNvPr id="43" name="Text 40"/>
          <p:cNvSpPr/>
          <p:nvPr/>
        </p:nvSpPr>
        <p:spPr>
          <a:xfrm>
            <a:off x="457200" y="91440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DATA FROM YOUR OWN MARKET</a:t>
            </a:r>
            <a:endParaRPr lang="en-US" sz="850" dirty="0"/>
          </a:p>
        </p:txBody>
      </p:sp>
      <p:sp>
        <p:nvSpPr>
          <p:cNvPr id="44" name="Shape 41"/>
          <p:cNvSpPr/>
          <p:nvPr/>
        </p:nvSpPr>
        <p:spPr>
          <a:xfrm>
            <a:off x="457200" y="1115568"/>
            <a:ext cx="8229600" cy="0"/>
          </a:xfrm>
          <a:prstGeom prst="line">
            <a:avLst/>
          </a:prstGeom>
          <a:noFill/>
          <a:ln w="12700">
            <a:solidFill>
              <a:srgbClr val="E1E7F0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365760" y="12618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companies, three sectors, one year of daily prices: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365760" y="1554480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47" name="Shape 44"/>
          <p:cNvSpPr/>
          <p:nvPr/>
        </p:nvSpPr>
        <p:spPr>
          <a:xfrm>
            <a:off x="365760" y="1554480"/>
            <a:ext cx="54864" cy="1828800"/>
          </a:xfrm>
          <a:prstGeom prst="rect">
            <a:avLst/>
          </a:prstGeom>
          <a:solidFill>
            <a:srgbClr val="2C4870"/>
          </a:solidFill>
          <a:ln w="12700">
            <a:solidFill>
              <a:srgbClr val="2C4870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548640" y="16916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NABIL</a:t>
            </a:r>
            <a:endParaRPr lang="en-US" sz="2000" dirty="0"/>
          </a:p>
        </p:txBody>
      </p:sp>
      <p:sp>
        <p:nvSpPr>
          <p:cNvPr id="49" name="Text 46"/>
          <p:cNvSpPr/>
          <p:nvPr/>
        </p:nvSpPr>
        <p:spPr>
          <a:xfrm>
            <a:off x="548640" y="210312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Nabil Bank</a:t>
            </a:r>
            <a:endParaRPr lang="en-US" sz="1050" dirty="0"/>
          </a:p>
        </p:txBody>
      </p:sp>
      <p:sp>
        <p:nvSpPr>
          <p:cNvPr id="50" name="Shape 47"/>
          <p:cNvSpPr/>
          <p:nvPr/>
        </p:nvSpPr>
        <p:spPr>
          <a:xfrm>
            <a:off x="548640" y="2395728"/>
            <a:ext cx="694944" cy="219456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2700">
            <a:solidFill>
              <a:srgbClr val="2C4870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548640" y="2404872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</a:t>
            </a:r>
            <a:endParaRPr lang="en-US" sz="800" dirty="0"/>
          </a:p>
        </p:txBody>
      </p:sp>
      <p:sp>
        <p:nvSpPr>
          <p:cNvPr id="52" name="Text 49"/>
          <p:cNvSpPr/>
          <p:nvPr/>
        </p:nvSpPr>
        <p:spPr>
          <a:xfrm>
            <a:off x="548640" y="27432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liquid — trades every day</a:t>
            </a:r>
            <a:endParaRPr lang="en-US" sz="900" dirty="0"/>
          </a:p>
        </p:txBody>
      </p:sp>
      <p:sp>
        <p:nvSpPr>
          <p:cNvPr id="53" name="Shape 50"/>
          <p:cNvSpPr/>
          <p:nvPr/>
        </p:nvSpPr>
        <p:spPr>
          <a:xfrm>
            <a:off x="3227832" y="1554480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54" name="Shape 51"/>
          <p:cNvSpPr/>
          <p:nvPr/>
        </p:nvSpPr>
        <p:spPr>
          <a:xfrm>
            <a:off x="3227832" y="1554480"/>
            <a:ext cx="54864" cy="1828800"/>
          </a:xfrm>
          <a:prstGeom prst="rect">
            <a:avLst/>
          </a:prstGeom>
          <a:solidFill>
            <a:srgbClr val="0E7C9E"/>
          </a:solidFill>
          <a:ln w="12700">
            <a:solidFill>
              <a:srgbClr val="0E7C9E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3410712" y="16916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E7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NLIC</a:t>
            </a:r>
            <a:endParaRPr lang="en-US" sz="2000" dirty="0"/>
          </a:p>
        </p:txBody>
      </p:sp>
      <p:sp>
        <p:nvSpPr>
          <p:cNvPr id="56" name="Text 53"/>
          <p:cNvSpPr/>
          <p:nvPr/>
        </p:nvSpPr>
        <p:spPr>
          <a:xfrm>
            <a:off x="3410712" y="210312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Nepal Life Insurance</a:t>
            </a:r>
            <a:endParaRPr lang="en-US" sz="1050" dirty="0"/>
          </a:p>
        </p:txBody>
      </p:sp>
      <p:sp>
        <p:nvSpPr>
          <p:cNvPr id="57" name="Shape 54"/>
          <p:cNvSpPr/>
          <p:nvPr/>
        </p:nvSpPr>
        <p:spPr>
          <a:xfrm>
            <a:off x="3410712" y="2395728"/>
            <a:ext cx="841248" cy="219456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2700">
            <a:solidFill>
              <a:srgbClr val="0E7C9E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3410712" y="2404872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E7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</a:t>
            </a:r>
            <a:endParaRPr lang="en-US" sz="800" dirty="0"/>
          </a:p>
        </p:txBody>
      </p:sp>
      <p:sp>
        <p:nvSpPr>
          <p:cNvPr id="59" name="Text 56"/>
          <p:cNvSpPr/>
          <p:nvPr/>
        </p:nvSpPr>
        <p:spPr>
          <a:xfrm>
            <a:off x="3410712" y="27432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liquid — ~102 no-trade days</a:t>
            </a:r>
            <a:endParaRPr lang="en-US" sz="900" dirty="0"/>
          </a:p>
        </p:txBody>
      </p:sp>
      <p:sp>
        <p:nvSpPr>
          <p:cNvPr id="60" name="Shape 57"/>
          <p:cNvSpPr/>
          <p:nvPr/>
        </p:nvSpPr>
        <p:spPr>
          <a:xfrm>
            <a:off x="6089904" y="1554480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61" name="Shape 58"/>
          <p:cNvSpPr/>
          <p:nvPr/>
        </p:nvSpPr>
        <p:spPr>
          <a:xfrm>
            <a:off x="6089904" y="1554480"/>
            <a:ext cx="54864" cy="1828800"/>
          </a:xfrm>
          <a:prstGeom prst="rect">
            <a:avLst/>
          </a:prstGeom>
          <a:solidFill>
            <a:srgbClr val="B8720A"/>
          </a:solidFill>
          <a:ln w="12700">
            <a:solidFill>
              <a:srgbClr val="B8720A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6272784" y="16916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B87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NTC</a:t>
            </a:r>
            <a:endParaRPr lang="en-US" sz="2000" dirty="0"/>
          </a:p>
        </p:txBody>
      </p:sp>
      <p:sp>
        <p:nvSpPr>
          <p:cNvPr id="63" name="Text 60"/>
          <p:cNvSpPr/>
          <p:nvPr/>
        </p:nvSpPr>
        <p:spPr>
          <a:xfrm>
            <a:off x="6272784" y="210312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Nepal Telecom</a:t>
            </a:r>
            <a:endParaRPr lang="en-US" sz="1050" dirty="0"/>
          </a:p>
        </p:txBody>
      </p:sp>
      <p:sp>
        <p:nvSpPr>
          <p:cNvPr id="64" name="Shape 61"/>
          <p:cNvSpPr/>
          <p:nvPr/>
        </p:nvSpPr>
        <p:spPr>
          <a:xfrm>
            <a:off x="6272784" y="2395728"/>
            <a:ext cx="694944" cy="219456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2700">
            <a:solidFill>
              <a:srgbClr val="B8720A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6272784" y="2404872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B87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</a:t>
            </a:r>
            <a:endParaRPr lang="en-US" sz="800" dirty="0"/>
          </a:p>
        </p:txBody>
      </p:sp>
      <p:sp>
        <p:nvSpPr>
          <p:cNvPr id="66" name="Text 63"/>
          <p:cNvSpPr/>
          <p:nvPr/>
        </p:nvSpPr>
        <p:spPr>
          <a:xfrm>
            <a:off x="6272784" y="27432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chip — stable large-cap</a:t>
            </a:r>
            <a:endParaRPr lang="en-US" sz="900" dirty="0"/>
          </a:p>
        </p:txBody>
      </p:sp>
      <p:sp>
        <p:nvSpPr>
          <p:cNvPr id="67" name="Shape 64"/>
          <p:cNvSpPr/>
          <p:nvPr/>
        </p:nvSpPr>
        <p:spPr>
          <a:xfrm>
            <a:off x="365760" y="3566160"/>
            <a:ext cx="84124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68" name="Shape 65"/>
          <p:cNvSpPr/>
          <p:nvPr/>
        </p:nvSpPr>
        <p:spPr>
          <a:xfrm>
            <a:off x="365760" y="3566160"/>
            <a:ext cx="54864" cy="1097280"/>
          </a:xfrm>
          <a:prstGeom prst="rect">
            <a:avLst/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548640" y="365760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4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8-step stock analysis:</a:t>
            </a:r>
            <a:endParaRPr lang="en-US" sz="1100" dirty="0"/>
          </a:p>
        </p:txBody>
      </p:sp>
      <p:sp>
        <p:nvSpPr>
          <p:cNvPr id="70" name="Text 67"/>
          <p:cNvSpPr/>
          <p:nvPr/>
        </p:nvSpPr>
        <p:spPr>
          <a:xfrm>
            <a:off x="548640" y="393192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&amp; inspect  →  Clean (commas, %, dashes)  →  Price trend  →  Daily returns  →  Moving averages  →  Volatility  →  Compare 3 stocks  →  Export for Day 10</a:t>
            </a:r>
            <a:endParaRPr lang="en-US" sz="1000" dirty="0"/>
          </a:p>
        </p:txBody>
      </p:sp>
      <p:sp>
        <p:nvSpPr>
          <p:cNvPr id="71" name="Text 68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27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945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233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494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782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657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7548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27432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NEPSE — STEP 1 &amp; 2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&amp; Clean the Data</a:t>
            </a:r>
            <a:endParaRPr lang="en-US" sz="2300" dirty="0"/>
          </a:p>
        </p:txBody>
      </p:sp>
      <p:sp>
        <p:nvSpPr>
          <p:cNvPr id="42" name="Text 40"/>
          <p:cNvSpPr/>
          <p:nvPr/>
        </p:nvSpPr>
        <p:spPr>
          <a:xfrm>
            <a:off x="457200" y="9601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important skill today: raw stock data is messy. Cleaning IS the job.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57200" y="1207008"/>
            <a:ext cx="8229600" cy="0"/>
          </a:xfrm>
          <a:prstGeom prst="line">
            <a:avLst/>
          </a:prstGeom>
          <a:noFill/>
          <a:ln w="12700">
            <a:solidFill>
              <a:srgbClr val="E1E7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65760" y="1325880"/>
            <a:ext cx="8412480" cy="2743200"/>
          </a:xfrm>
          <a:prstGeom prst="rect">
            <a:avLst/>
          </a:prstGeom>
          <a:solidFill>
            <a:srgbClr val="EEF1F8"/>
          </a:solidFill>
          <a:ln w="12700">
            <a:solidFill>
              <a:srgbClr val="D3DAE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30352" y="1309878"/>
            <a:ext cx="8083296" cy="2523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pandas as pd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numpy as np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nabil = pd.read_csv("NABIL.csv")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nabil.dtypes   # Volume &amp; Percent Change are STRINGS — can't do math!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Date -&gt; datetime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nabil['Date'] = pd.to_datetime(nabil['Date'])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Volume: handle "-" (no-trade days), remove commas, to number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nabil['Volume'] = nabil['Volume'].replace('-', np.nan)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nabil['Volume'] = nabil['Volume'].str.replace(',', '', regex=False).astype(float)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Percent Change: strip the "%" sign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nabil['Percent Change'] = (nabil['Percent Change']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.str.replace('%', '', regex=False).str.strip().astype(float))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4. Drop useless columns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nabil = nabil.drop(columns=['Symbol', 'Turn Over'])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5. Sort oldest-first (export is newest-first!) and reset index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nabil = nabil.sort_values('Date').reset_index(drop=True)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nabil.dtypes   # verify — everything numeric now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393192" y="4237189"/>
            <a:ext cx="8412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365760" y="4227342"/>
            <a:ext cx="54864" cy="548640"/>
          </a:xfrm>
          <a:prstGeom prst="rect">
            <a:avLst/>
          </a:prstGeom>
          <a:solidFill>
            <a:srgbClr val="B8720A"/>
          </a:solidFill>
          <a:ln w="12700">
            <a:solidFill>
              <a:srgbClr val="B8720A"/>
            </a:solidFill>
            <a:prstDash val="solid"/>
          </a:ln>
        </p:spPr>
      </p:sp>
      <p:pic>
        <p:nvPicPr>
          <p:cNvPr id="4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315968"/>
            <a:ext cx="237744" cy="237744"/>
          </a:xfrm>
          <a:prstGeom prst="rect">
            <a:avLst/>
          </a:prstGeom>
        </p:spPr>
      </p:pic>
      <p:sp>
        <p:nvSpPr>
          <p:cNvPr id="49" name="Text 46"/>
          <p:cNvSpPr/>
          <p:nvPr/>
        </p:nvSpPr>
        <p:spPr>
          <a:xfrm>
            <a:off x="868680" y="42976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verify with .dtypes AFTER cleaning. Trust nothing — real data hides surprises.</a:t>
            </a:r>
            <a:endParaRPr lang="en-US" sz="1050" dirty="0"/>
          </a:p>
        </p:txBody>
      </p:sp>
      <p:sp>
        <p:nvSpPr>
          <p:cNvPr id="50" name="Text 47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27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945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233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494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782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657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7548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27432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NEPSE — DATA QUALITY LESSON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NLIC Surprise</a:t>
            </a:r>
            <a:endParaRPr lang="en-US" sz="2600" dirty="0"/>
          </a:p>
        </p:txBody>
      </p:sp>
      <p:sp>
        <p:nvSpPr>
          <p:cNvPr id="42" name="Text 40"/>
          <p:cNvSpPr/>
          <p:nvPr/>
        </p:nvSpPr>
        <p:spPr>
          <a:xfrm>
            <a:off x="457200" y="10332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clean NLIC, something looks very different from NABIL...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57200" y="1335024"/>
            <a:ext cx="8229600" cy="0"/>
          </a:xfrm>
          <a:prstGeom prst="line">
            <a:avLst/>
          </a:prstGeom>
          <a:noFill/>
          <a:ln w="12700">
            <a:solidFill>
              <a:srgbClr val="E1E7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65760" y="1508760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365760" y="1508760"/>
            <a:ext cx="54864" cy="658368"/>
          </a:xfrm>
          <a:prstGeom prst="rect">
            <a:avLst/>
          </a:prstGeom>
          <a:solidFill>
            <a:srgbClr val="1A8A5F"/>
          </a:solidFill>
          <a:ln w="12700">
            <a:solidFill>
              <a:srgbClr val="1A8A5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94360" y="169164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NABIL</a:t>
            </a:r>
            <a:endParaRPr lang="en-US" sz="1500" dirty="0"/>
          </a:p>
        </p:txBody>
      </p:sp>
      <p:sp>
        <p:nvSpPr>
          <p:cNvPr id="47" name="Text 45"/>
          <p:cNvSpPr/>
          <p:nvPr/>
        </p:nvSpPr>
        <p:spPr>
          <a:xfrm>
            <a:off x="2194560" y="1627632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200" dirty="0"/>
          </a:p>
        </p:txBody>
      </p:sp>
      <p:sp>
        <p:nvSpPr>
          <p:cNvPr id="48" name="Text 46"/>
          <p:cNvSpPr/>
          <p:nvPr/>
        </p:nvSpPr>
        <p:spPr>
          <a:xfrm>
            <a:off x="3337560" y="1746504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volume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846320" y="174650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223 days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6126480" y="171907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Trades every single day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365760" y="2286000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365760" y="2286000"/>
            <a:ext cx="54864" cy="658368"/>
          </a:xfrm>
          <a:prstGeom prst="rect">
            <a:avLst/>
          </a:prstGeom>
          <a:solidFill>
            <a:srgbClr val="1A8A5F"/>
          </a:solidFill>
          <a:ln w="12700">
            <a:solidFill>
              <a:srgbClr val="1A8A5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94360" y="246888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NTC</a:t>
            </a:r>
            <a:endParaRPr lang="en-US" sz="1500" dirty="0"/>
          </a:p>
        </p:txBody>
      </p:sp>
      <p:sp>
        <p:nvSpPr>
          <p:cNvPr id="54" name="Text 52"/>
          <p:cNvSpPr/>
          <p:nvPr/>
        </p:nvSpPr>
        <p:spPr>
          <a:xfrm>
            <a:off x="2194560" y="2404872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200" dirty="0"/>
          </a:p>
        </p:txBody>
      </p:sp>
      <p:sp>
        <p:nvSpPr>
          <p:cNvPr id="55" name="Text 53"/>
          <p:cNvSpPr/>
          <p:nvPr/>
        </p:nvSpPr>
        <p:spPr>
          <a:xfrm>
            <a:off x="3337560" y="2523744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volume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4846320" y="252374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224 days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6126480" y="249631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Trades every single day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365760" y="3063240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365760" y="3063240"/>
            <a:ext cx="54864" cy="658368"/>
          </a:xfrm>
          <a:prstGeom prst="rect">
            <a:avLst/>
          </a:prstGeom>
          <a:solidFill>
            <a:srgbClr val="C13A3A"/>
          </a:solidFill>
          <a:ln w="12700">
            <a:solidFill>
              <a:srgbClr val="C13A3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94360" y="324612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1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NLIC</a:t>
            </a:r>
            <a:endParaRPr lang="en-US" sz="1500" dirty="0"/>
          </a:p>
        </p:txBody>
      </p:sp>
      <p:sp>
        <p:nvSpPr>
          <p:cNvPr id="61" name="Text 59"/>
          <p:cNvSpPr/>
          <p:nvPr/>
        </p:nvSpPr>
        <p:spPr>
          <a:xfrm>
            <a:off x="2194560" y="3182112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1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</a:t>
            </a:r>
            <a:endParaRPr lang="en-US" sz="2200" dirty="0"/>
          </a:p>
        </p:txBody>
      </p:sp>
      <p:sp>
        <p:nvSpPr>
          <p:cNvPr id="62" name="Text 60"/>
          <p:cNvSpPr/>
          <p:nvPr/>
        </p:nvSpPr>
        <p:spPr>
          <a:xfrm>
            <a:off x="3337560" y="3300984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volume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4846320" y="330098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224 days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6126480" y="327355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HALF the year — no trades!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365760" y="3931920"/>
            <a:ext cx="84124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365760" y="3931920"/>
            <a:ext cx="54864" cy="777240"/>
          </a:xfrm>
          <a:prstGeom prst="rect">
            <a:avLst/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48640" y="402336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4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real market insight from data cleaning: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548640" y="427939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NLIC is a LESS LIQUID stock — it doesn't trade every day. That's not a data error; it's a genuine fact about the company that fell out of cleaning. Let students discover it themselves.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27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945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233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494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782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657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7548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27432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NEPSE — STEP 3 &amp; 4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Trend &amp; Daily Returns</a:t>
            </a:r>
            <a:endParaRPr lang="en-US" sz="2300" dirty="0"/>
          </a:p>
        </p:txBody>
      </p:sp>
      <p:sp>
        <p:nvSpPr>
          <p:cNvPr id="42" name="Text 40"/>
          <p:cNvSpPr/>
          <p:nvPr/>
        </p:nvSpPr>
        <p:spPr>
          <a:xfrm>
            <a:off x="457200" y="9601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chart tells a story 223 rows of numbers never could.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57200" y="1207008"/>
            <a:ext cx="8229600" cy="0"/>
          </a:xfrm>
          <a:prstGeom prst="line">
            <a:avLst/>
          </a:prstGeom>
          <a:noFill/>
          <a:ln w="12700">
            <a:solidFill>
              <a:srgbClr val="E1E7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65760" y="1325880"/>
            <a:ext cx="5486400" cy="2697480"/>
          </a:xfrm>
          <a:prstGeom prst="rect">
            <a:avLst/>
          </a:prstGeom>
          <a:solidFill>
            <a:srgbClr val="EEF1F8"/>
          </a:solidFill>
          <a:ln w="12700">
            <a:solidFill>
              <a:srgbClr val="D3DAE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12065" y="1367028"/>
            <a:ext cx="5157216" cy="2478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Price trend line chart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plt.figure(figsize=(12, 5))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plt.plot(nabil['Date'], nabil['Close'], color='#2C4870')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plt.title("NABIL Bank — Closing Price Over 1 Year")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plt.xlabel("Date"); plt.ylabel("Close (NPR)")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plt.grid(True, alpha=0.3)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plt.show()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Daily returns = % change from previous close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nabil['Daily Return'] = nabil['Close'].pct_change() * 100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sns.histplot(nabil['Daily Return'].dropna(), bins=40, kde=True)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plt.title("Distribution of Daily Returns (%)")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print(f"Best day:  {nabil['Daily Return'].max():.2f}%")   # ~ +8.13%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print(f"Worst day: {nabil['Daily Return'].min():.2f}%")   # ~ -5.88%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989320" y="1325880"/>
            <a:ext cx="27889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5989320" y="1325880"/>
            <a:ext cx="54864" cy="1280160"/>
          </a:xfrm>
          <a:prstGeom prst="rect">
            <a:avLst/>
          </a:prstGeom>
          <a:solidFill>
            <a:srgbClr val="0E7C9E"/>
          </a:solidFill>
          <a:ln w="12700">
            <a:solidFill>
              <a:srgbClr val="0E7C9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172200" y="142646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C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.pct_change()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172200" y="1700784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Pandas method — computes % change from the previous row. Perfect for returns.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5989320" y="2743200"/>
            <a:ext cx="27889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5989320" y="2743200"/>
            <a:ext cx="54864" cy="1280160"/>
          </a:xfrm>
          <a:prstGeom prst="rect">
            <a:avLst/>
          </a:prstGeom>
          <a:solidFill>
            <a:srgbClr val="1A8A5F"/>
          </a:solidFill>
          <a:ln w="12700">
            <a:solidFill>
              <a:srgbClr val="1A8A5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172200" y="284378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see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6172200" y="3118104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cluster around 0 with occasional big swings. This shape is what ALL financial data looks like.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365760" y="4160520"/>
            <a:ext cx="8412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365760" y="4160520"/>
            <a:ext cx="54864" cy="566928"/>
          </a:xfrm>
          <a:prstGeom prst="rect">
            <a:avLst/>
          </a:prstGeom>
          <a:solidFill>
            <a:srgbClr val="2C4870"/>
          </a:solidFill>
          <a:ln w="12700">
            <a:solidFill>
              <a:srgbClr val="2C487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48640" y="41605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NABIL's real 1-year return: +6.1%. Discussion: was it a smooth climb or a bumpy ride?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27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945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233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494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782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657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7548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27432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NEPSE — STEP 5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Averages</a:t>
            </a:r>
            <a:endParaRPr lang="en-US" sz="2300" dirty="0"/>
          </a:p>
        </p:txBody>
      </p:sp>
      <p:sp>
        <p:nvSpPr>
          <p:cNvPr id="42" name="Text 40"/>
          <p:cNvSpPr/>
          <p:nvPr/>
        </p:nvSpPr>
        <p:spPr>
          <a:xfrm>
            <a:off x="457200" y="9601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 out the noise to reveal the trend — a real technical-analysis tool in one line.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57200" y="1207008"/>
            <a:ext cx="8229600" cy="0"/>
          </a:xfrm>
          <a:prstGeom prst="line">
            <a:avLst/>
          </a:prstGeom>
          <a:noFill/>
          <a:ln w="12700">
            <a:solidFill>
              <a:srgbClr val="E1E7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65760" y="1325880"/>
            <a:ext cx="5486400" cy="2423160"/>
          </a:xfrm>
          <a:prstGeom prst="rect">
            <a:avLst/>
          </a:prstGeom>
          <a:solidFill>
            <a:srgbClr val="EEF1F8"/>
          </a:solidFill>
          <a:ln w="12700">
            <a:solidFill>
              <a:srgbClr val="D3DAE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530352" y="1435608"/>
            <a:ext cx="5157216" cy="2203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20-day and 50-day moving averages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nabil['MA20'] = nabil['Close'].rolling(window=20).mean()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nabil['MA50'] = nabil['Close'].rolling(window=50).mean()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plt.figure(figsize=(12, 5))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plt.plot(nabil['Date'], nabil['Close'], label='Close',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alpha=0.5, color='gray')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plt.plot(nabil['Date'], nabil['MA20'], label='20-Day MA', color='#0E7C9E')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plt.plot(nabil['Date'], nabil['MA50'], label='50-Day MA', color='#B8720A')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plt.title("NABIL — Price with Moving Averages")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plt.legend(); plt.grid(True, alpha=0.3)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plt.show()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989320" y="1325880"/>
            <a:ext cx="27889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5989320" y="1325880"/>
            <a:ext cx="54864" cy="1188720"/>
          </a:xfrm>
          <a:prstGeom prst="rect">
            <a:avLst/>
          </a:prstGeom>
          <a:solidFill>
            <a:srgbClr val="0E7C9E"/>
          </a:solidFill>
          <a:ln w="12700">
            <a:solidFill>
              <a:srgbClr val="0E7C9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144768" y="1417320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7C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.rolling(20).mean()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172200" y="1673352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Averages the last 20 days at every point. Smooths noise to show the underlying trend.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5989320" y="2606040"/>
            <a:ext cx="27889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5989320" y="2606040"/>
            <a:ext cx="54864" cy="1143000"/>
          </a:xfrm>
          <a:prstGeom prst="rect">
            <a:avLst/>
          </a:prstGeom>
          <a:solidFill>
            <a:srgbClr val="B8720A"/>
          </a:solidFill>
          <a:ln w="12700">
            <a:solidFill>
              <a:srgbClr val="B8720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172200" y="269748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87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 signal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6172200" y="2944368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MA20 crossing above MA50 = bullish. Crossing below = bearish. Real technical analysis!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365760" y="3886200"/>
            <a:ext cx="84124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365760" y="3886200"/>
            <a:ext cx="54864" cy="822960"/>
          </a:xfrm>
          <a:prstGeom prst="rect">
            <a:avLst/>
          </a:prstGeom>
          <a:solidFill>
            <a:srgbClr val="C13A3A"/>
          </a:solidFill>
          <a:ln w="12700">
            <a:solidFill>
              <a:srgbClr val="C13A3A"/>
            </a:solidFill>
            <a:prstDash val="solid"/>
          </a:ln>
        </p:spPr>
      </p:sp>
      <p:pic>
        <p:nvPicPr>
          <p:cNvPr id="5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023360"/>
            <a:ext cx="237744" cy="237744"/>
          </a:xfrm>
          <a:prstGeom prst="rect">
            <a:avLst/>
          </a:prstGeom>
        </p:spPr>
      </p:pic>
      <p:sp>
        <p:nvSpPr>
          <p:cNvPr id="57" name="Text 54"/>
          <p:cNvSpPr/>
          <p:nvPr/>
        </p:nvSpPr>
        <p:spPr>
          <a:xfrm>
            <a:off x="868680" y="3986784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1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are the first 19 values of MA20 NaN?</a:t>
            </a:r>
            <a:endParaRPr lang="en-US" sz="1100" dirty="0"/>
          </a:p>
        </p:txBody>
      </p:sp>
      <p:sp>
        <p:nvSpPr>
          <p:cNvPr id="58" name="Text 55"/>
          <p:cNvSpPr/>
          <p:nvPr/>
        </p:nvSpPr>
        <p:spPr>
          <a:xfrm>
            <a:off x="868680" y="4261104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you need 20 days of history before you can average 20 days. A great moment to explain rolling windows.</a:t>
            </a:r>
            <a:endParaRPr lang="en-US" sz="1000" dirty="0"/>
          </a:p>
        </p:txBody>
      </p:sp>
      <p:sp>
        <p:nvSpPr>
          <p:cNvPr id="59" name="Text 56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27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945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233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494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782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657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7548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27432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NEPSE — STEP 6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Volatility</a:t>
            </a:r>
            <a:endParaRPr lang="en-US" sz="2300" dirty="0"/>
          </a:p>
        </p:txBody>
      </p:sp>
      <p:sp>
        <p:nvSpPr>
          <p:cNvPr id="42" name="Text 40"/>
          <p:cNvSpPr/>
          <p:nvPr/>
        </p:nvSpPr>
        <p:spPr>
          <a:xfrm>
            <a:off x="457200" y="9601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does the price bounce around? High volatility = high risk.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57200" y="1207008"/>
            <a:ext cx="8229600" cy="0"/>
          </a:xfrm>
          <a:prstGeom prst="line">
            <a:avLst/>
          </a:prstGeom>
          <a:noFill/>
          <a:ln w="12700">
            <a:solidFill>
              <a:srgbClr val="E1E7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65760" y="1325880"/>
            <a:ext cx="8412480" cy="1828800"/>
          </a:xfrm>
          <a:prstGeom prst="rect">
            <a:avLst/>
          </a:prstGeom>
          <a:solidFill>
            <a:srgbClr val="EEF1F8"/>
          </a:solidFill>
          <a:ln w="12700">
            <a:solidFill>
              <a:srgbClr val="D3DAE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30352" y="1435608"/>
            <a:ext cx="8083296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20-day rolling volatility (std of returns)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nabil['Volatility'] = nabil['Daily Return'].rolling(window=20).std()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plt.figure(figsize=(12, 4))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plt.plot(nabil['Date'], nabil['Volatility'], color='#C13A3A')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plt.title("NABIL — 20-Day Rolling Volatility")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plt.xlabel("Date"); plt.ylabel("Volatility (std of returns)")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plt.grid(True, alpha=0.3)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plt.show()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65760" y="3291840"/>
            <a:ext cx="84124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365760" y="3291840"/>
            <a:ext cx="54864" cy="1417320"/>
          </a:xfrm>
          <a:prstGeom prst="rect">
            <a:avLst/>
          </a:prstGeom>
          <a:solidFill>
            <a:srgbClr val="2C4870"/>
          </a:solidFill>
          <a:ln w="12700">
            <a:solidFill>
              <a:srgbClr val="2C487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48640" y="340156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volatility tells you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548640" y="3703320"/>
            <a:ext cx="8046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Volatility = the standard deviation of returns over a rolling window. High volatility means the price swings wildly (risky, exciting). Low volatility means calm, steady movement. Spotting WHEN a stock was most turbulent is key to understanding its risk profile — and it's the same std() you learned on Day 8, just applied over a rolling window.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27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945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233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494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782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657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7548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27432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NEPSE — STEP 7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All Three Stocks</a:t>
            </a:r>
            <a:endParaRPr lang="en-US" sz="2300" dirty="0"/>
          </a:p>
        </p:txBody>
      </p:sp>
      <p:sp>
        <p:nvSpPr>
          <p:cNvPr id="42" name="Text 40"/>
          <p:cNvSpPr/>
          <p:nvPr/>
        </p:nvSpPr>
        <p:spPr>
          <a:xfrm>
            <a:off x="457200" y="9601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cleaning function + normalise to compare fairly.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57200" y="1207008"/>
            <a:ext cx="8229600" cy="0"/>
          </a:xfrm>
          <a:prstGeom prst="line">
            <a:avLst/>
          </a:prstGeom>
          <a:noFill/>
          <a:ln w="12700">
            <a:solidFill>
              <a:srgbClr val="E1E7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65760" y="1325880"/>
            <a:ext cx="5486400" cy="2697480"/>
          </a:xfrm>
          <a:prstGeom prst="rect">
            <a:avLst/>
          </a:prstGeom>
          <a:solidFill>
            <a:srgbClr val="EEF1F8"/>
          </a:solidFill>
          <a:ln w="12700">
            <a:solidFill>
              <a:srgbClr val="D3DAE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9225" y="1499616"/>
            <a:ext cx="5157216" cy="2478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load_and_clean(filename):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"""Reusable — DRY principle from Week 1."""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df = pd.read_csv(filename)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df['Date'] = pd.to_datetime(df['Date'])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df['Volume'] = df['Volume'].replace('-', np.nan)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df['Volume'] = df['Volume'].str.replace(',', '', regex=False).astype(float)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df = df.drop(columns=['Symbol', 'Turn Over'])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df.sort_values('Date').reset_index(drop=True)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nabil = load_and_clean("NABIL.csv")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nlic  = load_and_clean("NLIC.csv")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ntc   = load_and_clean("NTC.csv")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Normalise all to 100 at start — fair % comparison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col in ['NABIL','NLIC','NTC']: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normalised[col] = close[col] / close[col].iloc[0] * 100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989320" y="1325880"/>
            <a:ext cx="27889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5989320" y="1325880"/>
            <a:ext cx="54864" cy="1371600"/>
          </a:xfrm>
          <a:prstGeom prst="rect">
            <a:avLst/>
          </a:prstGeom>
          <a:solidFill>
            <a:srgbClr val="0E7C9E"/>
          </a:solidFill>
          <a:ln w="12700">
            <a:solidFill>
              <a:srgbClr val="0E7C9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172200" y="142646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normalise?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172200" y="1700784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NABIL ~500, NTC ~850, NLIC ~750. Can't compare raw prices. Start all at 100 to compare % growth fairly.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5989320" y="2788920"/>
            <a:ext cx="27889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5989320" y="2788920"/>
            <a:ext cx="54864" cy="1234440"/>
          </a:xfrm>
          <a:prstGeom prst="rect">
            <a:avLst/>
          </a:prstGeom>
          <a:solidFill>
            <a:srgbClr val="1A8A5F"/>
          </a:solidFill>
          <a:ln w="12700">
            <a:solidFill>
              <a:srgbClr val="1A8A5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172200" y="288036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1-Year Results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6172200" y="3145536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NABIL:  +6.1%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NLIC:   +2.3%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NTC:    -0.2%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365760" y="4160520"/>
            <a:ext cx="8412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365760" y="4160520"/>
            <a:ext cx="54864" cy="566928"/>
          </a:xfrm>
          <a:prstGeom prst="rect">
            <a:avLst/>
          </a:prstGeom>
          <a:solidFill>
            <a:srgbClr val="B8720A"/>
          </a:solidFill>
          <a:ln w="12700">
            <a:solidFill>
              <a:srgbClr val="B8720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48640" y="41605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87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 principle from Week 1 pays off: write the cleaning ONCE as a function, reuse it 3 times.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27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945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233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494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782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657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7548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27432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NEPSE — STEP 7 (CONT.)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These Stocks Move Together?</a:t>
            </a:r>
            <a:endParaRPr lang="en-US" sz="2300" dirty="0"/>
          </a:p>
        </p:txBody>
      </p:sp>
      <p:sp>
        <p:nvSpPr>
          <p:cNvPr id="42" name="Text 40"/>
          <p:cNvSpPr/>
          <p:nvPr/>
        </p:nvSpPr>
        <p:spPr>
          <a:xfrm>
            <a:off x="457200" y="9601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correlation heatmap — foundation of portfolio diversification.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57200" y="1207008"/>
            <a:ext cx="8229600" cy="0"/>
          </a:xfrm>
          <a:prstGeom prst="line">
            <a:avLst/>
          </a:prstGeom>
          <a:noFill/>
          <a:ln w="12700">
            <a:solidFill>
              <a:srgbClr val="E1E7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65760" y="1325880"/>
            <a:ext cx="4937760" cy="1554480"/>
          </a:xfrm>
          <a:prstGeom prst="rect">
            <a:avLst/>
          </a:prstGeom>
          <a:solidFill>
            <a:srgbClr val="EEF1F8"/>
          </a:solidFill>
          <a:ln w="12700">
            <a:solidFill>
              <a:srgbClr val="D3DAE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30352" y="1435608"/>
            <a:ext cx="4608576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Correlation of daily returns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returns = close[['NABIL','NLIC','NTC']].pct_change().dropna()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sns.heatmap(returns.corr(), annot=True, cmap='coolwarm',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vmin=-1, vmax=1, center=0)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plt.title("Return Correlation — Do They Move Together?")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plt.show()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440680" y="1325880"/>
            <a:ext cx="33375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5440680" y="1325880"/>
            <a:ext cx="54864" cy="1554480"/>
          </a:xfrm>
          <a:prstGeom prst="rect">
            <a:avLst/>
          </a:prstGeom>
          <a:solidFill>
            <a:srgbClr val="2C4870"/>
          </a:solidFill>
          <a:ln w="12700">
            <a:solidFill>
              <a:srgbClr val="2C487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623560" y="1417320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623560" y="169164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8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NABIL  NLIC   NTC</a:t>
            </a:r>
            <a:endParaRPr lang="en-US" sz="8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8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NABIL    1.00   0.65   0.49</a:t>
            </a:r>
            <a:endParaRPr lang="en-US" sz="8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8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NLIC     0.65   1.00   0.58</a:t>
            </a:r>
            <a:endParaRPr lang="en-US" sz="8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8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NTC      0.49   0.58   1.00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365760" y="3017520"/>
            <a:ext cx="84124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365760" y="3017520"/>
            <a:ext cx="54864" cy="1691640"/>
          </a:xfrm>
          <a:prstGeom prst="rect">
            <a:avLst/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48640" y="312724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4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portfolio insight from a heatmap: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548640" y="342900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Correlations of 0.49–0.65 mean these stocks move SOMEWHAT together — when the market rises, all tend to rise — but NOT identically. NABIL and NLIC are most correlated (0.65). This matters for investors: holding all three doesn't diversify as much as you'd hope, because they partly move together. This is Modern Portfolio Theory — which won a Nobel Prize — emerging from one seaborn heatmap.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27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945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233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494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782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657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7548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27432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NEPSE — STEP 8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Cleaned Data for Day 10</a:t>
            </a:r>
            <a:endParaRPr lang="en-US" sz="2300" dirty="0"/>
          </a:p>
        </p:txBody>
      </p:sp>
      <p:sp>
        <p:nvSpPr>
          <p:cNvPr id="42" name="Text 40"/>
          <p:cNvSpPr/>
          <p:nvPr/>
        </p:nvSpPr>
        <p:spPr>
          <a:xfrm>
            <a:off x="457200" y="9601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cleaning is tomorrow's foundation.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57200" y="1207008"/>
            <a:ext cx="8229600" cy="0"/>
          </a:xfrm>
          <a:prstGeom prst="line">
            <a:avLst/>
          </a:prstGeom>
          <a:noFill/>
          <a:ln w="12700">
            <a:solidFill>
              <a:srgbClr val="E1E7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65760" y="1325880"/>
            <a:ext cx="8412480" cy="1371600"/>
          </a:xfrm>
          <a:prstGeom prst="rect">
            <a:avLst/>
          </a:prstGeom>
          <a:solidFill>
            <a:srgbClr val="EEF1F8"/>
          </a:solidFill>
          <a:ln w="12700">
            <a:solidFill>
              <a:srgbClr val="D3DAE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30352" y="1435608"/>
            <a:ext cx="808329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Save cleaned NABIL — we'll predict with it tomorrow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nabil.to_csv("NABIL_clean.csv", index=False)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print("Saved NABIL_clean.csv — ready for Day 10")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google.colab import files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files.download("NABIL_clean.csv")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65760" y="2834640"/>
            <a:ext cx="841248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365760" y="2834640"/>
            <a:ext cx="54864" cy="1874520"/>
          </a:xfrm>
          <a:prstGeom prst="rect">
            <a:avLst/>
          </a:prstGeom>
          <a:solidFill>
            <a:srgbClr val="1A8A5F"/>
          </a:solidFill>
          <a:ln w="12700">
            <a:solidFill>
              <a:srgbClr val="1A8A5F"/>
            </a:solidFill>
            <a:prstDash val="solid"/>
          </a:ln>
        </p:spPr>
      </p:sp>
      <p:pic>
        <p:nvPicPr>
          <p:cNvPr id="4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999232"/>
            <a:ext cx="365760" cy="365760"/>
          </a:xfrm>
          <a:prstGeom prst="rect">
            <a:avLst/>
          </a:prstGeom>
        </p:spPr>
      </p:pic>
      <p:sp>
        <p:nvSpPr>
          <p:cNvPr id="49" name="Text 46"/>
          <p:cNvSpPr/>
          <p:nvPr/>
        </p:nvSpPr>
        <p:spPr>
          <a:xfrm>
            <a:off x="1097280" y="301752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two-day arc: Clean today → Predict tomorrow</a:t>
            </a:r>
            <a:endParaRPr lang="en-US" sz="1400" dirty="0"/>
          </a:p>
        </p:txBody>
      </p:sp>
      <p:sp>
        <p:nvSpPr>
          <p:cNvPr id="50" name="Text 47"/>
          <p:cNvSpPr/>
          <p:nvPr/>
        </p:nvSpPr>
        <p:spPr>
          <a:xfrm>
            <a:off x="594360" y="3456432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 on Day 10, you'll load this exact NABIL_clean.csv and build your FIRST machine learning models:</a:t>
            </a:r>
            <a:endParaRPr lang="en-US" sz="1100" dirty="0"/>
          </a:p>
        </p:txBody>
      </p:sp>
      <p:sp>
        <p:nvSpPr>
          <p:cNvPr id="51" name="Text 48"/>
          <p:cNvSpPr/>
          <p:nvPr/>
        </p:nvSpPr>
        <p:spPr>
          <a:xfrm>
            <a:off x="594360" y="3886200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Linear Regression — predict NABIL's next-day closing price</a:t>
            </a:r>
            <a:endParaRPr lang="en-US" sz="10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Logistic Regression — predict whether price goes UP or DOWN</a:t>
            </a:r>
            <a:endParaRPr lang="en-US" sz="10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The correlation insights from today inform which features to use</a:t>
            </a:r>
            <a:endParaRPr lang="en-US" sz="1050" dirty="0"/>
          </a:p>
        </p:txBody>
      </p:sp>
      <p:sp>
        <p:nvSpPr>
          <p:cNvPr id="52" name="Text 49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27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945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233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494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782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657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7548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pic>
        <p:nvPicPr>
          <p:cNvPr id="4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420624" cy="420624"/>
          </a:xfrm>
          <a:prstGeom prst="rect">
            <a:avLst/>
          </a:prstGeom>
        </p:spPr>
      </p:pic>
      <p:sp>
        <p:nvSpPr>
          <p:cNvPr id="42" name="Text 39"/>
          <p:cNvSpPr/>
          <p:nvPr/>
        </p:nvSpPr>
        <p:spPr>
          <a:xfrm>
            <a:off x="868680" y="10972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Prices EDA</a:t>
            </a:r>
            <a:endParaRPr lang="en-US" sz="2400" dirty="0"/>
          </a:p>
        </p:txBody>
      </p:sp>
      <p:sp>
        <p:nvSpPr>
          <p:cNvPr id="43" name="Text 40"/>
          <p:cNvSpPr/>
          <p:nvPr/>
        </p:nvSpPr>
        <p:spPr>
          <a:xfrm>
            <a:off x="457200" y="91440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DIFFERENT FLAVOUR OF EDA — FULL PRE-MODELLING PIPELINE</a:t>
            </a:r>
            <a:endParaRPr lang="en-US" sz="850" dirty="0"/>
          </a:p>
        </p:txBody>
      </p:sp>
      <p:sp>
        <p:nvSpPr>
          <p:cNvPr id="44" name="Shape 41"/>
          <p:cNvSpPr/>
          <p:nvPr/>
        </p:nvSpPr>
        <p:spPr>
          <a:xfrm>
            <a:off x="457200" y="1115568"/>
            <a:ext cx="8229600" cy="0"/>
          </a:xfrm>
          <a:prstGeom prst="line">
            <a:avLst/>
          </a:prstGeom>
          <a:noFill/>
          <a:ln w="12700">
            <a:solidFill>
              <a:srgbClr val="E1E7F0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365760" y="123444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i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data was about TIME. House Prices is about RELATIONSHIPS — which features predict the target?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365760" y="1600200"/>
            <a:ext cx="40690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47" name="Shape 44"/>
          <p:cNvSpPr/>
          <p:nvPr/>
        </p:nvSpPr>
        <p:spPr>
          <a:xfrm>
            <a:off x="365760" y="1600200"/>
            <a:ext cx="54864" cy="502920"/>
          </a:xfrm>
          <a:prstGeom prst="rect">
            <a:avLst/>
          </a:prstGeom>
          <a:solidFill>
            <a:srgbClr val="2C4870"/>
          </a:solidFill>
          <a:ln w="12700">
            <a:solidFill>
              <a:srgbClr val="2C4870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484632" y="170992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C4870"/>
          </a:solidFill>
          <a:ln w="12700">
            <a:solidFill>
              <a:srgbClr val="2C4870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484632" y="17099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50" name="Text 47"/>
          <p:cNvSpPr/>
          <p:nvPr/>
        </p:nvSpPr>
        <p:spPr>
          <a:xfrm>
            <a:off x="868680" y="166420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050" dirty="0"/>
          </a:p>
        </p:txBody>
      </p:sp>
      <p:sp>
        <p:nvSpPr>
          <p:cNvPr id="51" name="Text 48"/>
          <p:cNvSpPr/>
          <p:nvPr/>
        </p:nvSpPr>
        <p:spPr>
          <a:xfrm>
            <a:off x="868680" y="1856232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+ median/mode fill strategy</a:t>
            </a:r>
            <a:endParaRPr lang="en-US" sz="850" dirty="0"/>
          </a:p>
        </p:txBody>
      </p:sp>
      <p:sp>
        <p:nvSpPr>
          <p:cNvPr id="52" name="Shape 49"/>
          <p:cNvSpPr/>
          <p:nvPr/>
        </p:nvSpPr>
        <p:spPr>
          <a:xfrm>
            <a:off x="4617720" y="1600200"/>
            <a:ext cx="40690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53" name="Shape 50"/>
          <p:cNvSpPr/>
          <p:nvPr/>
        </p:nvSpPr>
        <p:spPr>
          <a:xfrm>
            <a:off x="4617720" y="1600200"/>
            <a:ext cx="54864" cy="502920"/>
          </a:xfrm>
          <a:prstGeom prst="rect">
            <a:avLst/>
          </a:prstGeom>
          <a:solidFill>
            <a:srgbClr val="0E7C9E"/>
          </a:solidFill>
          <a:ln w="12700">
            <a:solidFill>
              <a:srgbClr val="0E7C9E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4736592" y="170992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E7C9E"/>
          </a:solidFill>
          <a:ln w="12700">
            <a:solidFill>
              <a:srgbClr val="0E7C9E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4736592" y="17099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56" name="Text 53"/>
          <p:cNvSpPr/>
          <p:nvPr/>
        </p:nvSpPr>
        <p:spPr>
          <a:xfrm>
            <a:off x="5120640" y="166420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Outliers: IQR + Z-score</a:t>
            </a:r>
            <a:endParaRPr lang="en-US" sz="1050" dirty="0"/>
          </a:p>
        </p:txBody>
      </p:sp>
      <p:sp>
        <p:nvSpPr>
          <p:cNvPr id="57" name="Text 54"/>
          <p:cNvSpPr/>
          <p:nvPr/>
        </p:nvSpPr>
        <p:spPr>
          <a:xfrm>
            <a:off x="5120640" y="1856232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statistical definitions of unusual</a:t>
            </a:r>
            <a:endParaRPr lang="en-US" sz="850" dirty="0"/>
          </a:p>
        </p:txBody>
      </p:sp>
      <p:sp>
        <p:nvSpPr>
          <p:cNvPr id="58" name="Shape 55"/>
          <p:cNvSpPr/>
          <p:nvPr/>
        </p:nvSpPr>
        <p:spPr>
          <a:xfrm>
            <a:off x="365760" y="2203704"/>
            <a:ext cx="40690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59" name="Shape 56"/>
          <p:cNvSpPr/>
          <p:nvPr/>
        </p:nvSpPr>
        <p:spPr>
          <a:xfrm>
            <a:off x="365760" y="2203704"/>
            <a:ext cx="54864" cy="502920"/>
          </a:xfrm>
          <a:prstGeom prst="rect">
            <a:avLst/>
          </a:prstGeom>
          <a:solidFill>
            <a:srgbClr val="B8720A"/>
          </a:solidFill>
          <a:ln w="12700">
            <a:solidFill>
              <a:srgbClr val="B8720A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484632" y="231343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B8720A"/>
          </a:solidFill>
          <a:ln w="12700">
            <a:solidFill>
              <a:srgbClr val="B8720A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484632" y="23134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62" name="Text 59"/>
          <p:cNvSpPr/>
          <p:nvPr/>
        </p:nvSpPr>
        <p:spPr>
          <a:xfrm>
            <a:off x="868680" y="226771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visualisations</a:t>
            </a:r>
            <a:endParaRPr lang="en-US" sz="1050" dirty="0"/>
          </a:p>
        </p:txBody>
      </p:sp>
      <p:sp>
        <p:nvSpPr>
          <p:cNvPr id="63" name="Text 60"/>
          <p:cNvSpPr/>
          <p:nvPr/>
        </p:nvSpPr>
        <p:spPr>
          <a:xfrm>
            <a:off x="868680" y="2459736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Histogram, bar chart, scatter plot</a:t>
            </a:r>
            <a:endParaRPr lang="en-US" sz="850" dirty="0"/>
          </a:p>
        </p:txBody>
      </p:sp>
      <p:sp>
        <p:nvSpPr>
          <p:cNvPr id="64" name="Shape 61"/>
          <p:cNvSpPr/>
          <p:nvPr/>
        </p:nvSpPr>
        <p:spPr>
          <a:xfrm>
            <a:off x="4617720" y="2203704"/>
            <a:ext cx="40690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65" name="Shape 62"/>
          <p:cNvSpPr/>
          <p:nvPr/>
        </p:nvSpPr>
        <p:spPr>
          <a:xfrm>
            <a:off x="4617720" y="2203704"/>
            <a:ext cx="54864" cy="502920"/>
          </a:xfrm>
          <a:prstGeom prst="rect">
            <a:avLst/>
          </a:prstGeom>
          <a:solidFill>
            <a:srgbClr val="1A8A5F"/>
          </a:solidFill>
          <a:ln w="12700">
            <a:solidFill>
              <a:srgbClr val="1A8A5F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4736592" y="231343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1A8A5F"/>
          </a:solidFill>
          <a:ln w="12700">
            <a:solidFill>
              <a:srgbClr val="1A8A5F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4736592" y="23134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68" name="Text 65"/>
          <p:cNvSpPr/>
          <p:nvPr/>
        </p:nvSpPr>
        <p:spPr>
          <a:xfrm>
            <a:off x="5120640" y="226771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heatmap</a:t>
            </a:r>
            <a:endParaRPr lang="en-US" sz="1050" dirty="0"/>
          </a:p>
        </p:txBody>
      </p:sp>
      <p:sp>
        <p:nvSpPr>
          <p:cNvPr id="69" name="Text 66"/>
          <p:cNvSpPr/>
          <p:nvPr/>
        </p:nvSpPr>
        <p:spPr>
          <a:xfrm>
            <a:off x="5120640" y="2459736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features predict SalePrice?</a:t>
            </a:r>
            <a:endParaRPr lang="en-US" sz="850" dirty="0"/>
          </a:p>
        </p:txBody>
      </p:sp>
      <p:sp>
        <p:nvSpPr>
          <p:cNvPr id="70" name="Shape 67"/>
          <p:cNvSpPr/>
          <p:nvPr/>
        </p:nvSpPr>
        <p:spPr>
          <a:xfrm>
            <a:off x="365760" y="2807208"/>
            <a:ext cx="40690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71" name="Shape 68"/>
          <p:cNvSpPr/>
          <p:nvPr/>
        </p:nvSpPr>
        <p:spPr>
          <a:xfrm>
            <a:off x="365760" y="2807208"/>
            <a:ext cx="54864" cy="502920"/>
          </a:xfrm>
          <a:prstGeom prst="rect">
            <a:avLst/>
          </a:prstGeom>
          <a:solidFill>
            <a:srgbClr val="C13A3A"/>
          </a:solidFill>
          <a:ln w="12700">
            <a:solidFill>
              <a:srgbClr val="C13A3A"/>
            </a:solidFill>
            <a:prstDash val="solid"/>
          </a:ln>
        </p:spPr>
      </p:sp>
      <p:sp>
        <p:nvSpPr>
          <p:cNvPr id="72" name="Shape 69"/>
          <p:cNvSpPr/>
          <p:nvPr/>
        </p:nvSpPr>
        <p:spPr>
          <a:xfrm>
            <a:off x="484632" y="2916936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C13A3A"/>
          </a:solidFill>
          <a:ln w="12700">
            <a:solidFill>
              <a:srgbClr val="C13A3A"/>
            </a:solidFill>
            <a:prstDash val="solid"/>
          </a:ln>
        </p:spPr>
      </p:sp>
      <p:sp>
        <p:nvSpPr>
          <p:cNvPr id="73" name="Text 70"/>
          <p:cNvSpPr/>
          <p:nvPr/>
        </p:nvSpPr>
        <p:spPr>
          <a:xfrm>
            <a:off x="484632" y="29169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74" name="Text 71"/>
          <p:cNvSpPr/>
          <p:nvPr/>
        </p:nvSpPr>
        <p:spPr>
          <a:xfrm>
            <a:off x="868680" y="287121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Pairplot</a:t>
            </a:r>
            <a:endParaRPr lang="en-US" sz="1050" dirty="0"/>
          </a:p>
        </p:txBody>
      </p:sp>
      <p:sp>
        <p:nvSpPr>
          <p:cNvPr id="75" name="Text 72"/>
          <p:cNvSpPr/>
          <p:nvPr/>
        </p:nvSpPr>
        <p:spPr>
          <a:xfrm>
            <a:off x="868680" y="306324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pairwise relationships at once</a:t>
            </a:r>
            <a:endParaRPr lang="en-US" sz="850" dirty="0"/>
          </a:p>
        </p:txBody>
      </p:sp>
      <p:sp>
        <p:nvSpPr>
          <p:cNvPr id="76" name="Shape 73"/>
          <p:cNvSpPr/>
          <p:nvPr/>
        </p:nvSpPr>
        <p:spPr>
          <a:xfrm>
            <a:off x="4617720" y="2807208"/>
            <a:ext cx="40690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77" name="Shape 74"/>
          <p:cNvSpPr/>
          <p:nvPr/>
        </p:nvSpPr>
        <p:spPr>
          <a:xfrm>
            <a:off x="4617720" y="2807208"/>
            <a:ext cx="54864" cy="502920"/>
          </a:xfrm>
          <a:prstGeom prst="rect">
            <a:avLst/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78" name="Shape 75"/>
          <p:cNvSpPr/>
          <p:nvPr/>
        </p:nvSpPr>
        <p:spPr>
          <a:xfrm>
            <a:off x="4736592" y="2916936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79" name="Text 76"/>
          <p:cNvSpPr/>
          <p:nvPr/>
        </p:nvSpPr>
        <p:spPr>
          <a:xfrm>
            <a:off x="4736592" y="29169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80" name="Text 77"/>
          <p:cNvSpPr/>
          <p:nvPr/>
        </p:nvSpPr>
        <p:spPr>
          <a:xfrm>
            <a:off x="5120640" y="287121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encoding</a:t>
            </a:r>
            <a:endParaRPr lang="en-US" sz="1050" dirty="0"/>
          </a:p>
        </p:txBody>
      </p:sp>
      <p:sp>
        <p:nvSpPr>
          <p:cNvPr id="81" name="Text 78"/>
          <p:cNvSpPr/>
          <p:nvPr/>
        </p:nvSpPr>
        <p:spPr>
          <a:xfrm>
            <a:off x="5120640" y="306324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LabelEncoder vs get_dummies()</a:t>
            </a:r>
            <a:endParaRPr lang="en-US" sz="850" dirty="0"/>
          </a:p>
        </p:txBody>
      </p:sp>
      <p:sp>
        <p:nvSpPr>
          <p:cNvPr id="82" name="Shape 79"/>
          <p:cNvSpPr/>
          <p:nvPr/>
        </p:nvSpPr>
        <p:spPr>
          <a:xfrm>
            <a:off x="365760" y="3410712"/>
            <a:ext cx="84124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83" name="Shape 80"/>
          <p:cNvSpPr/>
          <p:nvPr/>
        </p:nvSpPr>
        <p:spPr>
          <a:xfrm>
            <a:off x="365760" y="3410712"/>
            <a:ext cx="54864" cy="502920"/>
          </a:xfrm>
          <a:prstGeom prst="rect">
            <a:avLst/>
          </a:prstGeom>
          <a:solidFill>
            <a:srgbClr val="2C4870"/>
          </a:solidFill>
          <a:ln w="12700">
            <a:solidFill>
              <a:srgbClr val="2C4870"/>
            </a:solidFill>
            <a:prstDash val="solid"/>
          </a:ln>
        </p:spPr>
      </p:sp>
      <p:sp>
        <p:nvSpPr>
          <p:cNvPr id="84" name="Shape 81"/>
          <p:cNvSpPr/>
          <p:nvPr/>
        </p:nvSpPr>
        <p:spPr>
          <a:xfrm>
            <a:off x="484632" y="352044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C4870"/>
          </a:solidFill>
          <a:ln w="12700">
            <a:solidFill>
              <a:srgbClr val="2C4870"/>
            </a:solidFill>
            <a:prstDash val="solid"/>
          </a:ln>
        </p:spPr>
      </p:sp>
      <p:sp>
        <p:nvSpPr>
          <p:cNvPr id="85" name="Text 82"/>
          <p:cNvSpPr/>
          <p:nvPr/>
        </p:nvSpPr>
        <p:spPr>
          <a:xfrm>
            <a:off x="484632" y="3520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86" name="Text 83"/>
          <p:cNvSpPr/>
          <p:nvPr/>
        </p:nvSpPr>
        <p:spPr>
          <a:xfrm>
            <a:off x="868680" y="3474720"/>
            <a:ext cx="7726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scaling</a:t>
            </a:r>
            <a:endParaRPr lang="en-US" sz="1050" dirty="0"/>
          </a:p>
        </p:txBody>
      </p:sp>
      <p:sp>
        <p:nvSpPr>
          <p:cNvPr id="87" name="Text 84"/>
          <p:cNvSpPr/>
          <p:nvPr/>
        </p:nvSpPr>
        <p:spPr>
          <a:xfrm>
            <a:off x="868680" y="3666744"/>
            <a:ext cx="7726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vs MinMaxScaler</a:t>
            </a:r>
            <a:endParaRPr lang="en-US" sz="850" dirty="0"/>
          </a:p>
        </p:txBody>
      </p:sp>
      <p:sp>
        <p:nvSpPr>
          <p:cNvPr id="88" name="Shape 85"/>
          <p:cNvSpPr/>
          <p:nvPr/>
        </p:nvSpPr>
        <p:spPr>
          <a:xfrm>
            <a:off x="365760" y="4617720"/>
            <a:ext cx="841248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89" name="Shape 86"/>
          <p:cNvSpPr/>
          <p:nvPr/>
        </p:nvSpPr>
        <p:spPr>
          <a:xfrm>
            <a:off x="365760" y="4617720"/>
            <a:ext cx="54864" cy="365760"/>
          </a:xfrm>
          <a:prstGeom prst="rect">
            <a:avLst/>
          </a:prstGeom>
          <a:solidFill>
            <a:srgbClr val="B8720A"/>
          </a:solidFill>
          <a:ln w="12700">
            <a:solidFill>
              <a:srgbClr val="B8720A"/>
            </a:solidFill>
            <a:prstDash val="solid"/>
          </a:ln>
        </p:spPr>
      </p:sp>
      <p:sp>
        <p:nvSpPr>
          <p:cNvPr id="90" name="Text 87"/>
          <p:cNvSpPr/>
          <p:nvPr/>
        </p:nvSpPr>
        <p:spPr>
          <a:xfrm>
            <a:off x="548640" y="4617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i="1" dirty="0">
                <a:solidFill>
                  <a:srgbClr val="B87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complete pipeline students need before Day 10's regression models.</a:t>
            </a:r>
            <a:endParaRPr lang="en-US" sz="950" dirty="0"/>
          </a:p>
        </p:txBody>
      </p:sp>
      <p:sp>
        <p:nvSpPr>
          <p:cNvPr id="91" name="Text 88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27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945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233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494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782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657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7548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27432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PRICES — STEP 1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&amp; Fill Missing Values</a:t>
            </a:r>
            <a:endParaRPr lang="en-US" sz="2300" dirty="0"/>
          </a:p>
        </p:txBody>
      </p:sp>
      <p:sp>
        <p:nvSpPr>
          <p:cNvPr id="42" name="Text 40"/>
          <p:cNvSpPr/>
          <p:nvPr/>
        </p:nvSpPr>
        <p:spPr>
          <a:xfrm>
            <a:off x="457200" y="9601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via pd.read_csv(url) — 1460 rows, 81 columns, no login needed.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57200" y="1207008"/>
            <a:ext cx="8229600" cy="0"/>
          </a:xfrm>
          <a:prstGeom prst="line">
            <a:avLst/>
          </a:prstGeom>
          <a:noFill/>
          <a:ln w="12700">
            <a:solidFill>
              <a:srgbClr val="E1E7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65760" y="1325880"/>
            <a:ext cx="5486400" cy="2743200"/>
          </a:xfrm>
          <a:prstGeom prst="rect">
            <a:avLst/>
          </a:prstGeom>
          <a:solidFill>
            <a:srgbClr val="EEF1F8"/>
          </a:solidFill>
          <a:ln w="12700">
            <a:solidFill>
              <a:srgbClr val="D3DAE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30352" y="1435608"/>
            <a:ext cx="5157216" cy="2523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Load House Prices — real Kaggle Ames data, no login needed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url = "https://raw.githubusercontent.com/hjhuney/" \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"Data/master/AmesHousing/train.csv"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house = pd.read_csv(url)   # 1460 rows, 81 columns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Count missing values per column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missing = house.isnull().sum()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missing = missing[missing &gt; 0].sort_values(ascending=False)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Strategy 1: numbers -&gt; median (robust to outliers)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house['LotFrontage'] = house['LotFrontage'].fillna(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house['LotFrontage'].median())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Strategy 2: categories -&gt; mode (most common)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house['MasVnrType'] = house['MasVnrType'].fillna(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house['MasVnrType'].mode()[0])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989320" y="1325880"/>
            <a:ext cx="278892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5989320" y="1325880"/>
            <a:ext cx="54864" cy="2743200"/>
          </a:xfrm>
          <a:prstGeom prst="rect">
            <a:avLst/>
          </a:prstGeom>
          <a:solidFill>
            <a:srgbClr val="0E7C9E"/>
          </a:solidFill>
          <a:ln w="12700">
            <a:solidFill>
              <a:srgbClr val="0E7C9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172200" y="142646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7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framework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6172200" y="1700784"/>
            <a:ext cx="2468880" cy="0"/>
          </a:xfrm>
          <a:prstGeom prst="line">
            <a:avLst/>
          </a:prstGeom>
          <a:noFill/>
          <a:ln w="12700">
            <a:solidFill>
              <a:srgbClr val="E1E7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172200" y="182880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7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6172200" y="204825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— robust to outliers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172200" y="2395728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7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6172200" y="261518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 — most common value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172200" y="2962656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7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6172200" y="318211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&gt;50% missing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6172200" y="3529584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7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Forward-fill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6172200" y="37490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series — carry last value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27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945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233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494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782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657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7548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27432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PRICES — STEP 2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Detection: IQR + Z-Score</a:t>
            </a:r>
            <a:endParaRPr lang="en-US" sz="2300" dirty="0"/>
          </a:p>
        </p:txBody>
      </p:sp>
      <p:sp>
        <p:nvSpPr>
          <p:cNvPr id="42" name="Text 40"/>
          <p:cNvSpPr/>
          <p:nvPr/>
        </p:nvSpPr>
        <p:spPr>
          <a:xfrm>
            <a:off x="457200" y="9601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statistical definitions of 'unusual' — know both, use the right one.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57200" y="1207008"/>
            <a:ext cx="8229600" cy="0"/>
          </a:xfrm>
          <a:prstGeom prst="line">
            <a:avLst/>
          </a:prstGeom>
          <a:noFill/>
          <a:ln w="12700">
            <a:solidFill>
              <a:srgbClr val="E1E7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65760" y="1325880"/>
            <a:ext cx="5486400" cy="2743200"/>
          </a:xfrm>
          <a:prstGeom prst="rect">
            <a:avLst/>
          </a:prstGeom>
          <a:solidFill>
            <a:srgbClr val="EEF1F8"/>
          </a:solidFill>
          <a:ln w="12700">
            <a:solidFill>
              <a:srgbClr val="D3DAE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21208" y="1362457"/>
            <a:ext cx="5157216" cy="2523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Boxplot reveals outliers visually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sns.boxplot(x=house['SalePrice'], color='#0E7C9E')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METHOD 1: IQR — doesn't assume normal distribution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Q1 = house['SalePrice'].quantile(0.25)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Q3 = house['SalePrice'].quantile(0.75)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IQR = Q3 - Q1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lower, upper = Q1 - 1.5*IQR, Q3 + 1.5*IQR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iqr_outliers = house[(house['SalePrice'] &lt; lower) |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(house['SalePrice'] &gt; upper)]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METHOD 2: Z-score — assumes roughly normal distribution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scipy import stats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house['SalePrice_zscore'] = stats.zscore(house['SalePrice'])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zscore_outliers = house[house['SalePrice_zscore'].abs() &gt; 3]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print(f"IQR: {len(iqr_outliers)}   Z-score: {len(zscore_outliers)}")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989320" y="1325880"/>
            <a:ext cx="27889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5989320" y="1325880"/>
            <a:ext cx="54864" cy="1325880"/>
          </a:xfrm>
          <a:prstGeom prst="rect">
            <a:avLst/>
          </a:prstGeom>
          <a:solidFill>
            <a:srgbClr val="B8720A"/>
          </a:solidFill>
          <a:ln w="12700">
            <a:solidFill>
              <a:srgbClr val="B8720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172200" y="141732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87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 method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172200" y="1673352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to skew — safer for house prices (a few mansions pull the average up).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5989320" y="2743200"/>
            <a:ext cx="27889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5989320" y="2743200"/>
            <a:ext cx="54864" cy="1325880"/>
          </a:xfrm>
          <a:prstGeom prst="rect">
            <a:avLst/>
          </a:prstGeom>
          <a:solidFill>
            <a:srgbClr val="C13A3A"/>
          </a:solidFill>
          <a:ln w="12700">
            <a:solidFill>
              <a:srgbClr val="C13A3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172200" y="283464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1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 method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6172200" y="3090672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Assumes normal distribution. |z| &gt; 3 is the common rule — simpler when data is roughly bell-curved.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365760" y="4160520"/>
            <a:ext cx="84124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365760" y="4160520"/>
            <a:ext cx="54864" cy="594360"/>
          </a:xfrm>
          <a:prstGeom prst="rect">
            <a:avLst/>
          </a:prstGeom>
          <a:solidFill>
            <a:srgbClr val="2C4870"/>
          </a:solidFill>
          <a:ln w="12700">
            <a:solidFill>
              <a:srgbClr val="2C487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48640" y="41605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Discussion: do the two methods agree on which houses are outliers? Disagreement itself reveals how skewed your data is.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27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945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233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494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782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657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7548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27432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PRICES — STEP 3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Visualisations</a:t>
            </a:r>
            <a:endParaRPr lang="en-US" sz="2300" dirty="0"/>
          </a:p>
        </p:txBody>
      </p:sp>
      <p:sp>
        <p:nvSpPr>
          <p:cNvPr id="42" name="Text 40"/>
          <p:cNvSpPr/>
          <p:nvPr/>
        </p:nvSpPr>
        <p:spPr>
          <a:xfrm>
            <a:off x="457200" y="9601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three-chart toolkit from Part 2 — histogram, bar chart, scatter.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57200" y="1207008"/>
            <a:ext cx="8229600" cy="0"/>
          </a:xfrm>
          <a:prstGeom prst="line">
            <a:avLst/>
          </a:prstGeom>
          <a:noFill/>
          <a:ln w="12700">
            <a:solidFill>
              <a:srgbClr val="E1E7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65760" y="1325880"/>
            <a:ext cx="5486400" cy="2651760"/>
          </a:xfrm>
          <a:prstGeom prst="rect">
            <a:avLst/>
          </a:prstGeom>
          <a:solidFill>
            <a:srgbClr val="EEF1F8"/>
          </a:solidFill>
          <a:ln w="12700">
            <a:solidFill>
              <a:srgbClr val="D3DAE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30352" y="1435608"/>
            <a:ext cx="5157216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Histogram — distribution of SalePrice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sns.histplot(house['SalePrice'], bins=40, kde=True, color='#6B4FA0')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plt.title("Distribution of SalePrice")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Bar chart — count of houses by style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house['HouseStyle'].value_counts().plot(kind='bar', color='#0E7C9E')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plt.title("Count of Houses by Style")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Scatter — does living area predict price?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plt.scatter(house['GrLivArea'], house['SalePrice'],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alpha=0.5, color='#1A8A5F')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plt.title("Living Area vs Sale Price")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plt.xlabel("GrLivArea (sq ft)"); plt.ylabel("SalePrice ($)")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989320" y="1325879"/>
            <a:ext cx="2734042" cy="2064431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5989319" y="1325880"/>
            <a:ext cx="91435" cy="2064430"/>
          </a:xfrm>
          <a:prstGeom prst="rect">
            <a:avLst/>
          </a:prstGeom>
          <a:solidFill>
            <a:srgbClr val="1A8A5F"/>
          </a:solidFill>
          <a:ln w="12700">
            <a:solidFill>
              <a:srgbClr val="1A8A5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172200" y="141732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6172200" y="16276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 → what's normal?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172200" y="196596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6172200" y="217627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 → what types exist?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172200" y="251460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6172200" y="272491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 → what predicts what?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65760" y="4114800"/>
            <a:ext cx="8412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365760" y="4114800"/>
            <a:ext cx="54864" cy="685800"/>
          </a:xfrm>
          <a:prstGeom prst="rect">
            <a:avLst/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48640" y="41148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B4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 upward trend in the GrLivArea scatter proves bigger houses cost more — and shows you the outliers that break the pattern too.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27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945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233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494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782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657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7548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27432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PRICES — STEP 4 &amp; 5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Heatmap &amp; Pairplot</a:t>
            </a:r>
            <a:endParaRPr lang="en-US" sz="2300" dirty="0"/>
          </a:p>
        </p:txBody>
      </p:sp>
      <p:sp>
        <p:nvSpPr>
          <p:cNvPr id="42" name="Text 40"/>
          <p:cNvSpPr/>
          <p:nvPr/>
        </p:nvSpPr>
        <p:spPr>
          <a:xfrm>
            <a:off x="457200" y="9601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features matter for price? This directly informs Day 10 modelling.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57200" y="1207008"/>
            <a:ext cx="8229600" cy="0"/>
          </a:xfrm>
          <a:prstGeom prst="line">
            <a:avLst/>
          </a:prstGeom>
          <a:noFill/>
          <a:ln w="12700">
            <a:solidFill>
              <a:srgbClr val="E1E7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65760" y="1325880"/>
            <a:ext cx="5486400" cy="2514600"/>
          </a:xfrm>
          <a:prstGeom prst="rect">
            <a:avLst/>
          </a:prstGeom>
          <a:solidFill>
            <a:srgbClr val="EEF1F8"/>
          </a:solidFill>
          <a:ln w="12700">
            <a:solidFill>
              <a:srgbClr val="D3DAE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30352" y="1435608"/>
            <a:ext cx="5157216" cy="2295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Which numeric features correlate with SalePrice?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numeric = house.select_dtypes(include='number')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corr = numeric.corr()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Top correlated features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 = corr['SalePrice'].sort_values(ascending=False).head(10)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print(top)   # OverallQual, GrLivArea usually top the list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Focused heatmap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sns.heatmap(house[top.index].corr(), annot=True, cmap='coolwarm')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Pairplot — all pairwise relationships (limit to top 5!)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top5 = top.index[1:6]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sns.pairplot(house[list(top5) + ['SalePrice']])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989320" y="1325880"/>
            <a:ext cx="27889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5989320" y="1325880"/>
            <a:ext cx="54864" cy="1234440"/>
          </a:xfrm>
          <a:prstGeom prst="rect">
            <a:avLst/>
          </a:prstGeom>
          <a:solidFill>
            <a:srgbClr val="1A8A5F"/>
          </a:solidFill>
          <a:ln w="12700">
            <a:solidFill>
              <a:srgbClr val="1A8A5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172200" y="141732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payoff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172200" y="1673352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highly correlated with SalePrice (OverallQual, GrLivArea) are your best predictors for Day 10's model.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5989320" y="2651760"/>
            <a:ext cx="27889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5989320" y="2651760"/>
            <a:ext cx="54864" cy="1188720"/>
          </a:xfrm>
          <a:prstGeom prst="rect">
            <a:avLst/>
          </a:prstGeom>
          <a:solidFill>
            <a:srgbClr val="C13A3A"/>
          </a:solidFill>
          <a:ln w="12700">
            <a:solidFill>
              <a:srgbClr val="C13A3A"/>
            </a:solidFill>
            <a:prstDash val="solid"/>
          </a:ln>
        </p:spPr>
      </p:sp>
      <p:pic>
        <p:nvPicPr>
          <p:cNvPr id="5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4768" y="2743200"/>
            <a:ext cx="219456" cy="219456"/>
          </a:xfrm>
          <a:prstGeom prst="rect">
            <a:avLst/>
          </a:prstGeom>
        </p:spPr>
      </p:pic>
      <p:sp>
        <p:nvSpPr>
          <p:cNvPr id="53" name="Text 50"/>
          <p:cNvSpPr/>
          <p:nvPr/>
        </p:nvSpPr>
        <p:spPr>
          <a:xfrm>
            <a:off x="6419088" y="274320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1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Pairplot warning</a:t>
            </a:r>
            <a:endParaRPr lang="en-US" sz="1100" dirty="0"/>
          </a:p>
        </p:txBody>
      </p:sp>
      <p:sp>
        <p:nvSpPr>
          <p:cNvPr id="54" name="Text 51"/>
          <p:cNvSpPr/>
          <p:nvPr/>
        </p:nvSpPr>
        <p:spPr>
          <a:xfrm>
            <a:off x="6172200" y="301752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O(n²) — slow on many columns. Always limit to your top 5-6 features or Colab hangs.</a:t>
            </a:r>
            <a:endParaRPr lang="en-US" sz="950" dirty="0"/>
          </a:p>
        </p:txBody>
      </p:sp>
      <p:sp>
        <p:nvSpPr>
          <p:cNvPr id="55" name="Shape 52"/>
          <p:cNvSpPr/>
          <p:nvPr/>
        </p:nvSpPr>
        <p:spPr>
          <a:xfrm>
            <a:off x="365760" y="3977640"/>
            <a:ext cx="84124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56" name="Shape 53"/>
          <p:cNvSpPr/>
          <p:nvPr/>
        </p:nvSpPr>
        <p:spPr>
          <a:xfrm>
            <a:off x="365760" y="3977640"/>
            <a:ext cx="54864" cy="731520"/>
          </a:xfrm>
          <a:prstGeom prst="rect">
            <a:avLst/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548640" y="406908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4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≠ causation:</a:t>
            </a:r>
            <a:endParaRPr lang="en-US" sz="1100" dirty="0"/>
          </a:p>
        </p:txBody>
      </p:sp>
      <p:sp>
        <p:nvSpPr>
          <p:cNvPr id="58" name="Text 55"/>
          <p:cNvSpPr/>
          <p:nvPr/>
        </p:nvSpPr>
        <p:spPr>
          <a:xfrm>
            <a:off x="2926080" y="4069080"/>
            <a:ext cx="5715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features being correlated doesn't mean one CAUSES the other. A classic beginner trap worth stating explicitly.</a:t>
            </a:r>
            <a:endParaRPr lang="en-US" sz="1000" dirty="0"/>
          </a:p>
        </p:txBody>
      </p:sp>
      <p:sp>
        <p:nvSpPr>
          <p:cNvPr id="59" name="Text 56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27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945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233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494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782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657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7548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27432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PRICES — STEP 6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 Categorical Variables</a:t>
            </a:r>
            <a:endParaRPr lang="en-US" sz="2300" dirty="0"/>
          </a:p>
        </p:txBody>
      </p:sp>
      <p:sp>
        <p:nvSpPr>
          <p:cNvPr id="42" name="Text 40"/>
          <p:cNvSpPr/>
          <p:nvPr/>
        </p:nvSpPr>
        <p:spPr>
          <a:xfrm>
            <a:off x="457200" y="9601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only understand numbers. Every category must be converted before Day 10.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57200" y="1207008"/>
            <a:ext cx="8229600" cy="0"/>
          </a:xfrm>
          <a:prstGeom prst="line">
            <a:avLst/>
          </a:prstGeom>
          <a:noFill/>
          <a:ln w="12700">
            <a:solidFill>
              <a:srgbClr val="E1E7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65760" y="1325880"/>
            <a:ext cx="5486400" cy="1965960"/>
          </a:xfrm>
          <a:prstGeom prst="rect">
            <a:avLst/>
          </a:prstGeom>
          <a:solidFill>
            <a:srgbClr val="EEF1F8"/>
          </a:solidFill>
          <a:ln w="12700">
            <a:solidFill>
              <a:srgbClr val="D3DAE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30352" y="1389889"/>
            <a:ext cx="5157216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sklearn.preprocessing import LabelEncoder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LabelEncoder — for ORDINAL categories (has a natural order)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 = LabelEncoder()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ExterQual: Poor &lt; Fair &lt; Typical &lt; Good &lt; Excellent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house['ExterQual_encoded'] = le.fit_transform(house['ExterQual'])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pd.get_dummies() — for NOMINAL categories (no natural order)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Neighborhood has no inherent ranking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neighborhood_dummies = pd.get_dummies(house['Neighborhood'],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     prefix='Nbhd')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house = pd.concat([house, neighborhood_dummies], axis=1)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65760" y="3429000"/>
            <a:ext cx="84124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365760" y="3429000"/>
            <a:ext cx="54864" cy="1325880"/>
          </a:xfrm>
          <a:prstGeom prst="rect">
            <a:avLst/>
          </a:prstGeom>
          <a:solidFill>
            <a:srgbClr val="C13A3A"/>
          </a:solidFill>
          <a:ln w="12700">
            <a:solidFill>
              <a:srgbClr val="C13A3A"/>
            </a:solidFill>
            <a:prstDash val="solid"/>
          </a:ln>
        </p:spPr>
      </p:sp>
      <p:pic>
        <p:nvPicPr>
          <p:cNvPr id="4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566160"/>
            <a:ext cx="274320" cy="274320"/>
          </a:xfrm>
          <a:prstGeom prst="rect">
            <a:avLst/>
          </a:prstGeom>
        </p:spPr>
      </p:pic>
      <p:sp>
        <p:nvSpPr>
          <p:cNvPr id="49" name="Text 46"/>
          <p:cNvSpPr/>
          <p:nvPr/>
        </p:nvSpPr>
        <p:spPr>
          <a:xfrm>
            <a:off x="914400" y="35478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1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critical distinction</a:t>
            </a:r>
            <a:endParaRPr lang="en-US" sz="1200" dirty="0"/>
          </a:p>
        </p:txBody>
      </p:sp>
      <p:sp>
        <p:nvSpPr>
          <p:cNvPr id="50" name="Text 47"/>
          <p:cNvSpPr/>
          <p:nvPr/>
        </p:nvSpPr>
        <p:spPr>
          <a:xfrm>
            <a:off x="548640" y="3858768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LabelEncoder turns categories into 0,1,2,3... which IMPLIES an order and distance. Use it ONLY for truly ordinal data. For categories with NO natural order (Neighborhood, Style), use get_dummies() instead — it creates one 0/1 column per category so the model doesn't invent a fake ranking.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5989320" y="1325880"/>
            <a:ext cx="278892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52" name="Shape 49"/>
          <p:cNvSpPr/>
          <p:nvPr/>
        </p:nvSpPr>
        <p:spPr>
          <a:xfrm>
            <a:off x="5989320" y="1325880"/>
            <a:ext cx="54864" cy="1965960"/>
          </a:xfrm>
          <a:prstGeom prst="rect">
            <a:avLst/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6172200" y="1426464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4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</a:t>
            </a:r>
            <a:endParaRPr lang="en-US" sz="1100" dirty="0"/>
          </a:p>
        </p:txBody>
      </p:sp>
      <p:sp>
        <p:nvSpPr>
          <p:cNvPr id="54" name="Text 51"/>
          <p:cNvSpPr/>
          <p:nvPr/>
        </p:nvSpPr>
        <p:spPr>
          <a:xfrm>
            <a:off x="6172200" y="1700784"/>
            <a:ext cx="2468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9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LabelEncoder():</a:t>
            </a:r>
            <a:endParaRPr lang="en-US" sz="9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9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ratings, sizes, education levels</a:t>
            </a:r>
            <a:endParaRPr lang="en-US" sz="950" dirty="0"/>
          </a:p>
          <a:p>
            <a:pPr marL="0" indent="0">
              <a:lnSpc>
                <a:spcPct val="140000"/>
              </a:lnSpc>
              <a:buNone/>
            </a:pPr>
            <a:endParaRPr lang="en-US" sz="9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9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get_dummies():</a:t>
            </a:r>
            <a:endParaRPr lang="en-US" sz="9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9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neighborhood, style, colour, brand</a:t>
            </a:r>
            <a:endParaRPr lang="en-US" sz="950" dirty="0"/>
          </a:p>
        </p:txBody>
      </p:sp>
      <p:sp>
        <p:nvSpPr>
          <p:cNvPr id="55" name="Text 52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27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945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233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494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782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657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7548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27432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PRICES — STEP 7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Scaling</a:t>
            </a:r>
            <a:endParaRPr lang="en-US" sz="2300" dirty="0"/>
          </a:p>
        </p:txBody>
      </p:sp>
      <p:sp>
        <p:nvSpPr>
          <p:cNvPr id="42" name="Text 40"/>
          <p:cNvSpPr/>
          <p:nvPr/>
        </p:nvSpPr>
        <p:spPr>
          <a:xfrm>
            <a:off x="457200" y="9601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every feature on the same footing before Day 10's regression models.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57200" y="1207008"/>
            <a:ext cx="8229600" cy="0"/>
          </a:xfrm>
          <a:prstGeom prst="line">
            <a:avLst/>
          </a:prstGeom>
          <a:noFill/>
          <a:ln w="12700">
            <a:solidFill>
              <a:srgbClr val="E1E7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65760" y="1325880"/>
            <a:ext cx="5486400" cy="1737360"/>
          </a:xfrm>
          <a:prstGeom prst="rect">
            <a:avLst/>
          </a:prstGeom>
          <a:solidFill>
            <a:srgbClr val="EEF1F8"/>
          </a:solidFill>
          <a:ln w="12700">
            <a:solidFill>
              <a:srgbClr val="D3DAE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39497" y="1344168"/>
            <a:ext cx="5157216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sklearn.preprocessing import StandardScaler, MinMaxScaler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StandardScaler — mean=0, std=1 (roughly normal data)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scaler = StandardScaler()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house['GrLivArea_scaled'] = scaler.fit_transform(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house[['GrLivArea']])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MinMaxScaler — squishes into 0 to 1 range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minmax = MinMaxScaler()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house['GrLivArea_minmax'] = minmax.fit_transform(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house[['GrLivArea']])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989320" y="1325880"/>
            <a:ext cx="27889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5989320" y="1325880"/>
            <a:ext cx="54864" cy="1737360"/>
          </a:xfrm>
          <a:prstGeom prst="rect">
            <a:avLst/>
          </a:prstGeom>
          <a:solidFill>
            <a:srgbClr val="0E7C9E"/>
          </a:solidFill>
          <a:ln w="12700">
            <a:solidFill>
              <a:srgbClr val="0E7C9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172200" y="1426464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172200" y="1682496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GrLivArea (500-3000) vs YearBuilt (1900-2020) — without scaling, bigger numbers can falsely 'dominate' a model.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365760" y="3200400"/>
            <a:ext cx="84124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365760" y="3200400"/>
            <a:ext cx="54864" cy="1508760"/>
          </a:xfrm>
          <a:prstGeom prst="rect">
            <a:avLst/>
          </a:prstGeom>
          <a:solidFill>
            <a:srgbClr val="1A8A5F"/>
          </a:solidFill>
          <a:ln w="12700">
            <a:solidFill>
              <a:srgbClr val="1A8A5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48640" y="329184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practical rule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548640" y="356616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Tree-based models (Random Forest, Decision Trees — Day 11) don't need scaling. Distance/gradient-based models (Linear/Logistic Regression, KNN, Neural Nets) DO need it. Since Day 10 is regression, scaling today sets you up correctly for tomorrow.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27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945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233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494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782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657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7548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27432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Mistakes Today</a:t>
            </a:r>
            <a:endParaRPr lang="en-US" sz="2600" dirty="0"/>
          </a:p>
        </p:txBody>
      </p:sp>
      <p:sp>
        <p:nvSpPr>
          <p:cNvPr id="42" name="Shape 40"/>
          <p:cNvSpPr/>
          <p:nvPr/>
        </p:nvSpPr>
        <p:spPr>
          <a:xfrm>
            <a:off x="457200" y="1024128"/>
            <a:ext cx="8229600" cy="0"/>
          </a:xfrm>
          <a:prstGeom prst="line">
            <a:avLst/>
          </a:prstGeom>
          <a:noFill/>
          <a:ln w="12700">
            <a:solidFill>
              <a:srgbClr val="E1E7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65760" y="1188720"/>
            <a:ext cx="40690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365760" y="1188720"/>
            <a:ext cx="54864" cy="749808"/>
          </a:xfrm>
          <a:prstGeom prst="rect">
            <a:avLst/>
          </a:prstGeom>
          <a:solidFill>
            <a:srgbClr val="C13A3A"/>
          </a:solidFill>
          <a:ln w="12700">
            <a:solidFill>
              <a:srgbClr val="C13A3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12064" y="1298448"/>
            <a:ext cx="2651760" cy="256032"/>
          </a:xfrm>
          <a:prstGeom prst="rect">
            <a:avLst/>
          </a:prstGeom>
          <a:solidFill>
            <a:srgbClr val="EEF1F8"/>
          </a:solidFill>
          <a:ln w="12700">
            <a:solidFill>
              <a:srgbClr val="D3DAE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48640" y="1316736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13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Math on Volume before cleaning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512064" y="1591056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a string (commas, dashes). Clean first.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617720" y="1188720"/>
            <a:ext cx="40690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4617720" y="1188720"/>
            <a:ext cx="54864" cy="749808"/>
          </a:xfrm>
          <a:prstGeom prst="rect">
            <a:avLst/>
          </a:prstGeom>
          <a:solidFill>
            <a:srgbClr val="B8720A"/>
          </a:solidFill>
          <a:ln w="12700">
            <a:solidFill>
              <a:srgbClr val="B8720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764024" y="1298448"/>
            <a:ext cx="2651760" cy="256032"/>
          </a:xfrm>
          <a:prstGeom prst="rect">
            <a:avLst/>
          </a:prstGeom>
          <a:solidFill>
            <a:srgbClr val="EEF1F8"/>
          </a:solidFill>
          <a:ln w="12700">
            <a:solidFill>
              <a:srgbClr val="D3DAE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00600" y="1316736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B872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Forgetting to sort by Date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4764024" y="1591056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is newest-first — MA &amp; returns break.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365760" y="2057400"/>
            <a:ext cx="40690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365760" y="2057400"/>
            <a:ext cx="54864" cy="749808"/>
          </a:xfrm>
          <a:prstGeom prst="rect">
            <a:avLst/>
          </a:prstGeom>
          <a:solidFill>
            <a:srgbClr val="C13A3A"/>
          </a:solidFill>
          <a:ln w="12700">
            <a:solidFill>
              <a:srgbClr val="C13A3A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12064" y="2167128"/>
            <a:ext cx="2651760" cy="256032"/>
          </a:xfrm>
          <a:prstGeom prst="rect">
            <a:avLst/>
          </a:prstGeom>
          <a:solidFill>
            <a:srgbClr val="EEF1F8"/>
          </a:solidFill>
          <a:ln w="12700">
            <a:solidFill>
              <a:srgbClr val="D3DAE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48640" y="2185416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13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.astype(float) on '-' values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512064" y="2459736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NLIC has '-' days. Replace with NaN first.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4617720" y="2057400"/>
            <a:ext cx="40690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4617720" y="2057400"/>
            <a:ext cx="54864" cy="749808"/>
          </a:xfrm>
          <a:prstGeom prst="rect">
            <a:avLst/>
          </a:prstGeom>
          <a:solidFill>
            <a:srgbClr val="B8720A"/>
          </a:solidFill>
          <a:ln w="12700">
            <a:solidFill>
              <a:srgbClr val="B8720A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64024" y="2167128"/>
            <a:ext cx="2651760" cy="256032"/>
          </a:xfrm>
          <a:prstGeom prst="rect">
            <a:avLst/>
          </a:prstGeom>
          <a:solidFill>
            <a:srgbClr val="EEF1F8"/>
          </a:solidFill>
          <a:ln w="12700">
            <a:solidFill>
              <a:srgbClr val="D3DAE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800600" y="2185416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B872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Correlation = causation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4764024" y="2459736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Correlated features don't cause each other.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365760" y="2926080"/>
            <a:ext cx="40690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365760" y="2926080"/>
            <a:ext cx="54864" cy="749808"/>
          </a:xfrm>
          <a:prstGeom prst="rect">
            <a:avLst/>
          </a:prstGeom>
          <a:solidFill>
            <a:srgbClr val="C13A3A"/>
          </a:solidFill>
          <a:ln w="12700">
            <a:solidFill>
              <a:srgbClr val="C13A3A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12064" y="3035808"/>
            <a:ext cx="2651760" cy="256032"/>
          </a:xfrm>
          <a:prstGeom prst="rect">
            <a:avLst/>
          </a:prstGeom>
          <a:solidFill>
            <a:srgbClr val="EEF1F8"/>
          </a:solidFill>
          <a:ln w="12700">
            <a:solidFill>
              <a:srgbClr val="D3DAE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48640" y="3054096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13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Charts with no title/labels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512064" y="3328416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chart answers a question — title it.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4617720" y="2926080"/>
            <a:ext cx="40690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4617720" y="2926080"/>
            <a:ext cx="54864" cy="749808"/>
          </a:xfrm>
          <a:prstGeom prst="rect">
            <a:avLst/>
          </a:prstGeom>
          <a:solidFill>
            <a:srgbClr val="B8720A"/>
          </a:solidFill>
          <a:ln w="12700">
            <a:solidFill>
              <a:srgbClr val="B8720A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4764024" y="3035808"/>
            <a:ext cx="2651760" cy="256032"/>
          </a:xfrm>
          <a:prstGeom prst="rect">
            <a:avLst/>
          </a:prstGeom>
          <a:solidFill>
            <a:srgbClr val="EEF1F8"/>
          </a:solidFill>
          <a:ln w="12700">
            <a:solidFill>
              <a:srgbClr val="D3DAEA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800600" y="3054096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B872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Pairplot on 30 columns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4764024" y="3328416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O(n²) — hangs Colab. Limit to top 5-6.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365760" y="3794760"/>
            <a:ext cx="40690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74" name="Shape 72"/>
          <p:cNvSpPr/>
          <p:nvPr/>
        </p:nvSpPr>
        <p:spPr>
          <a:xfrm>
            <a:off x="365760" y="3794760"/>
            <a:ext cx="54864" cy="749808"/>
          </a:xfrm>
          <a:prstGeom prst="rect">
            <a:avLst/>
          </a:prstGeom>
          <a:solidFill>
            <a:srgbClr val="C13A3A"/>
          </a:solidFill>
          <a:ln w="12700">
            <a:solidFill>
              <a:srgbClr val="C13A3A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512064" y="3904488"/>
            <a:ext cx="2651760" cy="256032"/>
          </a:xfrm>
          <a:prstGeom prst="rect">
            <a:avLst/>
          </a:prstGeom>
          <a:solidFill>
            <a:srgbClr val="EEF1F8"/>
          </a:solidFill>
          <a:ln w="12700">
            <a:solidFill>
              <a:srgbClr val="D3DAEA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48640" y="3922776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13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LabelEncoder on nominal data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512064" y="4197096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Invents a fake ranking. Use get_dummies() instead.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4617720" y="3794760"/>
            <a:ext cx="40690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79" name="Shape 77"/>
          <p:cNvSpPr/>
          <p:nvPr/>
        </p:nvSpPr>
        <p:spPr>
          <a:xfrm>
            <a:off x="4617720" y="3794760"/>
            <a:ext cx="54864" cy="749808"/>
          </a:xfrm>
          <a:prstGeom prst="rect">
            <a:avLst/>
          </a:prstGeom>
          <a:solidFill>
            <a:srgbClr val="B8720A"/>
          </a:solidFill>
          <a:ln w="12700">
            <a:solidFill>
              <a:srgbClr val="B8720A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4764024" y="3904488"/>
            <a:ext cx="2651760" cy="256032"/>
          </a:xfrm>
          <a:prstGeom prst="rect">
            <a:avLst/>
          </a:prstGeom>
          <a:solidFill>
            <a:srgbClr val="EEF1F8"/>
          </a:solidFill>
          <a:ln w="12700">
            <a:solidFill>
              <a:srgbClr val="D3DAEA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800600" y="3922776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B872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Skipping scaling before Day 10</a:t>
            </a:r>
            <a:endParaRPr lang="en-US" sz="800" dirty="0"/>
          </a:p>
        </p:txBody>
      </p:sp>
      <p:sp>
        <p:nvSpPr>
          <p:cNvPr id="82" name="Text 80"/>
          <p:cNvSpPr/>
          <p:nvPr/>
        </p:nvSpPr>
        <p:spPr>
          <a:xfrm>
            <a:off x="4764024" y="4197096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Bigger-number features can silently dominate.</a:t>
            </a:r>
            <a:endParaRPr lang="en-US" sz="900" dirty="0"/>
          </a:p>
        </p:txBody>
      </p:sp>
      <p:sp>
        <p:nvSpPr>
          <p:cNvPr id="83" name="Text 81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27</a:t>
            </a:r>
            <a:endParaRPr lang="en-US" sz="8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945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233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494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782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657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7548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B8720A"/>
          </a:solidFill>
          <a:ln w="12700">
            <a:solidFill>
              <a:srgbClr val="B8720A"/>
            </a:solidFill>
            <a:prstDash val="solid"/>
          </a:ln>
        </p:spPr>
      </p:sp>
      <p:pic>
        <p:nvPicPr>
          <p:cNvPr id="4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420624" cy="420624"/>
          </a:xfrm>
          <a:prstGeom prst="rect">
            <a:avLst/>
          </a:prstGeom>
        </p:spPr>
      </p:pic>
      <p:sp>
        <p:nvSpPr>
          <p:cNvPr id="42" name="Text 39"/>
          <p:cNvSpPr/>
          <p:nvPr/>
        </p:nvSpPr>
        <p:spPr>
          <a:xfrm>
            <a:off x="868680" y="10972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Challenge: Interactive Plotly Chart</a:t>
            </a:r>
            <a:endParaRPr lang="en-US" sz="2100" dirty="0"/>
          </a:p>
        </p:txBody>
      </p:sp>
      <p:sp>
        <p:nvSpPr>
          <p:cNvPr id="43" name="Text 40"/>
          <p:cNvSpPr/>
          <p:nvPr/>
        </p:nvSpPr>
        <p:spPr>
          <a:xfrm>
            <a:off x="365760" y="91440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Recreate your NABIL chart with Plotly — interactive, hover shows exact price &amp; date: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365760" y="1234440"/>
            <a:ext cx="8412480" cy="1783080"/>
          </a:xfrm>
          <a:prstGeom prst="rect">
            <a:avLst/>
          </a:prstGeom>
          <a:solidFill>
            <a:srgbClr val="EEF1F8"/>
          </a:solidFill>
          <a:ln w="12700">
            <a:solidFill>
              <a:srgbClr val="D3DAEA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530352" y="1344168"/>
            <a:ext cx="8083296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plotly.graph_objects as go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 = go.Figure()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fig.add_trace(go.Scatter(x=nabil['Date'], y=nabil['Close'], name='Close'))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fig.add_trace(go.Scatter(x=nabil['Date'], y=nabil['MA20'], name='20-Day MA'))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fig.add_trace(go.Scatter(x=nabil['Date'], y=nabil['MA50'], name='50-Day MA'))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fig.update_layout(title='NABIL — Interactive Price Chart',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xaxis_title='Date', yaxis_title='Price (NPR)')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fig.show()</a:t>
            </a:r>
            <a:endParaRPr lang="en-US" sz="1000" dirty="0"/>
          </a:p>
        </p:txBody>
      </p:sp>
      <p:sp>
        <p:nvSpPr>
          <p:cNvPr id="46" name="Shape 43"/>
          <p:cNvSpPr/>
          <p:nvPr/>
        </p:nvSpPr>
        <p:spPr>
          <a:xfrm>
            <a:off x="365760" y="3200400"/>
            <a:ext cx="84124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47" name="Shape 44"/>
          <p:cNvSpPr/>
          <p:nvPr/>
        </p:nvSpPr>
        <p:spPr>
          <a:xfrm>
            <a:off x="365760" y="3200400"/>
            <a:ext cx="54864" cy="731520"/>
          </a:xfrm>
          <a:prstGeom prst="rect">
            <a:avLst/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548640" y="329184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4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Bonus:</a:t>
            </a:r>
            <a:endParaRPr lang="en-US" sz="1100" dirty="0"/>
          </a:p>
        </p:txBody>
      </p:sp>
      <p:sp>
        <p:nvSpPr>
          <p:cNvPr id="49" name="Text 46"/>
          <p:cNvSpPr/>
          <p:nvPr/>
        </p:nvSpPr>
        <p:spPr>
          <a:xfrm>
            <a:off x="1554480" y="3291840"/>
            <a:ext cx="7086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one interactive chart comparing all three normalised stocks (NABIL, NLIC, NTC) — hover to compare performance on any date.</a:t>
            </a:r>
            <a:endParaRPr lang="en-US" sz="1000" dirty="0"/>
          </a:p>
        </p:txBody>
      </p:sp>
      <p:sp>
        <p:nvSpPr>
          <p:cNvPr id="50" name="Shape 47"/>
          <p:cNvSpPr/>
          <p:nvPr/>
        </p:nvSpPr>
        <p:spPr>
          <a:xfrm>
            <a:off x="365760" y="4069080"/>
            <a:ext cx="84124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51" name="Shape 48"/>
          <p:cNvSpPr/>
          <p:nvPr/>
        </p:nvSpPr>
        <p:spPr>
          <a:xfrm>
            <a:off x="365760" y="4069080"/>
            <a:ext cx="54864" cy="640080"/>
          </a:xfrm>
          <a:prstGeom prst="rect">
            <a:avLst/>
          </a:prstGeom>
          <a:solidFill>
            <a:srgbClr val="1A8A5F"/>
          </a:solidFill>
          <a:ln w="12700">
            <a:solidFill>
              <a:srgbClr val="1A8A5F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548640" y="416052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Commit:</a:t>
            </a:r>
            <a:endParaRPr lang="en-US" sz="1100" dirty="0"/>
          </a:p>
        </p:txBody>
      </p:sp>
      <p:sp>
        <p:nvSpPr>
          <p:cNvPr id="53" name="Text 50"/>
          <p:cNvSpPr/>
          <p:nvPr/>
        </p:nvSpPr>
        <p:spPr>
          <a:xfrm>
            <a:off x="1691640" y="416052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"Day 9: interactive Plotly stock charts"</a:t>
            </a:r>
            <a:endParaRPr lang="en-US" sz="1050" dirty="0"/>
          </a:p>
        </p:txBody>
      </p:sp>
      <p:sp>
        <p:nvSpPr>
          <p:cNvPr id="54" name="Text 51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27</a:t>
            </a:r>
            <a:endParaRPr lang="en-US" sz="8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945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233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494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782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657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7548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27432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9 RECAP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Learned &amp; What's Next</a:t>
            </a:r>
            <a:endParaRPr lang="en-US" sz="2600" dirty="0"/>
          </a:p>
        </p:txBody>
      </p:sp>
      <p:sp>
        <p:nvSpPr>
          <p:cNvPr id="42" name="Shape 40"/>
          <p:cNvSpPr/>
          <p:nvPr/>
        </p:nvSpPr>
        <p:spPr>
          <a:xfrm>
            <a:off x="457200" y="1024128"/>
            <a:ext cx="8229600" cy="0"/>
          </a:xfrm>
          <a:prstGeom prst="line">
            <a:avLst/>
          </a:prstGeom>
          <a:noFill/>
          <a:ln w="12700">
            <a:solidFill>
              <a:srgbClr val="E1E7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65760" y="1170432"/>
            <a:ext cx="84124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365760" y="1170432"/>
            <a:ext cx="54864" cy="402336"/>
          </a:xfrm>
          <a:prstGeom prst="rect">
            <a:avLst/>
          </a:prstGeom>
          <a:solidFill>
            <a:srgbClr val="2C4870"/>
          </a:solidFill>
          <a:ln w="12700">
            <a:solidFill>
              <a:srgbClr val="2C4870"/>
            </a:solidFill>
            <a:prstDash val="solid"/>
          </a:ln>
        </p:spPr>
      </p:sp>
      <p:pic>
        <p:nvPicPr>
          <p:cNvPr id="4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71016"/>
            <a:ext cx="182880" cy="182880"/>
          </a:xfrm>
          <a:prstGeom prst="rect">
            <a:avLst/>
          </a:prstGeom>
        </p:spPr>
      </p:pic>
      <p:sp>
        <p:nvSpPr>
          <p:cNvPr id="46" name="Text 43"/>
          <p:cNvSpPr/>
          <p:nvPr/>
        </p:nvSpPr>
        <p:spPr>
          <a:xfrm>
            <a:off x="822960" y="124358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venv</a:t>
            </a:r>
            <a:endParaRPr lang="en-US" sz="1100" dirty="0"/>
          </a:p>
        </p:txBody>
      </p:sp>
      <p:sp>
        <p:nvSpPr>
          <p:cNvPr id="47" name="Text 44"/>
          <p:cNvSpPr/>
          <p:nvPr/>
        </p:nvSpPr>
        <p:spPr>
          <a:xfrm>
            <a:off x="3200400" y="1261872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virtual environments matter + how to create and use one.</a:t>
            </a: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365760" y="1627632"/>
            <a:ext cx="84124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49" name="Shape 46"/>
          <p:cNvSpPr/>
          <p:nvPr/>
        </p:nvSpPr>
        <p:spPr>
          <a:xfrm>
            <a:off x="365760" y="1627632"/>
            <a:ext cx="54864" cy="402336"/>
          </a:xfrm>
          <a:prstGeom prst="rect">
            <a:avLst/>
          </a:prstGeom>
          <a:solidFill>
            <a:srgbClr val="0E7C9E"/>
          </a:solidFill>
          <a:ln w="12700">
            <a:solidFill>
              <a:srgbClr val="0E7C9E"/>
            </a:solidFill>
            <a:prstDash val="solid"/>
          </a:ln>
        </p:spPr>
      </p:sp>
      <p:pic>
        <p:nvPicPr>
          <p:cNvPr id="5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28216"/>
            <a:ext cx="182880" cy="182880"/>
          </a:xfrm>
          <a:prstGeom prst="rect">
            <a:avLst/>
          </a:prstGeom>
        </p:spPr>
      </p:pic>
      <p:sp>
        <p:nvSpPr>
          <p:cNvPr id="51" name="Text 47"/>
          <p:cNvSpPr/>
          <p:nvPr/>
        </p:nvSpPr>
        <p:spPr>
          <a:xfrm>
            <a:off x="822960" y="170078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loading methods</a:t>
            </a:r>
            <a:endParaRPr lang="en-US" sz="1100" dirty="0"/>
          </a:p>
        </p:txBody>
      </p:sp>
      <p:sp>
        <p:nvSpPr>
          <p:cNvPr id="52" name="Text 48"/>
          <p:cNvSpPr/>
          <p:nvPr/>
        </p:nvSpPr>
        <p:spPr>
          <a:xfrm>
            <a:off x="3200400" y="1719072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to Colab + load from GitHub/Drive — know both.</a:t>
            </a:r>
            <a:endParaRPr lang="en-US" sz="900" dirty="0"/>
          </a:p>
        </p:txBody>
      </p:sp>
      <p:sp>
        <p:nvSpPr>
          <p:cNvPr id="53" name="Shape 49"/>
          <p:cNvSpPr/>
          <p:nvPr/>
        </p:nvSpPr>
        <p:spPr>
          <a:xfrm>
            <a:off x="365760" y="2084832"/>
            <a:ext cx="84124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54" name="Shape 50"/>
          <p:cNvSpPr/>
          <p:nvPr/>
        </p:nvSpPr>
        <p:spPr>
          <a:xfrm>
            <a:off x="365760" y="2084832"/>
            <a:ext cx="54864" cy="402336"/>
          </a:xfrm>
          <a:prstGeom prst="rect">
            <a:avLst/>
          </a:prstGeom>
          <a:solidFill>
            <a:srgbClr val="1A8A5F"/>
          </a:solidFill>
          <a:ln w="12700">
            <a:solidFill>
              <a:srgbClr val="1A8A5F"/>
            </a:solidFill>
            <a:prstDash val="solid"/>
          </a:ln>
        </p:spPr>
      </p:sp>
      <p:pic>
        <p:nvPicPr>
          <p:cNvPr id="5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185416"/>
            <a:ext cx="182880" cy="182880"/>
          </a:xfrm>
          <a:prstGeom prst="rect">
            <a:avLst/>
          </a:prstGeom>
        </p:spPr>
      </p:pic>
      <p:sp>
        <p:nvSpPr>
          <p:cNvPr id="56" name="Text 51"/>
          <p:cNvSpPr/>
          <p:nvPr/>
        </p:nvSpPr>
        <p:spPr>
          <a:xfrm>
            <a:off x="822960" y="215798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NEPSE stock EDA</a:t>
            </a:r>
            <a:endParaRPr lang="en-US" sz="1100" dirty="0"/>
          </a:p>
        </p:txBody>
      </p:sp>
      <p:sp>
        <p:nvSpPr>
          <p:cNvPr id="57" name="Text 52"/>
          <p:cNvSpPr/>
          <p:nvPr/>
        </p:nvSpPr>
        <p:spPr>
          <a:xfrm>
            <a:off x="3200400" y="2176272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messy data, trends, returns, MAs, volatility, 3-stock comparison.</a:t>
            </a:r>
            <a:endParaRPr lang="en-US" sz="900" dirty="0"/>
          </a:p>
        </p:txBody>
      </p:sp>
      <p:sp>
        <p:nvSpPr>
          <p:cNvPr id="58" name="Shape 53"/>
          <p:cNvSpPr/>
          <p:nvPr/>
        </p:nvSpPr>
        <p:spPr>
          <a:xfrm>
            <a:off x="365760" y="2542032"/>
            <a:ext cx="84124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59" name="Shape 54"/>
          <p:cNvSpPr/>
          <p:nvPr/>
        </p:nvSpPr>
        <p:spPr>
          <a:xfrm>
            <a:off x="365760" y="2542032"/>
            <a:ext cx="54864" cy="402336"/>
          </a:xfrm>
          <a:prstGeom prst="rect">
            <a:avLst/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pic>
        <p:nvPicPr>
          <p:cNvPr id="60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642616"/>
            <a:ext cx="182880" cy="182880"/>
          </a:xfrm>
          <a:prstGeom prst="rect">
            <a:avLst/>
          </a:prstGeom>
        </p:spPr>
      </p:pic>
      <p:sp>
        <p:nvSpPr>
          <p:cNvPr id="61" name="Text 55"/>
          <p:cNvSpPr/>
          <p:nvPr/>
        </p:nvSpPr>
        <p:spPr>
          <a:xfrm>
            <a:off x="822960" y="261518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4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Prices EDA</a:t>
            </a:r>
            <a:endParaRPr lang="en-US" sz="1100" dirty="0"/>
          </a:p>
        </p:txBody>
      </p:sp>
      <p:sp>
        <p:nvSpPr>
          <p:cNvPr id="62" name="Text 56"/>
          <p:cNvSpPr/>
          <p:nvPr/>
        </p:nvSpPr>
        <p:spPr>
          <a:xfrm>
            <a:off x="3200400" y="2633472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values, IQR + z-score outliers, correlation, pairplot.</a:t>
            </a:r>
            <a:endParaRPr lang="en-US" sz="900" dirty="0"/>
          </a:p>
        </p:txBody>
      </p:sp>
      <p:sp>
        <p:nvSpPr>
          <p:cNvPr id="63" name="Shape 57"/>
          <p:cNvSpPr/>
          <p:nvPr/>
        </p:nvSpPr>
        <p:spPr>
          <a:xfrm>
            <a:off x="365760" y="2999232"/>
            <a:ext cx="84124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64" name="Shape 58"/>
          <p:cNvSpPr/>
          <p:nvPr/>
        </p:nvSpPr>
        <p:spPr>
          <a:xfrm>
            <a:off x="365760" y="2999232"/>
            <a:ext cx="54864" cy="402336"/>
          </a:xfrm>
          <a:prstGeom prst="rect">
            <a:avLst/>
          </a:prstGeom>
          <a:solidFill>
            <a:srgbClr val="C13A3A"/>
          </a:solidFill>
          <a:ln w="12700">
            <a:solidFill>
              <a:srgbClr val="C13A3A"/>
            </a:solidFill>
            <a:prstDash val="solid"/>
          </a:ln>
        </p:spPr>
      </p:sp>
      <p:pic>
        <p:nvPicPr>
          <p:cNvPr id="65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099816"/>
            <a:ext cx="182880" cy="182880"/>
          </a:xfrm>
          <a:prstGeom prst="rect">
            <a:avLst/>
          </a:prstGeom>
        </p:spPr>
      </p:pic>
      <p:sp>
        <p:nvSpPr>
          <p:cNvPr id="66" name="Text 59"/>
          <p:cNvSpPr/>
          <p:nvPr/>
        </p:nvSpPr>
        <p:spPr>
          <a:xfrm>
            <a:off x="822960" y="307238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1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 &amp; scaling</a:t>
            </a:r>
            <a:endParaRPr lang="en-US" sz="1100" dirty="0"/>
          </a:p>
        </p:txBody>
      </p:sp>
      <p:sp>
        <p:nvSpPr>
          <p:cNvPr id="67" name="Text 60"/>
          <p:cNvSpPr/>
          <p:nvPr/>
        </p:nvSpPr>
        <p:spPr>
          <a:xfrm>
            <a:off x="3200400" y="3090672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LabelEncoder vs get_dummies(), StandardScaler vs MinMaxScaler.</a:t>
            </a:r>
            <a:endParaRPr lang="en-US" sz="900" dirty="0"/>
          </a:p>
        </p:txBody>
      </p:sp>
      <p:sp>
        <p:nvSpPr>
          <p:cNvPr id="68" name="Shape 61"/>
          <p:cNvSpPr/>
          <p:nvPr/>
        </p:nvSpPr>
        <p:spPr>
          <a:xfrm>
            <a:off x="365760" y="3456432"/>
            <a:ext cx="84124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69" name="Shape 62"/>
          <p:cNvSpPr/>
          <p:nvPr/>
        </p:nvSpPr>
        <p:spPr>
          <a:xfrm>
            <a:off x="365760" y="3456432"/>
            <a:ext cx="54864" cy="402336"/>
          </a:xfrm>
          <a:prstGeom prst="rect">
            <a:avLst/>
          </a:prstGeom>
          <a:solidFill>
            <a:srgbClr val="B8720A"/>
          </a:solidFill>
          <a:ln w="12700">
            <a:solidFill>
              <a:srgbClr val="B8720A"/>
            </a:solidFill>
            <a:prstDash val="solid"/>
          </a:ln>
        </p:spPr>
      </p:sp>
      <p:pic>
        <p:nvPicPr>
          <p:cNvPr id="70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557016"/>
            <a:ext cx="182880" cy="182880"/>
          </a:xfrm>
          <a:prstGeom prst="rect">
            <a:avLst/>
          </a:prstGeom>
        </p:spPr>
      </p:pic>
      <p:sp>
        <p:nvSpPr>
          <p:cNvPr id="71" name="Text 63"/>
          <p:cNvSpPr/>
          <p:nvPr/>
        </p:nvSpPr>
        <p:spPr>
          <a:xfrm>
            <a:off x="822960" y="352958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87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data exported</a:t>
            </a:r>
            <a:endParaRPr lang="en-US" sz="1100" dirty="0"/>
          </a:p>
        </p:txBody>
      </p:sp>
      <p:sp>
        <p:nvSpPr>
          <p:cNvPr id="72" name="Text 64"/>
          <p:cNvSpPr/>
          <p:nvPr/>
        </p:nvSpPr>
        <p:spPr>
          <a:xfrm>
            <a:off x="3200400" y="3547872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NABIL_clean.csv ready for tomorrow's prediction.</a:t>
            </a:r>
            <a:endParaRPr lang="en-US" sz="900" dirty="0"/>
          </a:p>
        </p:txBody>
      </p:sp>
      <p:sp>
        <p:nvSpPr>
          <p:cNvPr id="73" name="Shape 65"/>
          <p:cNvSpPr/>
          <p:nvPr/>
        </p:nvSpPr>
        <p:spPr>
          <a:xfrm>
            <a:off x="365760" y="3977640"/>
            <a:ext cx="8412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74" name="Shape 66"/>
          <p:cNvSpPr/>
          <p:nvPr/>
        </p:nvSpPr>
        <p:spPr>
          <a:xfrm>
            <a:off x="365760" y="3977640"/>
            <a:ext cx="54864" cy="868680"/>
          </a:xfrm>
          <a:prstGeom prst="rect">
            <a:avLst/>
          </a:prstGeom>
          <a:solidFill>
            <a:srgbClr val="0E7C9E"/>
          </a:solidFill>
          <a:ln w="12700">
            <a:solidFill>
              <a:srgbClr val="0E7C9E"/>
            </a:solidFill>
            <a:prstDash val="solid"/>
          </a:ln>
        </p:spPr>
      </p:sp>
      <p:sp>
        <p:nvSpPr>
          <p:cNvPr id="75" name="Text 67"/>
          <p:cNvSpPr/>
          <p:nvPr/>
        </p:nvSpPr>
        <p:spPr>
          <a:xfrm>
            <a:off x="548640" y="4050792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7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 — Day 10: Your First ML Models</a:t>
            </a:r>
            <a:endParaRPr lang="en-US" sz="1250" dirty="0"/>
          </a:p>
        </p:txBody>
      </p:sp>
      <p:sp>
        <p:nvSpPr>
          <p:cNvPr id="76" name="Text 68"/>
          <p:cNvSpPr/>
          <p:nvPr/>
        </p:nvSpPr>
        <p:spPr>
          <a:xfrm>
            <a:off x="548640" y="432511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NABIL_clean.csv and build Linear Regression (predict next-day price) + Logistic Regression (predict up/down direction). The two-day arc completes: cleaned today, predicted tomorrow.</a:t>
            </a:r>
            <a:endParaRPr lang="en-US" sz="1000" dirty="0"/>
          </a:p>
        </p:txBody>
      </p:sp>
      <p:sp>
        <p:nvSpPr>
          <p:cNvPr id="77" name="Text 69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27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</TotalTime>
  <Words>4617</Words>
  <Application>Microsoft Office PowerPoint</Application>
  <PresentationFormat>On-screen Show (16:9)</PresentationFormat>
  <Paragraphs>615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9 — EDA &amp; Visualisation</dc:title>
  <dc:subject>PptxGenJS Presentation</dc:subject>
  <dc:creator>PptxGenJS</dc:creator>
  <cp:lastModifiedBy>Gagan Pradhan</cp:lastModifiedBy>
  <cp:revision>3</cp:revision>
  <dcterms:created xsi:type="dcterms:W3CDTF">2026-07-07T07:48:51Z</dcterms:created>
  <dcterms:modified xsi:type="dcterms:W3CDTF">2026-07-07T11:13:56Z</dcterms:modified>
</cp:coreProperties>
</file>