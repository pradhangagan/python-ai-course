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pic>
        <p:nvPicPr>
          <p:cNvPr id="1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16  ·  WEEK 3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Processing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OpenCV</a:t>
            </a:r>
            <a:endParaRPr lang="en-US" sz="3800" dirty="0"/>
          </a:p>
        </p:txBody>
      </p:sp>
      <p:sp>
        <p:nvSpPr>
          <p:cNvPr id="185" name="Text 182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see: pixels, color spaces, blurring, edges, contours, bounding boxes</a:t>
            </a:r>
            <a:endParaRPr lang="en-US" sz="1500" dirty="0"/>
          </a:p>
        </p:txBody>
      </p:sp>
      <p:sp>
        <p:nvSpPr>
          <p:cNvPr id="186" name="Text 183"/>
          <p:cNvSpPr/>
          <p:nvPr/>
        </p:nvSpPr>
        <p:spPr>
          <a:xfrm>
            <a:off x="64008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  ·  New primary tool: OpenCV (cv2)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visual, hands-on change of pace after Day 15's theory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18872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31520" y="14173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</p:sp>
      <p:sp>
        <p:nvSpPr>
          <p:cNvPr id="187" name="Text 185"/>
          <p:cNvSpPr/>
          <p:nvPr/>
        </p:nvSpPr>
        <p:spPr>
          <a:xfrm>
            <a:off x="731520" y="1417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0:00 – 0:40</a:t>
            </a:r>
            <a:endParaRPr lang="en-US" sz="1050" dirty="0"/>
          </a:p>
        </p:txBody>
      </p:sp>
      <p:sp>
        <p:nvSpPr>
          <p:cNvPr id="188" name="Text 186"/>
          <p:cNvSpPr/>
          <p:nvPr/>
        </p:nvSpPr>
        <p:spPr>
          <a:xfrm>
            <a:off x="2331720" y="1243584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500" dirty="0"/>
          </a:p>
        </p:txBody>
      </p:sp>
      <p:sp>
        <p:nvSpPr>
          <p:cNvPr id="189" name="Text 187"/>
          <p:cNvSpPr/>
          <p:nvPr/>
        </p:nvSpPr>
        <p:spPr>
          <a:xfrm>
            <a:off x="2331720" y="159105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as numbers · BGR vs RGB · blur · Canny · thresholding</a:t>
            </a:r>
            <a:endParaRPr lang="en-US" sz="1100" dirty="0"/>
          </a:p>
        </p:txBody>
      </p:sp>
      <p:sp>
        <p:nvSpPr>
          <p:cNvPr id="190" name="Shape 188"/>
          <p:cNvSpPr/>
          <p:nvPr/>
        </p:nvSpPr>
        <p:spPr>
          <a:xfrm>
            <a:off x="502920" y="2084832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1" name="Shape 189"/>
          <p:cNvSpPr/>
          <p:nvPr/>
        </p:nvSpPr>
        <p:spPr>
          <a:xfrm>
            <a:off x="731520" y="231343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3EDFD"/>
          </a:solidFill>
          <a:ln/>
        </p:spPr>
      </p:sp>
      <p:sp>
        <p:nvSpPr>
          <p:cNvPr id="192" name="Text 190"/>
          <p:cNvSpPr/>
          <p:nvPr/>
        </p:nvSpPr>
        <p:spPr>
          <a:xfrm>
            <a:off x="731520" y="2313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0:40 – 1:15</a:t>
            </a:r>
            <a:endParaRPr lang="en-US" sz="1050" dirty="0"/>
          </a:p>
        </p:txBody>
      </p:sp>
      <p:sp>
        <p:nvSpPr>
          <p:cNvPr id="193" name="Text 191"/>
          <p:cNvSpPr/>
          <p:nvPr/>
        </p:nvSpPr>
        <p:spPr>
          <a:xfrm>
            <a:off x="2331720" y="213969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fix color, transform</a:t>
            </a:r>
            <a:endParaRPr lang="en-US" sz="1500" dirty="0"/>
          </a:p>
        </p:txBody>
      </p:sp>
      <p:sp>
        <p:nvSpPr>
          <p:cNvPr id="194" name="Text 192"/>
          <p:cNvSpPr/>
          <p:nvPr/>
        </p:nvSpPr>
        <p:spPr>
          <a:xfrm>
            <a:off x="2331720" y="248716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Resize, crop, grayscale, blur — with the BGR mistake shown live</a:t>
            </a:r>
            <a:endParaRPr lang="en-US" sz="1100" dirty="0"/>
          </a:p>
        </p:txBody>
      </p:sp>
      <p:sp>
        <p:nvSpPr>
          <p:cNvPr id="195" name="Shape 193"/>
          <p:cNvSpPr/>
          <p:nvPr/>
        </p:nvSpPr>
        <p:spPr>
          <a:xfrm>
            <a:off x="502920" y="2980944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6" name="Shape 194"/>
          <p:cNvSpPr/>
          <p:nvPr/>
        </p:nvSpPr>
        <p:spPr>
          <a:xfrm>
            <a:off x="731520" y="3209544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/>
        </p:spPr>
      </p:sp>
      <p:sp>
        <p:nvSpPr>
          <p:cNvPr id="197" name="Text 195"/>
          <p:cNvSpPr/>
          <p:nvPr/>
        </p:nvSpPr>
        <p:spPr>
          <a:xfrm>
            <a:off x="731520" y="32095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1:15 – 1:45</a:t>
            </a:r>
            <a:endParaRPr lang="en-US" sz="1050" dirty="0"/>
          </a:p>
        </p:txBody>
      </p:sp>
      <p:sp>
        <p:nvSpPr>
          <p:cNvPr id="198" name="Text 196"/>
          <p:cNvSpPr/>
          <p:nvPr/>
        </p:nvSpPr>
        <p:spPr>
          <a:xfrm>
            <a:off x="2331720" y="3035808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&amp; contours</a:t>
            </a:r>
            <a:endParaRPr lang="en-US" sz="1500" dirty="0"/>
          </a:p>
        </p:txBody>
      </p:sp>
      <p:sp>
        <p:nvSpPr>
          <p:cNvPr id="199" name="Text 197"/>
          <p:cNvSpPr/>
          <p:nvPr/>
        </p:nvSpPr>
        <p:spPr>
          <a:xfrm>
            <a:off x="2331720" y="338328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 detection, then bounding boxes on real shapes</a:t>
            </a:r>
            <a:endParaRPr lang="en-US" sz="1100" dirty="0"/>
          </a:p>
        </p:txBody>
      </p:sp>
      <p:sp>
        <p:nvSpPr>
          <p:cNvPr id="200" name="Shape 198"/>
          <p:cNvSpPr/>
          <p:nvPr/>
        </p:nvSpPr>
        <p:spPr>
          <a:xfrm>
            <a:off x="502920" y="3877056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1" name="Shape 199"/>
          <p:cNvSpPr/>
          <p:nvPr/>
        </p:nvSpPr>
        <p:spPr>
          <a:xfrm>
            <a:off x="731520" y="410565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DF2E2"/>
          </a:solidFill>
          <a:ln/>
        </p:spPr>
      </p:sp>
      <p:sp>
        <p:nvSpPr>
          <p:cNvPr id="202" name="Text 200"/>
          <p:cNvSpPr/>
          <p:nvPr/>
        </p:nvSpPr>
        <p:spPr>
          <a:xfrm>
            <a:off x="731520" y="41056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1:45 – 2:00</a:t>
            </a:r>
            <a:endParaRPr lang="en-US" sz="1050" dirty="0"/>
          </a:p>
        </p:txBody>
      </p:sp>
      <p:sp>
        <p:nvSpPr>
          <p:cNvPr id="203" name="Text 201"/>
          <p:cNvSpPr/>
          <p:nvPr/>
        </p:nvSpPr>
        <p:spPr>
          <a:xfrm>
            <a:off x="2331720" y="393192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webcam + challenge briefing</a:t>
            </a:r>
            <a:endParaRPr lang="en-US" sz="1500" dirty="0"/>
          </a:p>
        </p:txBody>
      </p:sp>
      <p:sp>
        <p:nvSpPr>
          <p:cNvPr id="204" name="Text 202"/>
          <p:cNvSpPr/>
          <p:nvPr/>
        </p:nvSpPr>
        <p:spPr>
          <a:xfrm>
            <a:off x="2331720" y="427939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if available · document scanner challenge intro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Is Just a Grid of Numbers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You've been doing this since Day 8 without realizing it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= (height, width, 3)     ·     each pixel = 3 numbers, 0–255</a:t>
            </a:r>
            <a:endParaRPr lang="en-US" sz="1900" dirty="0"/>
          </a:p>
        </p:txBody>
      </p:sp>
      <p:sp>
        <p:nvSpPr>
          <p:cNvPr id="187" name="Shape 185"/>
          <p:cNvSpPr/>
          <p:nvPr/>
        </p:nvSpPr>
        <p:spPr>
          <a:xfrm>
            <a:off x="502920" y="260604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3152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image</a:t>
            </a:r>
            <a:endParaRPr lang="en-US" sz="1400" dirty="0"/>
          </a:p>
        </p:txBody>
      </p:sp>
      <p:sp>
        <p:nvSpPr>
          <p:cNvPr id="189" name="Text 187"/>
          <p:cNvSpPr/>
          <p:nvPr/>
        </p:nvSpPr>
        <p:spPr>
          <a:xfrm>
            <a:off x="731520" y="31546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grid: height × width × 3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channels per pixel</a:t>
            </a:r>
            <a:endParaRPr lang="en-US" sz="1250" dirty="0"/>
          </a:p>
        </p:txBody>
      </p:sp>
      <p:sp>
        <p:nvSpPr>
          <p:cNvPr id="190" name="Shape 188"/>
          <p:cNvSpPr/>
          <p:nvPr/>
        </p:nvSpPr>
        <p:spPr>
          <a:xfrm>
            <a:off x="4709160" y="2606040"/>
            <a:ext cx="3931920" cy="1737360"/>
          </a:xfrm>
          <a:prstGeom prst="roundRect">
            <a:avLst>
              <a:gd name="adj" fmla="val 3158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1" name="Text 189"/>
          <p:cNvSpPr/>
          <p:nvPr/>
        </p:nvSpPr>
        <p:spPr>
          <a:xfrm>
            <a:off x="4937760" y="2788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image</a:t>
            </a:r>
            <a:endParaRPr lang="en-US" sz="1400" dirty="0"/>
          </a:p>
        </p:txBody>
      </p:sp>
      <p:sp>
        <p:nvSpPr>
          <p:cNvPr id="192" name="Text 190"/>
          <p:cNvSpPr/>
          <p:nvPr/>
        </p:nvSpPr>
        <p:spPr>
          <a:xfrm>
            <a:off x="4937760" y="31546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grid: height × width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number per pixel (0=black, 255=white)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Gotcha: OpenCV Reads BGR, Not RGB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deserves real class time — not a footnote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005840"/>
          </a:xfrm>
          <a:prstGeom prst="roundRect">
            <a:avLst>
              <a:gd name="adj" fmla="val 4545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53312"/>
            <a:ext cx="79187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cv2.imread("fruits.jpg")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print(img[0,0])   # -&gt; (13, 62, 130)   &lt;- Blue, Green, RED</a:t>
            </a:r>
            <a:endParaRPr lang="en-US" sz="1300" dirty="0"/>
          </a:p>
        </p:txBody>
      </p:sp>
      <p:sp>
        <p:nvSpPr>
          <p:cNvPr id="187" name="Shape 185"/>
          <p:cNvSpPr/>
          <p:nvPr/>
        </p:nvSpPr>
        <p:spPr>
          <a:xfrm>
            <a:off x="502920" y="246888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46888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31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is a strong RED value — </a:t>
            </a:r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it's sitting in the LAST position, not first. matplotlib expects RGB. Skip the fix and every image looks sunburned: skies orange, skin blue.</a:t>
            </a:r>
            <a:endParaRPr lang="en-US" sz="1400" dirty="0"/>
          </a:p>
        </p:txBody>
      </p:sp>
      <p:sp>
        <p:nvSpPr>
          <p:cNvPr id="189" name="Shape 187"/>
          <p:cNvSpPr/>
          <p:nvPr/>
        </p:nvSpPr>
        <p:spPr>
          <a:xfrm>
            <a:off x="502920" y="3886200"/>
            <a:ext cx="8138160" cy="777240"/>
          </a:xfrm>
          <a:prstGeom prst="roundRect">
            <a:avLst>
              <a:gd name="adj" fmla="val 5882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612648" y="3959352"/>
            <a:ext cx="79187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img_rgb = cv2.cvtColor(img, cv2.COLOR_BGR2RGB)   # fix before plt.imshow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BGR? A 1990s Quirk, Kept Forever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bug — permanent, universal practice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71600"/>
            <a:ext cx="8138160" cy="1554480"/>
          </a:xfrm>
          <a:prstGeom prst="roundRect">
            <a:avLst>
              <a:gd name="adj" fmla="val 3529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5544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OpenCV's original Windows/camera-driver roots stored color this way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ever since for backward compatibility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PIL, TensorFlow all expect RGB instead</a:t>
            </a:r>
            <a:endParaRPr lang="en-US" sz="1350" dirty="0"/>
          </a:p>
        </p:txBody>
      </p:sp>
      <p:sp>
        <p:nvSpPr>
          <p:cNvPr id="187" name="Shape 185"/>
          <p:cNvSpPr/>
          <p:nvPr/>
        </p:nvSpPr>
        <p:spPr>
          <a:xfrm>
            <a:off x="502920" y="310896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10896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to drill: if colors look wrong, this is always the first thing to check.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Transformations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just array operations — nothing magical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737360"/>
          </a:xfrm>
          <a:prstGeom prst="roundRect">
            <a:avLst>
              <a:gd name="adj" fmla="val 2632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53312"/>
            <a:ext cx="791870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resized = cv2.resize(img, (256, 256))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cropped = img[50:200, 100:300]        # NumPy slicing = cropping!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flipped = cv2.flip(img, 1)            # 1 = horizontal, 0 = vertical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    = cv2.cvtColor(img, cv2.COLOR_BGR2GRAY)</a:t>
            </a:r>
            <a:endParaRPr lang="en-US" sz="1300" dirty="0"/>
          </a:p>
        </p:txBody>
      </p:sp>
      <p:sp>
        <p:nvSpPr>
          <p:cNvPr id="187" name="Shape 185"/>
          <p:cNvSpPr/>
          <p:nvPr/>
        </p:nvSpPr>
        <p:spPr>
          <a:xfrm>
            <a:off x="502920" y="320040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2004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cv2.crop() exists. </a:t>
            </a:r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is just an array — the exact NumPy slicing from Day 8 already IS cropping.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Space Conversions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cvtColor does more than fix BGR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25880"/>
            <a:ext cx="8138160" cy="896112"/>
          </a:xfrm>
          <a:prstGeom prst="roundRect">
            <a:avLst>
              <a:gd name="adj" fmla="val 6122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325880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BGR2RGB</a:t>
            </a:r>
            <a:endParaRPr lang="en-US" sz="1500" dirty="0"/>
          </a:p>
        </p:txBody>
      </p:sp>
      <p:sp>
        <p:nvSpPr>
          <p:cNvPr id="187" name="Text 185"/>
          <p:cNvSpPr/>
          <p:nvPr/>
        </p:nvSpPr>
        <p:spPr>
          <a:xfrm>
            <a:off x="2880360" y="1325880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display in matplotlib</a:t>
            </a:r>
            <a:endParaRPr lang="en-US" sz="1300" dirty="0"/>
          </a:p>
        </p:txBody>
      </p:sp>
      <p:sp>
        <p:nvSpPr>
          <p:cNvPr id="188" name="Shape 186"/>
          <p:cNvSpPr/>
          <p:nvPr/>
        </p:nvSpPr>
        <p:spPr>
          <a:xfrm>
            <a:off x="502920" y="2377440"/>
            <a:ext cx="8138160" cy="896112"/>
          </a:xfrm>
          <a:prstGeom prst="roundRect">
            <a:avLst>
              <a:gd name="adj" fmla="val 6122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777240" y="2377440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BGR2GRAY</a:t>
            </a:r>
            <a:endParaRPr lang="en-US" sz="1500" dirty="0"/>
          </a:p>
        </p:txBody>
      </p:sp>
      <p:sp>
        <p:nvSpPr>
          <p:cNvPr id="190" name="Text 188"/>
          <p:cNvSpPr/>
          <p:nvPr/>
        </p:nvSpPr>
        <p:spPr>
          <a:xfrm>
            <a:off x="2880360" y="2377440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CV algorithms don't need color, just structure</a:t>
            </a:r>
            <a:endParaRPr lang="en-US" sz="1300" dirty="0"/>
          </a:p>
        </p:txBody>
      </p:sp>
      <p:sp>
        <p:nvSpPr>
          <p:cNvPr id="191" name="Shape 189"/>
          <p:cNvSpPr/>
          <p:nvPr/>
        </p:nvSpPr>
        <p:spPr>
          <a:xfrm>
            <a:off x="502920" y="3429000"/>
            <a:ext cx="8138160" cy="896112"/>
          </a:xfrm>
          <a:prstGeom prst="roundRect">
            <a:avLst>
              <a:gd name="adj" fmla="val 6122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777240" y="3429000"/>
            <a:ext cx="2011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BGR2HSV</a:t>
            </a:r>
            <a:endParaRPr lang="en-US" sz="1500" dirty="0"/>
          </a:p>
        </p:txBody>
      </p:sp>
      <p:sp>
        <p:nvSpPr>
          <p:cNvPr id="193" name="Text 191"/>
          <p:cNvSpPr/>
          <p:nvPr/>
        </p:nvSpPr>
        <p:spPr>
          <a:xfrm>
            <a:off x="2880360" y="3429000"/>
            <a:ext cx="5577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hue-saturation-value — better for color filtering (1 number = hue, not 3)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each pixel with a weighted average of its neighbors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77240" y="12801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neighbors count more → smooths out noise</a:t>
            </a:r>
            <a:endParaRPr lang="en-US" sz="1700" dirty="0"/>
          </a:p>
        </p:txBody>
      </p:sp>
      <p:sp>
        <p:nvSpPr>
          <p:cNvPr id="187" name="Shape 185"/>
          <p:cNvSpPr/>
          <p:nvPr/>
        </p:nvSpPr>
        <p:spPr>
          <a:xfrm>
            <a:off x="502920" y="2606040"/>
            <a:ext cx="8138160" cy="777240"/>
          </a:xfrm>
          <a:prstGeom prst="roundRect">
            <a:avLst>
              <a:gd name="adj" fmla="val 5882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612648" y="2679192"/>
            <a:ext cx="79187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blur = cv2.GaussianBlur(gray, (5, 5), 0)   # kernel size must be ODD</a:t>
            </a:r>
            <a:endParaRPr lang="en-US" sz="1300" dirty="0"/>
          </a:p>
        </p:txBody>
      </p:sp>
      <p:sp>
        <p:nvSpPr>
          <p:cNvPr id="189" name="Shape 187"/>
          <p:cNvSpPr/>
          <p:nvPr/>
        </p:nvSpPr>
        <p:spPr>
          <a:xfrm>
            <a:off x="502920" y="361188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9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840480"/>
            <a:ext cx="457200" cy="457200"/>
          </a:xfrm>
          <a:prstGeom prst="rect">
            <a:avLst/>
          </a:prstGeom>
        </p:spPr>
      </p:pic>
      <p:sp>
        <p:nvSpPr>
          <p:cNvPr id="191" name="Text 188"/>
          <p:cNvSpPr/>
          <p:nvPr/>
        </p:nvSpPr>
        <p:spPr>
          <a:xfrm>
            <a:off x="1417320" y="361188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blur before Canny? </a:t>
            </a:r>
            <a:pPr indent="0" marL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edge detection catches every tiny speckle as a false edge.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Edge Detection — Three Stages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one step — a pipeline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25880"/>
            <a:ext cx="2606040" cy="2468880"/>
          </a:xfrm>
          <a:prstGeom prst="roundRect">
            <a:avLst>
              <a:gd name="adj" fmla="val 2222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1536192" y="1508760"/>
            <a:ext cx="548640" cy="54864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87" name="Text 185"/>
          <p:cNvSpPr/>
          <p:nvPr/>
        </p:nvSpPr>
        <p:spPr>
          <a:xfrm>
            <a:off x="153619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88" name="Text 186"/>
          <p:cNvSpPr/>
          <p:nvPr/>
        </p:nvSpPr>
        <p:spPr>
          <a:xfrm>
            <a:off x="64008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blur</a:t>
            </a:r>
            <a:endParaRPr lang="en-US" sz="1350" dirty="0"/>
          </a:p>
        </p:txBody>
      </p:sp>
      <p:sp>
        <p:nvSpPr>
          <p:cNvPr id="189" name="Text 187"/>
          <p:cNvSpPr/>
          <p:nvPr/>
        </p:nvSpPr>
        <p:spPr>
          <a:xfrm>
            <a:off x="640080" y="2651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noise first</a:t>
            </a:r>
            <a:endParaRPr lang="en-US" sz="1150" dirty="0"/>
          </a:p>
        </p:txBody>
      </p:sp>
      <p:sp>
        <p:nvSpPr>
          <p:cNvPr id="190" name="Shape 188"/>
          <p:cNvSpPr/>
          <p:nvPr/>
        </p:nvSpPr>
        <p:spPr>
          <a:xfrm>
            <a:off x="3291840" y="1325880"/>
            <a:ext cx="2606040" cy="2468880"/>
          </a:xfrm>
          <a:prstGeom prst="roundRect">
            <a:avLst>
              <a:gd name="adj" fmla="val 2222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1" name="Shape 189"/>
          <p:cNvSpPr/>
          <p:nvPr/>
        </p:nvSpPr>
        <p:spPr>
          <a:xfrm>
            <a:off x="4325112" y="150876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2" name="Text 190"/>
          <p:cNvSpPr/>
          <p:nvPr/>
        </p:nvSpPr>
        <p:spPr>
          <a:xfrm>
            <a:off x="432511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93" name="Text 191"/>
          <p:cNvSpPr/>
          <p:nvPr/>
        </p:nvSpPr>
        <p:spPr>
          <a:xfrm>
            <a:off x="342900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gradients</a:t>
            </a:r>
            <a:endParaRPr lang="en-US" sz="1350" dirty="0"/>
          </a:p>
        </p:txBody>
      </p:sp>
      <p:sp>
        <p:nvSpPr>
          <p:cNvPr id="194" name="Text 192"/>
          <p:cNvSpPr/>
          <p:nvPr/>
        </p:nvSpPr>
        <p:spPr>
          <a:xfrm>
            <a:off x="3429000" y="2651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changing fast = probably an edge</a:t>
            </a:r>
            <a:endParaRPr lang="en-US" sz="1150" dirty="0"/>
          </a:p>
        </p:txBody>
      </p:sp>
      <p:sp>
        <p:nvSpPr>
          <p:cNvPr id="195" name="Shape 193"/>
          <p:cNvSpPr/>
          <p:nvPr/>
        </p:nvSpPr>
        <p:spPr>
          <a:xfrm>
            <a:off x="6080760" y="1325880"/>
            <a:ext cx="2606040" cy="2468880"/>
          </a:xfrm>
          <a:prstGeom prst="roundRect">
            <a:avLst>
              <a:gd name="adj" fmla="val 2222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6" name="Shape 194"/>
          <p:cNvSpPr/>
          <p:nvPr/>
        </p:nvSpPr>
        <p:spPr>
          <a:xfrm>
            <a:off x="7114032" y="15087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7" name="Text 195"/>
          <p:cNvSpPr/>
          <p:nvPr/>
        </p:nvSpPr>
        <p:spPr>
          <a:xfrm>
            <a:off x="711403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8" name="Text 196"/>
          <p:cNvSpPr/>
          <p:nvPr/>
        </p:nvSpPr>
        <p:spPr>
          <a:xfrm>
            <a:off x="621792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Non-max + hysteresis</a:t>
            </a:r>
            <a:endParaRPr lang="en-US" sz="1350" dirty="0"/>
          </a:p>
        </p:txBody>
      </p:sp>
      <p:sp>
        <p:nvSpPr>
          <p:cNvPr id="199" name="Text 197"/>
          <p:cNvSpPr/>
          <p:nvPr/>
        </p:nvSpPr>
        <p:spPr>
          <a:xfrm>
            <a:off x="6217920" y="26517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lines, keep only real edges via 2 thresholds</a:t>
            </a:r>
            <a:endParaRPr lang="en-US" sz="1150" dirty="0"/>
          </a:p>
        </p:txBody>
      </p:sp>
      <p:sp>
        <p:nvSpPr>
          <p:cNvPr id="200" name="Shape 198"/>
          <p:cNvSpPr/>
          <p:nvPr/>
        </p:nvSpPr>
        <p:spPr>
          <a:xfrm>
            <a:off x="502920" y="3977640"/>
            <a:ext cx="8138160" cy="685800"/>
          </a:xfrm>
          <a:prstGeom prst="roundRect">
            <a:avLst>
              <a:gd name="adj" fmla="val 6667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612648" y="4050792"/>
            <a:ext cx="79187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= cv2.Canny(blur, 50, 150)   # low threshold, high threshold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11,008 Edge Pixels Found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fruits.jpg sample — 4.5% of the image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2588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7373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11,008</a:t>
            </a:r>
            <a:endParaRPr lang="en-US" sz="4200" dirty="0"/>
          </a:p>
        </p:txBody>
      </p:sp>
      <p:sp>
        <p:nvSpPr>
          <p:cNvPr id="187" name="Text 185"/>
          <p:cNvSpPr/>
          <p:nvPr/>
        </p:nvSpPr>
        <p:spPr>
          <a:xfrm>
            <a:off x="731520" y="26974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pixels out of 245,760 total (4.5%)</a:t>
            </a:r>
            <a:endParaRPr lang="en-US" sz="1300" dirty="0"/>
          </a:p>
        </p:txBody>
      </p:sp>
      <p:sp>
        <p:nvSpPr>
          <p:cNvPr id="188" name="Shape 186"/>
          <p:cNvSpPr/>
          <p:nvPr/>
        </p:nvSpPr>
        <p:spPr>
          <a:xfrm>
            <a:off x="4709160" y="132588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4937760" y="15087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live</a:t>
            </a:r>
            <a:endParaRPr lang="en-US" sz="1400" dirty="0"/>
          </a:p>
        </p:txBody>
      </p:sp>
      <p:sp>
        <p:nvSpPr>
          <p:cNvPr id="190" name="Text 188"/>
          <p:cNvSpPr/>
          <p:nvPr/>
        </p:nvSpPr>
        <p:spPr>
          <a:xfrm>
            <a:off x="4937760" y="192024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Canny(blur, 10, 50) → too sensitive, noisy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Canny(blur, 100, 200) → too strict, misses real edges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classroom discovery moment of the day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Drawing Shapes &amp; Thresholding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behind every bounding box in Days 20–22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280160"/>
          </a:xfrm>
          <a:prstGeom prst="roundRect">
            <a:avLst>
              <a:gd name="adj" fmla="val 3571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53312"/>
            <a:ext cx="79187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cv2.rectangle(img, (x1,y1), (x2,y2), (0,255,0), 3)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cv2.circle(img, (cx,cy), radius, (255,0,0), -1)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cv2.putText(img, "label", (x,y), font, 1, (255,255,255), 2)</a:t>
            </a:r>
            <a:endParaRPr lang="en-US" sz="1250" dirty="0"/>
          </a:p>
        </p:txBody>
      </p:sp>
      <p:sp>
        <p:nvSpPr>
          <p:cNvPr id="187" name="Shape 185"/>
          <p:cNvSpPr/>
          <p:nvPr/>
        </p:nvSpPr>
        <p:spPr>
          <a:xfrm>
            <a:off x="502920" y="2743200"/>
            <a:ext cx="8138160" cy="1371600"/>
          </a:xfrm>
          <a:prstGeom prst="roundRect">
            <a:avLst>
              <a:gd name="adj" fmla="val 4000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74320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Thresholding converts grayscale into a BINARY MASK </a:t>
            </a:r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(pure black/white) — the required input format for contour detection, coming up next.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pic>
        <p:nvPicPr>
          <p:cNvPr id="1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777240"/>
            <a:ext cx="777240" cy="777240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640080" y="1463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— 80 MINUTES</a:t>
            </a:r>
            <a:endParaRPr lang="en-US" sz="1400" dirty="0"/>
          </a:p>
        </p:txBody>
      </p:sp>
      <p:sp>
        <p:nvSpPr>
          <p:cNvPr id="184" name="Text 181"/>
          <p:cNvSpPr/>
          <p:nvPr/>
        </p:nvSpPr>
        <p:spPr>
          <a:xfrm>
            <a:off x="640080" y="18745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With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Eyes</a:t>
            </a:r>
            <a:endParaRPr lang="en-US" sz="3600" dirty="0"/>
          </a:p>
        </p:txBody>
      </p:sp>
      <p:sp>
        <p:nvSpPr>
          <p:cNvPr id="185" name="Text 182"/>
          <p:cNvSpPr/>
          <p:nvPr/>
        </p:nvSpPr>
        <p:spPr>
          <a:xfrm>
            <a:off x="640080" y="3383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→ fix color → transform → blur → edges → contours → bounding boxes</a:t>
            </a:r>
            <a:endParaRPr lang="en-US" sz="1450" dirty="0"/>
          </a:p>
        </p:txBody>
      </p:sp>
      <p:sp>
        <p:nvSpPr>
          <p:cNvPr id="186" name="Text 183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ahead was validated by real runs this session.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Load, Display, Fix the Color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mistake on purpose, then fix it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554480"/>
          </a:xfrm>
          <a:prstGeom prst="roundRect">
            <a:avLst>
              <a:gd name="adj" fmla="val 2941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= cv2.imread("sample.jpg")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print(img.shape, img.dtype)   # (480, 512, 3) uint8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img_rgb = cv2.cvtColor(img, cv2.COLOR_BGR2RGB)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plt.imshow(img_rgb)   # correct colors</a:t>
            </a:r>
            <a:endParaRPr lang="en-US" sz="1250" dirty="0"/>
          </a:p>
        </p:txBody>
      </p:sp>
      <p:sp>
        <p:nvSpPr>
          <p:cNvPr id="187" name="Shape 185"/>
          <p:cNvSpPr/>
          <p:nvPr/>
        </p:nvSpPr>
        <p:spPr>
          <a:xfrm>
            <a:off x="502920" y="3017520"/>
            <a:ext cx="8138160" cy="1234440"/>
          </a:xfrm>
          <a:prstGeom prst="roundRect">
            <a:avLst>
              <a:gd name="adj" fmla="val 4444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017520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pPr indent="0" marL="0">
              <a:buNone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plt.imshow(img) WITHOUT conversion right next to the fixed version. Students seeing the color swap with their own eyes is far more memorable than being told about it.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Four Transformations, Side by Side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Resized · Cropped · Grayscale · Blurred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71600"/>
            <a:ext cx="1901952" cy="1737360"/>
          </a:xfrm>
          <a:prstGeom prst="roundRect">
            <a:avLst>
              <a:gd name="adj" fmla="val 3158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502920" y="16002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Resized</a:t>
            </a:r>
            <a:endParaRPr lang="en-US" sz="1400" dirty="0"/>
          </a:p>
        </p:txBody>
      </p:sp>
      <p:sp>
        <p:nvSpPr>
          <p:cNvPr id="187" name="Text 185"/>
          <p:cNvSpPr/>
          <p:nvPr/>
        </p:nvSpPr>
        <p:spPr>
          <a:xfrm>
            <a:off x="594360" y="205740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256×256</a:t>
            </a:r>
            <a:endParaRPr lang="en-US" sz="1150" dirty="0"/>
          </a:p>
        </p:txBody>
      </p:sp>
      <p:sp>
        <p:nvSpPr>
          <p:cNvPr id="188" name="Shape 186"/>
          <p:cNvSpPr/>
          <p:nvPr/>
        </p:nvSpPr>
        <p:spPr>
          <a:xfrm>
            <a:off x="2587752" y="1371600"/>
            <a:ext cx="1901952" cy="1737360"/>
          </a:xfrm>
          <a:prstGeom prst="roundRect">
            <a:avLst>
              <a:gd name="adj" fmla="val 3158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2587752" y="16002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Cropped</a:t>
            </a:r>
            <a:endParaRPr lang="en-US" sz="1400" dirty="0"/>
          </a:p>
        </p:txBody>
      </p:sp>
      <p:sp>
        <p:nvSpPr>
          <p:cNvPr id="190" name="Text 188"/>
          <p:cNvSpPr/>
          <p:nvPr/>
        </p:nvSpPr>
        <p:spPr>
          <a:xfrm>
            <a:off x="2679192" y="205740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of interest</a:t>
            </a:r>
            <a:endParaRPr lang="en-US" sz="1150" dirty="0"/>
          </a:p>
        </p:txBody>
      </p:sp>
      <p:sp>
        <p:nvSpPr>
          <p:cNvPr id="191" name="Shape 189"/>
          <p:cNvSpPr/>
          <p:nvPr/>
        </p:nvSpPr>
        <p:spPr>
          <a:xfrm>
            <a:off x="4672584" y="1371600"/>
            <a:ext cx="1901952" cy="1737360"/>
          </a:xfrm>
          <a:prstGeom prst="roundRect">
            <a:avLst>
              <a:gd name="adj" fmla="val 3158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4672584" y="16002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400" dirty="0"/>
          </a:p>
        </p:txBody>
      </p:sp>
      <p:sp>
        <p:nvSpPr>
          <p:cNvPr id="193" name="Text 191"/>
          <p:cNvSpPr/>
          <p:nvPr/>
        </p:nvSpPr>
        <p:spPr>
          <a:xfrm>
            <a:off x="4764024" y="205740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2D, no color channel</a:t>
            </a:r>
            <a:endParaRPr lang="en-US" sz="1150" dirty="0"/>
          </a:p>
        </p:txBody>
      </p:sp>
      <p:sp>
        <p:nvSpPr>
          <p:cNvPr id="194" name="Shape 192"/>
          <p:cNvSpPr/>
          <p:nvPr/>
        </p:nvSpPr>
        <p:spPr>
          <a:xfrm>
            <a:off x="6757416" y="1371600"/>
            <a:ext cx="1901952" cy="1737360"/>
          </a:xfrm>
          <a:prstGeom prst="roundRect">
            <a:avLst>
              <a:gd name="adj" fmla="val 3158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5" name="Text 193"/>
          <p:cNvSpPr/>
          <p:nvPr/>
        </p:nvSpPr>
        <p:spPr>
          <a:xfrm>
            <a:off x="6757416" y="160020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Blurred</a:t>
            </a:r>
            <a:endParaRPr lang="en-US" sz="1400" dirty="0"/>
          </a:p>
        </p:txBody>
      </p:sp>
      <p:sp>
        <p:nvSpPr>
          <p:cNvPr id="196" name="Text 194"/>
          <p:cNvSpPr/>
          <p:nvPr/>
        </p:nvSpPr>
        <p:spPr>
          <a:xfrm>
            <a:off x="6848856" y="205740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5×5 Gaussian kernel</a:t>
            </a:r>
            <a:endParaRPr lang="en-US" sz="1150" dirty="0"/>
          </a:p>
        </p:txBody>
      </p:sp>
      <p:sp>
        <p:nvSpPr>
          <p:cNvPr id="197" name="Shape 195"/>
          <p:cNvSpPr/>
          <p:nvPr/>
        </p:nvSpPr>
        <p:spPr>
          <a:xfrm>
            <a:off x="502920" y="342900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777240" y="34290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&amp; blur display fine without RGB conversion — the BGR issue only applies to 3-channel color images.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Run Canny, Then Tune It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11,008 edge pixels on the sample image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005840"/>
          </a:xfrm>
          <a:prstGeom prst="roundRect">
            <a:avLst>
              <a:gd name="adj" fmla="val 4545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53312"/>
            <a:ext cx="79187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= cv2.Canny(blur, 50, 150)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plt.imshow(edges, cmap="gray")</a:t>
            </a:r>
            <a:endParaRPr lang="en-US" sz="1400" dirty="0"/>
          </a:p>
        </p:txBody>
      </p:sp>
      <p:sp>
        <p:nvSpPr>
          <p:cNvPr id="187" name="Shape 185"/>
          <p:cNvSpPr/>
          <p:nvPr/>
        </p:nvSpPr>
        <p:spPr>
          <a:xfrm>
            <a:off x="502920" y="2514600"/>
            <a:ext cx="8138160" cy="1691640"/>
          </a:xfrm>
          <a:prstGeom prst="roundRect">
            <a:avLst>
              <a:gd name="adj" fmla="val 3243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26700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exercise</a:t>
            </a:r>
            <a:endParaRPr lang="en-US" sz="1400" dirty="0"/>
          </a:p>
        </p:txBody>
      </p:sp>
      <p:sp>
        <p:nvSpPr>
          <p:cNvPr id="189" name="Text 187"/>
          <p:cNvSpPr/>
          <p:nvPr/>
        </p:nvSpPr>
        <p:spPr>
          <a:xfrm>
            <a:off x="777240" y="3035808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2 more threshold pairs and describe what changes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discover the low/high tradeoff themselves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Contours — Build a Clean Test Image First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concept without real-world noise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828800"/>
          </a:xfrm>
          <a:prstGeom prst="roundRect">
            <a:avLst>
              <a:gd name="adj" fmla="val 2500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canvas = np.ones((400,600,3), dtype=np.uint8) * 255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cv2.rectangle(canvas, (50,50), (200,200), (0,0,0), -1)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cv2.circle(canvas, (350,125), 80, (0,0,0), -1)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cv2.rectangle(canvas, (450,250), (580,370), (0,0,0), -1)</a:t>
            </a:r>
            <a:endParaRPr lang="en-US" sz="1300" dirty="0"/>
          </a:p>
        </p:txBody>
      </p:sp>
      <p:sp>
        <p:nvSpPr>
          <p:cNvPr id="187" name="Shape 185"/>
          <p:cNvSpPr/>
          <p:nvPr/>
        </p:nvSpPr>
        <p:spPr>
          <a:xfrm>
            <a:off x="502920" y="3291840"/>
            <a:ext cx="8138160" cy="1005840"/>
          </a:xfrm>
          <a:prstGeom prst="roundRect">
            <a:avLst>
              <a:gd name="adj" fmla="val 5455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777240" y="32918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square, a circle, a rectangle — three known shapes, three known answers to check against.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Threshold, Then Find Contours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THRESH_BINARY_INV — because shapes are BLACK on white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8138160" cy="1737360"/>
          </a:xfrm>
          <a:prstGeom prst="roundRect">
            <a:avLst>
              <a:gd name="adj" fmla="val 2632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612648" y="1307592"/>
            <a:ext cx="791870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gray = cv2.cvtColor(canvas, cv2.COLOR_BGR2GRAY)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_, thresh = cv2.threshold(gray, 127, 255, cv2.THRESH_BINARY_INV)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contours, _ = cv2.findContours(thresh, cv2.RETR_EXTERNAL,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cv2.CHAIN_APPROX_SIMPLE)</a:t>
            </a:r>
            <a:endParaRPr lang="en-US" sz="1250" dirty="0"/>
          </a:p>
        </p:txBody>
      </p:sp>
      <p:sp>
        <p:nvSpPr>
          <p:cNvPr id="187" name="Shape 185"/>
          <p:cNvSpPr/>
          <p:nvPr/>
        </p:nvSpPr>
        <p:spPr>
          <a:xfrm>
            <a:off x="502920" y="3200400"/>
            <a:ext cx="8138160" cy="1097280"/>
          </a:xfrm>
          <a:prstGeom prst="roundRect">
            <a:avLst>
              <a:gd name="adj" fmla="val 5000"/>
            </a:avLst>
          </a:prstGeom>
          <a:solidFill>
            <a:srgbClr val="FDF2E2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429000"/>
            <a:ext cx="457200" cy="457200"/>
          </a:xfrm>
          <a:prstGeom prst="rect">
            <a:avLst/>
          </a:prstGeom>
        </p:spPr>
      </p:pic>
      <p:sp>
        <p:nvSpPr>
          <p:cNvPr id="189" name="Text 186"/>
          <p:cNvSpPr/>
          <p:nvPr/>
        </p:nvSpPr>
        <p:spPr>
          <a:xfrm>
            <a:off x="1417320" y="3200400"/>
            <a:ext cx="7040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_INV trips people up constantly: </a:t>
            </a:r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thresholding makes bright regions white. Shapes here are black, so invert to make them the white "foreground" findContours looks for.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3 Contours, Correct Areas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Bounding boxes drawn around every shape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371600"/>
            <a:ext cx="2606040" cy="1645920"/>
          </a:xfrm>
          <a:prstGeom prst="roundRect">
            <a:avLst>
              <a:gd name="adj" fmla="val 3333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50292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</a:t>
            </a:r>
            <a:endParaRPr lang="en-US" sz="1500" dirty="0"/>
          </a:p>
        </p:txBody>
      </p:sp>
      <p:sp>
        <p:nvSpPr>
          <p:cNvPr id="187" name="Text 185"/>
          <p:cNvSpPr/>
          <p:nvPr/>
        </p:nvSpPr>
        <p:spPr>
          <a:xfrm>
            <a:off x="50292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22,500 px²</a:t>
            </a:r>
            <a:endParaRPr lang="en-US" sz="2000" dirty="0"/>
          </a:p>
        </p:txBody>
      </p:sp>
      <p:sp>
        <p:nvSpPr>
          <p:cNvPr id="188" name="Shape 186"/>
          <p:cNvSpPr/>
          <p:nvPr/>
        </p:nvSpPr>
        <p:spPr>
          <a:xfrm>
            <a:off x="3291840" y="1371600"/>
            <a:ext cx="2606040" cy="1645920"/>
          </a:xfrm>
          <a:prstGeom prst="roundRect">
            <a:avLst>
              <a:gd name="adj" fmla="val 3333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9" name="Text 187"/>
          <p:cNvSpPr/>
          <p:nvPr/>
        </p:nvSpPr>
        <p:spPr>
          <a:xfrm>
            <a:off x="329184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</a:t>
            </a:r>
            <a:endParaRPr lang="en-US" sz="1500" dirty="0"/>
          </a:p>
        </p:txBody>
      </p:sp>
      <p:sp>
        <p:nvSpPr>
          <p:cNvPr id="190" name="Text 188"/>
          <p:cNvSpPr/>
          <p:nvPr/>
        </p:nvSpPr>
        <p:spPr>
          <a:xfrm>
            <a:off x="329184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19,854 px²</a:t>
            </a:r>
            <a:endParaRPr lang="en-US" sz="2000" dirty="0"/>
          </a:p>
        </p:txBody>
      </p:sp>
      <p:sp>
        <p:nvSpPr>
          <p:cNvPr id="191" name="Shape 189"/>
          <p:cNvSpPr/>
          <p:nvPr/>
        </p:nvSpPr>
        <p:spPr>
          <a:xfrm>
            <a:off x="6080760" y="1371600"/>
            <a:ext cx="2606040" cy="1645920"/>
          </a:xfrm>
          <a:prstGeom prst="roundRect">
            <a:avLst>
              <a:gd name="adj" fmla="val 3333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6080760" y="1554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</a:t>
            </a:r>
            <a:endParaRPr lang="en-US" sz="1500" dirty="0"/>
          </a:p>
        </p:txBody>
      </p:sp>
      <p:sp>
        <p:nvSpPr>
          <p:cNvPr id="193" name="Text 191"/>
          <p:cNvSpPr/>
          <p:nvPr/>
        </p:nvSpPr>
        <p:spPr>
          <a:xfrm>
            <a:off x="6080760" y="20116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15,600 px²</a:t>
            </a:r>
            <a:endParaRPr lang="en-US" sz="2000" dirty="0"/>
          </a:p>
        </p:txBody>
      </p:sp>
      <p:sp>
        <p:nvSpPr>
          <p:cNvPr id="194" name="Shape 192"/>
          <p:cNvSpPr/>
          <p:nvPr/>
        </p:nvSpPr>
        <p:spPr>
          <a:xfrm>
            <a:off x="502920" y="3291840"/>
            <a:ext cx="8138160" cy="914400"/>
          </a:xfrm>
          <a:prstGeom prst="roundRect">
            <a:avLst>
              <a:gd name="adj" fmla="val 5000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612648" y="3364992"/>
            <a:ext cx="791870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 in contours: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x,y,w,h = cv2.boundingRect(c); cv2.rectangle(out,(x,y),(x+w,y+h),(0,255,0),3)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Today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these before they cost 20 minutes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34440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Text 184"/>
          <p:cNvSpPr/>
          <p:nvPr/>
        </p:nvSpPr>
        <p:spPr>
          <a:xfrm>
            <a:off x="731520" y="1234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BGR→RGB before matplotlib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5349240" y="123444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5532120" y="123444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cvtColor(img, COLOR_BGR2RGB) first</a:t>
            </a:r>
            <a:endParaRPr lang="en-US" sz="1050" dirty="0"/>
          </a:p>
        </p:txBody>
      </p:sp>
      <p:sp>
        <p:nvSpPr>
          <p:cNvPr id="189" name="Shape 187"/>
          <p:cNvSpPr/>
          <p:nvPr/>
        </p:nvSpPr>
        <p:spPr>
          <a:xfrm>
            <a:off x="502920" y="1929384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731520" y="192938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kernel size in GaussianBlur</a:t>
            </a:r>
            <a:endParaRPr lang="en-US" sz="1200" dirty="0"/>
          </a:p>
        </p:txBody>
      </p:sp>
      <p:sp>
        <p:nvSpPr>
          <p:cNvPr id="191" name="Shape 189"/>
          <p:cNvSpPr/>
          <p:nvPr/>
        </p:nvSpPr>
        <p:spPr>
          <a:xfrm>
            <a:off x="5349240" y="1929384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2" name="Text 190"/>
          <p:cNvSpPr/>
          <p:nvPr/>
        </p:nvSpPr>
        <p:spPr>
          <a:xfrm>
            <a:off x="5532120" y="192938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(3,3), (5,5), (7,7) — never (4,4)</a:t>
            </a:r>
            <a:endParaRPr lang="en-US" sz="1050" dirty="0"/>
          </a:p>
        </p:txBody>
      </p:sp>
      <p:sp>
        <p:nvSpPr>
          <p:cNvPr id="193" name="Shape 191"/>
          <p:cNvSpPr/>
          <p:nvPr/>
        </p:nvSpPr>
        <p:spPr>
          <a:xfrm>
            <a:off x="502920" y="2624328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731520" y="262432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blur before Canny</a:t>
            </a:r>
            <a:endParaRPr lang="en-US" sz="1200" dirty="0"/>
          </a:p>
        </p:txBody>
      </p:sp>
      <p:sp>
        <p:nvSpPr>
          <p:cNvPr id="195" name="Shape 193"/>
          <p:cNvSpPr/>
          <p:nvPr/>
        </p:nvSpPr>
        <p:spPr>
          <a:xfrm>
            <a:off x="5349240" y="2624328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6" name="Text 194"/>
          <p:cNvSpPr/>
          <p:nvPr/>
        </p:nvSpPr>
        <p:spPr>
          <a:xfrm>
            <a:off x="5532120" y="2624328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Noisy, speckled edges — blur first</a:t>
            </a:r>
            <a:endParaRPr lang="en-US" sz="1050" dirty="0"/>
          </a:p>
        </p:txBody>
      </p:sp>
      <p:sp>
        <p:nvSpPr>
          <p:cNvPr id="197" name="Shape 195"/>
          <p:cNvSpPr/>
          <p:nvPr/>
        </p:nvSpPr>
        <p:spPr>
          <a:xfrm>
            <a:off x="502920" y="3319272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8" name="Text 196"/>
          <p:cNvSpPr/>
          <p:nvPr/>
        </p:nvSpPr>
        <p:spPr>
          <a:xfrm>
            <a:off x="731520" y="331927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threshold direction</a:t>
            </a:r>
            <a:endParaRPr lang="en-US" sz="1200" dirty="0"/>
          </a:p>
        </p:txBody>
      </p:sp>
      <p:sp>
        <p:nvSpPr>
          <p:cNvPr id="199" name="Shape 197"/>
          <p:cNvSpPr/>
          <p:nvPr/>
        </p:nvSpPr>
        <p:spPr>
          <a:xfrm>
            <a:off x="5349240" y="3319272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0" name="Text 198"/>
          <p:cNvSpPr/>
          <p:nvPr/>
        </p:nvSpPr>
        <p:spPr>
          <a:xfrm>
            <a:off x="5532120" y="33192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shapes are lighter or darker than bg</a:t>
            </a:r>
            <a:endParaRPr lang="en-US" sz="1050" dirty="0"/>
          </a:p>
        </p:txBody>
      </p:sp>
      <p:sp>
        <p:nvSpPr>
          <p:cNvPr id="201" name="Shape 199"/>
          <p:cNvSpPr/>
          <p:nvPr/>
        </p:nvSpPr>
        <p:spPr>
          <a:xfrm>
            <a:off x="502920" y="4014216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FBEAEC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2" name="Text 200"/>
          <p:cNvSpPr/>
          <p:nvPr/>
        </p:nvSpPr>
        <p:spPr>
          <a:xfrm>
            <a:off x="731520" y="401421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cv2.imshow() in Colab</a:t>
            </a:r>
            <a:endParaRPr lang="en-US" sz="1200" dirty="0"/>
          </a:p>
        </p:txBody>
      </p:sp>
      <p:sp>
        <p:nvSpPr>
          <p:cNvPr id="203" name="Shape 201"/>
          <p:cNvSpPr/>
          <p:nvPr/>
        </p:nvSpPr>
        <p:spPr>
          <a:xfrm>
            <a:off x="5349240" y="4014216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204" name="Text 202"/>
          <p:cNvSpPr/>
          <p:nvPr/>
        </p:nvSpPr>
        <p:spPr>
          <a:xfrm>
            <a:off x="5532120" y="4014216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— use cv2_imshow() or matplotlib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Challenge: Document Scanner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 behind every 'scan to PDF' phone app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1188720"/>
          </a:xfrm>
          <a:prstGeom prst="roundRect">
            <a:avLst>
              <a:gd name="adj" fmla="val 4615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pic>
        <p:nvPicPr>
          <p:cNvPr id="18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640080" cy="640080"/>
          </a:xfrm>
          <a:prstGeom prst="rect">
            <a:avLst/>
          </a:prstGeom>
        </p:spPr>
      </p:pic>
      <p:sp>
        <p:nvSpPr>
          <p:cNvPr id="187" name="Text 184"/>
          <p:cNvSpPr/>
          <p:nvPr/>
        </p:nvSpPr>
        <p:spPr>
          <a:xfrm>
            <a:off x="1554480" y="12801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4 corners of a document, then warp to a top-down view. </a:t>
            </a:r>
            <a:pPr indent="0" marL="0">
              <a:buNone/>
            </a:pPr>
            <a:r>
              <a:rPr lang="en-US" sz="13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findContours + approxPolyDP + getPerspectiveTransform.</a:t>
            </a:r>
            <a:endParaRPr lang="en-US" sz="1350" dirty="0"/>
          </a:p>
        </p:txBody>
      </p:sp>
      <p:sp>
        <p:nvSpPr>
          <p:cNvPr id="188" name="Shape 185"/>
          <p:cNvSpPr/>
          <p:nvPr/>
        </p:nvSpPr>
        <p:spPr>
          <a:xfrm>
            <a:off x="502920" y="2651760"/>
            <a:ext cx="8138160" cy="1417320"/>
          </a:xfrm>
          <a:prstGeom prst="roundRect">
            <a:avLst>
              <a:gd name="adj" fmla="val 3226"/>
            </a:avLst>
          </a:prstGeom>
          <a:solidFill>
            <a:srgbClr val="EFEDF8"/>
          </a:solidFill>
          <a:ln w="12700">
            <a:solidFill>
              <a:srgbClr val="D6D2EC"/>
            </a:solidFill>
            <a:prstDash val="solid"/>
          </a:ln>
        </p:spPr>
      </p:sp>
      <p:sp>
        <p:nvSpPr>
          <p:cNvPr id="189" name="Text 186"/>
          <p:cNvSpPr/>
          <p:nvPr/>
        </p:nvSpPr>
        <p:spPr>
          <a:xfrm>
            <a:off x="612648" y="2724912"/>
            <a:ext cx="791870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 = cv2.arcLength(largest, True)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approx = cv2.approxPolyDP(largest, 0.02*peri, True)  # -&gt; corner points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cv2.getPerspectiveTransform(src, dst)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1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warped = cv2.warpPerspective(img, M, (W, H))</a:t>
            </a:r>
            <a:endParaRPr lang="en-US" sz="1200" dirty="0"/>
          </a:p>
        </p:txBody>
      </p:sp>
      <p:sp>
        <p:nvSpPr>
          <p:cNvPr id="190" name="Shape 187"/>
          <p:cNvSpPr/>
          <p:nvPr/>
        </p:nvSpPr>
        <p:spPr>
          <a:xfrm>
            <a:off x="502920" y="420624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1" name="Text 188"/>
          <p:cNvSpPr/>
          <p:nvPr/>
        </p:nvSpPr>
        <p:spPr>
          <a:xfrm>
            <a:off x="777240" y="42062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4 corners found on a skewed test doc → clean 500×350 top-down rectangle.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DBD8EE"/>
          </a:solidFill>
          <a:ln/>
        </p:spPr>
      </p:sp>
      <p:sp>
        <p:nvSpPr>
          <p:cNvPr id="182" name="Text 180"/>
          <p:cNvSpPr/>
          <p:nvPr/>
        </p:nvSpPr>
        <p:spPr>
          <a:xfrm>
            <a:off x="8046720" y="48646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850" dirty="0"/>
          </a:p>
        </p:txBody>
      </p:sp>
      <p:sp>
        <p:nvSpPr>
          <p:cNvPr id="183" name="Text 181"/>
          <p:cNvSpPr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Remember</a:t>
            </a:r>
            <a:endParaRPr lang="en-US" sz="2600" dirty="0"/>
          </a:p>
        </p:txBody>
      </p:sp>
      <p:sp>
        <p:nvSpPr>
          <p:cNvPr id="184" name="Text 182"/>
          <p:cNvSpPr/>
          <p:nvPr/>
        </p:nvSpPr>
        <p:spPr>
          <a:xfrm>
            <a:off x="502920" y="74980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nothing else survives the day…</a:t>
            </a:r>
            <a:endParaRPr lang="en-US" sz="1250" dirty="0"/>
          </a:p>
        </p:txBody>
      </p:sp>
      <p:sp>
        <p:nvSpPr>
          <p:cNvPr id="185" name="Shape 183"/>
          <p:cNvSpPr/>
          <p:nvPr/>
        </p:nvSpPr>
        <p:spPr>
          <a:xfrm>
            <a:off x="502920" y="128016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CEAFB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86" name="Shape 184"/>
          <p:cNvSpPr/>
          <p:nvPr/>
        </p:nvSpPr>
        <p:spPr>
          <a:xfrm>
            <a:off x="777240" y="1517904"/>
            <a:ext cx="457200" cy="457200"/>
          </a:xfrm>
          <a:prstGeom prst="ellipse">
            <a:avLst/>
          </a:prstGeom>
          <a:solidFill>
            <a:srgbClr val="3730A3"/>
          </a:solidFill>
          <a:ln/>
        </p:spPr>
      </p:sp>
      <p:sp>
        <p:nvSpPr>
          <p:cNvPr id="187" name="Text 185"/>
          <p:cNvSpPr/>
          <p:nvPr/>
        </p:nvSpPr>
        <p:spPr>
          <a:xfrm>
            <a:off x="777240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88" name="Text 186"/>
          <p:cNvSpPr/>
          <p:nvPr/>
        </p:nvSpPr>
        <p:spPr>
          <a:xfrm>
            <a:off x="1463040" y="135331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is a grid of numbers. Filters, blur, and edges are just math on that grid.</a:t>
            </a:r>
            <a:endParaRPr lang="en-US" sz="1250" dirty="0"/>
          </a:p>
        </p:txBody>
      </p:sp>
      <p:sp>
        <p:nvSpPr>
          <p:cNvPr id="189" name="Shape 187"/>
          <p:cNvSpPr/>
          <p:nvPr/>
        </p:nvSpPr>
        <p:spPr>
          <a:xfrm>
            <a:off x="502920" y="237744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F3EDFD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0" name="Shape 188"/>
          <p:cNvSpPr/>
          <p:nvPr/>
        </p:nvSpPr>
        <p:spPr>
          <a:xfrm>
            <a:off x="777240" y="2615184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1" name="Text 189"/>
          <p:cNvSpPr/>
          <p:nvPr/>
        </p:nvSpPr>
        <p:spPr>
          <a:xfrm>
            <a:off x="77724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2" name="Text 190"/>
          <p:cNvSpPr/>
          <p:nvPr/>
        </p:nvSpPr>
        <p:spPr>
          <a:xfrm>
            <a:off x="1463040" y="245059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reads BGR, not RGB. Convert before every matplotlib display — no exceptions.</a:t>
            </a:r>
            <a:endParaRPr lang="en-US" sz="1250" dirty="0"/>
          </a:p>
        </p:txBody>
      </p:sp>
      <p:sp>
        <p:nvSpPr>
          <p:cNvPr id="193" name="Shape 191"/>
          <p:cNvSpPr/>
          <p:nvPr/>
        </p:nvSpPr>
        <p:spPr>
          <a:xfrm>
            <a:off x="502920" y="3474720"/>
            <a:ext cx="8138160" cy="932688"/>
          </a:xfrm>
          <a:prstGeom prst="roundRect">
            <a:avLst>
              <a:gd name="adj" fmla="val 5882"/>
            </a:avLst>
          </a:prstGeom>
          <a:solidFill>
            <a:srgbClr val="E6F7F5"/>
          </a:solidFill>
          <a:ln/>
          <a:effectLst>
            <a:outerShdw sx="100000" sy="100000" kx="0" ky="0" algn="bl" rotWithShape="0" blurRad="101600" dist="38100" dir="8100000">
              <a:srgbClr val="1E1B3A">
                <a:alpha val="10000"/>
              </a:srgbClr>
            </a:outerShdw>
          </a:effectLst>
        </p:spPr>
      </p:sp>
      <p:sp>
        <p:nvSpPr>
          <p:cNvPr id="194" name="Shape 192"/>
          <p:cNvSpPr/>
          <p:nvPr/>
        </p:nvSpPr>
        <p:spPr>
          <a:xfrm>
            <a:off x="777240" y="371246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5" name="Text 193"/>
          <p:cNvSpPr/>
          <p:nvPr/>
        </p:nvSpPr>
        <p:spPr>
          <a:xfrm>
            <a:off x="77724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6" name="Text 194"/>
          <p:cNvSpPr/>
          <p:nvPr/>
        </p:nvSpPr>
        <p:spPr>
          <a:xfrm>
            <a:off x="1463040" y="3547872"/>
            <a:ext cx="6949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Canny needs a blur first, and findContours needs a binary mask first. Order matters.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622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2" name="Shape 20"/>
          <p:cNvSpPr/>
          <p:nvPr/>
        </p:nvSpPr>
        <p:spPr>
          <a:xfrm>
            <a:off x="13258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3" name="Shape 21"/>
          <p:cNvSpPr/>
          <p:nvPr/>
        </p:nvSpPr>
        <p:spPr>
          <a:xfrm>
            <a:off x="13258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4" name="Shape 22"/>
          <p:cNvSpPr/>
          <p:nvPr/>
        </p:nvSpPr>
        <p:spPr>
          <a:xfrm>
            <a:off x="13258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5" name="Shape 23"/>
          <p:cNvSpPr/>
          <p:nvPr/>
        </p:nvSpPr>
        <p:spPr>
          <a:xfrm>
            <a:off x="13258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6" name="Shape 24"/>
          <p:cNvSpPr/>
          <p:nvPr/>
        </p:nvSpPr>
        <p:spPr>
          <a:xfrm>
            <a:off x="13258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7" name="Shape 25"/>
          <p:cNvSpPr/>
          <p:nvPr/>
        </p:nvSpPr>
        <p:spPr>
          <a:xfrm>
            <a:off x="13258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8" name="Shape 26"/>
          <p:cNvSpPr/>
          <p:nvPr/>
        </p:nvSpPr>
        <p:spPr>
          <a:xfrm>
            <a:off x="13258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29" name="Shape 27"/>
          <p:cNvSpPr/>
          <p:nvPr/>
        </p:nvSpPr>
        <p:spPr>
          <a:xfrm>
            <a:off x="13258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0" name="Shape 28"/>
          <p:cNvSpPr/>
          <p:nvPr/>
        </p:nvSpPr>
        <p:spPr>
          <a:xfrm>
            <a:off x="13258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1" name="Shape 29"/>
          <p:cNvSpPr/>
          <p:nvPr/>
        </p:nvSpPr>
        <p:spPr>
          <a:xfrm>
            <a:off x="13258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2" name="Shape 30"/>
          <p:cNvSpPr/>
          <p:nvPr/>
        </p:nvSpPr>
        <p:spPr>
          <a:xfrm>
            <a:off x="18288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3" name="Shape 31"/>
          <p:cNvSpPr/>
          <p:nvPr/>
        </p:nvSpPr>
        <p:spPr>
          <a:xfrm>
            <a:off x="18288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4" name="Shape 32"/>
          <p:cNvSpPr/>
          <p:nvPr/>
        </p:nvSpPr>
        <p:spPr>
          <a:xfrm>
            <a:off x="18288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8" name="Shape 36"/>
          <p:cNvSpPr/>
          <p:nvPr/>
        </p:nvSpPr>
        <p:spPr>
          <a:xfrm>
            <a:off x="18288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39" name="Shape 37"/>
          <p:cNvSpPr/>
          <p:nvPr/>
        </p:nvSpPr>
        <p:spPr>
          <a:xfrm>
            <a:off x="18288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0" name="Shape 38"/>
          <p:cNvSpPr/>
          <p:nvPr/>
        </p:nvSpPr>
        <p:spPr>
          <a:xfrm>
            <a:off x="18288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1" name="Shape 39"/>
          <p:cNvSpPr/>
          <p:nvPr/>
        </p:nvSpPr>
        <p:spPr>
          <a:xfrm>
            <a:off x="18288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2" name="Shape 40"/>
          <p:cNvSpPr/>
          <p:nvPr/>
        </p:nvSpPr>
        <p:spPr>
          <a:xfrm>
            <a:off x="23317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3" name="Shape 41"/>
          <p:cNvSpPr/>
          <p:nvPr/>
        </p:nvSpPr>
        <p:spPr>
          <a:xfrm>
            <a:off x="23317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4" name="Shape 42"/>
          <p:cNvSpPr/>
          <p:nvPr/>
        </p:nvSpPr>
        <p:spPr>
          <a:xfrm>
            <a:off x="23317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5" name="Shape 43"/>
          <p:cNvSpPr/>
          <p:nvPr/>
        </p:nvSpPr>
        <p:spPr>
          <a:xfrm>
            <a:off x="23317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6" name="Shape 44"/>
          <p:cNvSpPr/>
          <p:nvPr/>
        </p:nvSpPr>
        <p:spPr>
          <a:xfrm>
            <a:off x="23317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7" name="Shape 45"/>
          <p:cNvSpPr/>
          <p:nvPr/>
        </p:nvSpPr>
        <p:spPr>
          <a:xfrm>
            <a:off x="23317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8" name="Shape 46"/>
          <p:cNvSpPr/>
          <p:nvPr/>
        </p:nvSpPr>
        <p:spPr>
          <a:xfrm>
            <a:off x="23317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49" name="Shape 47"/>
          <p:cNvSpPr/>
          <p:nvPr/>
        </p:nvSpPr>
        <p:spPr>
          <a:xfrm>
            <a:off x="23317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0" name="Shape 48"/>
          <p:cNvSpPr/>
          <p:nvPr/>
        </p:nvSpPr>
        <p:spPr>
          <a:xfrm>
            <a:off x="23317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1" name="Shape 49"/>
          <p:cNvSpPr/>
          <p:nvPr/>
        </p:nvSpPr>
        <p:spPr>
          <a:xfrm>
            <a:off x="23317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2" name="Shape 50"/>
          <p:cNvSpPr/>
          <p:nvPr/>
        </p:nvSpPr>
        <p:spPr>
          <a:xfrm>
            <a:off x="28346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3" name="Shape 51"/>
          <p:cNvSpPr/>
          <p:nvPr/>
        </p:nvSpPr>
        <p:spPr>
          <a:xfrm>
            <a:off x="28346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4" name="Shape 52"/>
          <p:cNvSpPr/>
          <p:nvPr/>
        </p:nvSpPr>
        <p:spPr>
          <a:xfrm>
            <a:off x="28346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5" name="Shape 53"/>
          <p:cNvSpPr/>
          <p:nvPr/>
        </p:nvSpPr>
        <p:spPr>
          <a:xfrm>
            <a:off x="28346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6" name="Shape 54"/>
          <p:cNvSpPr/>
          <p:nvPr/>
        </p:nvSpPr>
        <p:spPr>
          <a:xfrm>
            <a:off x="28346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7" name="Shape 55"/>
          <p:cNvSpPr/>
          <p:nvPr/>
        </p:nvSpPr>
        <p:spPr>
          <a:xfrm>
            <a:off x="28346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8" name="Shape 56"/>
          <p:cNvSpPr/>
          <p:nvPr/>
        </p:nvSpPr>
        <p:spPr>
          <a:xfrm>
            <a:off x="28346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59" name="Shape 57"/>
          <p:cNvSpPr/>
          <p:nvPr/>
        </p:nvSpPr>
        <p:spPr>
          <a:xfrm>
            <a:off x="28346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0" name="Shape 58"/>
          <p:cNvSpPr/>
          <p:nvPr/>
        </p:nvSpPr>
        <p:spPr>
          <a:xfrm>
            <a:off x="28346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1" name="Shape 59"/>
          <p:cNvSpPr/>
          <p:nvPr/>
        </p:nvSpPr>
        <p:spPr>
          <a:xfrm>
            <a:off x="28346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2" name="Shape 60"/>
          <p:cNvSpPr/>
          <p:nvPr/>
        </p:nvSpPr>
        <p:spPr>
          <a:xfrm>
            <a:off x="33375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3" name="Shape 61"/>
          <p:cNvSpPr/>
          <p:nvPr/>
        </p:nvSpPr>
        <p:spPr>
          <a:xfrm>
            <a:off x="33375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4" name="Shape 62"/>
          <p:cNvSpPr/>
          <p:nvPr/>
        </p:nvSpPr>
        <p:spPr>
          <a:xfrm>
            <a:off x="33375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5" name="Shape 63"/>
          <p:cNvSpPr/>
          <p:nvPr/>
        </p:nvSpPr>
        <p:spPr>
          <a:xfrm>
            <a:off x="33375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6" name="Shape 64"/>
          <p:cNvSpPr/>
          <p:nvPr/>
        </p:nvSpPr>
        <p:spPr>
          <a:xfrm>
            <a:off x="33375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7" name="Shape 65"/>
          <p:cNvSpPr/>
          <p:nvPr/>
        </p:nvSpPr>
        <p:spPr>
          <a:xfrm>
            <a:off x="33375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8" name="Shape 66"/>
          <p:cNvSpPr/>
          <p:nvPr/>
        </p:nvSpPr>
        <p:spPr>
          <a:xfrm>
            <a:off x="33375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69" name="Shape 67"/>
          <p:cNvSpPr/>
          <p:nvPr/>
        </p:nvSpPr>
        <p:spPr>
          <a:xfrm>
            <a:off x="33375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0" name="Shape 68"/>
          <p:cNvSpPr/>
          <p:nvPr/>
        </p:nvSpPr>
        <p:spPr>
          <a:xfrm>
            <a:off x="33375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1" name="Shape 69"/>
          <p:cNvSpPr/>
          <p:nvPr/>
        </p:nvSpPr>
        <p:spPr>
          <a:xfrm>
            <a:off x="33375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2" name="Shape 70"/>
          <p:cNvSpPr/>
          <p:nvPr/>
        </p:nvSpPr>
        <p:spPr>
          <a:xfrm>
            <a:off x="38404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3" name="Shape 71"/>
          <p:cNvSpPr/>
          <p:nvPr/>
        </p:nvSpPr>
        <p:spPr>
          <a:xfrm>
            <a:off x="38404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4" name="Shape 72"/>
          <p:cNvSpPr/>
          <p:nvPr/>
        </p:nvSpPr>
        <p:spPr>
          <a:xfrm>
            <a:off x="38404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5" name="Shape 73"/>
          <p:cNvSpPr/>
          <p:nvPr/>
        </p:nvSpPr>
        <p:spPr>
          <a:xfrm>
            <a:off x="38404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6" name="Shape 74"/>
          <p:cNvSpPr/>
          <p:nvPr/>
        </p:nvSpPr>
        <p:spPr>
          <a:xfrm>
            <a:off x="38404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7" name="Shape 75"/>
          <p:cNvSpPr/>
          <p:nvPr/>
        </p:nvSpPr>
        <p:spPr>
          <a:xfrm>
            <a:off x="38404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8" name="Shape 76"/>
          <p:cNvSpPr/>
          <p:nvPr/>
        </p:nvSpPr>
        <p:spPr>
          <a:xfrm>
            <a:off x="38404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79" name="Shape 77"/>
          <p:cNvSpPr/>
          <p:nvPr/>
        </p:nvSpPr>
        <p:spPr>
          <a:xfrm>
            <a:off x="38404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0" name="Shape 78"/>
          <p:cNvSpPr/>
          <p:nvPr/>
        </p:nvSpPr>
        <p:spPr>
          <a:xfrm>
            <a:off x="38404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1" name="Shape 79"/>
          <p:cNvSpPr/>
          <p:nvPr/>
        </p:nvSpPr>
        <p:spPr>
          <a:xfrm>
            <a:off x="38404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2" name="Shape 80"/>
          <p:cNvSpPr/>
          <p:nvPr/>
        </p:nvSpPr>
        <p:spPr>
          <a:xfrm>
            <a:off x="43434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3" name="Shape 81"/>
          <p:cNvSpPr/>
          <p:nvPr/>
        </p:nvSpPr>
        <p:spPr>
          <a:xfrm>
            <a:off x="43434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4" name="Shape 82"/>
          <p:cNvSpPr/>
          <p:nvPr/>
        </p:nvSpPr>
        <p:spPr>
          <a:xfrm>
            <a:off x="43434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5" name="Shape 83"/>
          <p:cNvSpPr/>
          <p:nvPr/>
        </p:nvSpPr>
        <p:spPr>
          <a:xfrm>
            <a:off x="43434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6" name="Shape 84"/>
          <p:cNvSpPr/>
          <p:nvPr/>
        </p:nvSpPr>
        <p:spPr>
          <a:xfrm>
            <a:off x="43434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7" name="Shape 85"/>
          <p:cNvSpPr/>
          <p:nvPr/>
        </p:nvSpPr>
        <p:spPr>
          <a:xfrm>
            <a:off x="43434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8" name="Shape 86"/>
          <p:cNvSpPr/>
          <p:nvPr/>
        </p:nvSpPr>
        <p:spPr>
          <a:xfrm>
            <a:off x="43434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89" name="Shape 87"/>
          <p:cNvSpPr/>
          <p:nvPr/>
        </p:nvSpPr>
        <p:spPr>
          <a:xfrm>
            <a:off x="43434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0" name="Shape 88"/>
          <p:cNvSpPr/>
          <p:nvPr/>
        </p:nvSpPr>
        <p:spPr>
          <a:xfrm>
            <a:off x="43434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1" name="Shape 89"/>
          <p:cNvSpPr/>
          <p:nvPr/>
        </p:nvSpPr>
        <p:spPr>
          <a:xfrm>
            <a:off x="43434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2" name="Shape 90"/>
          <p:cNvSpPr/>
          <p:nvPr/>
        </p:nvSpPr>
        <p:spPr>
          <a:xfrm>
            <a:off x="48463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3" name="Shape 91"/>
          <p:cNvSpPr/>
          <p:nvPr/>
        </p:nvSpPr>
        <p:spPr>
          <a:xfrm>
            <a:off x="48463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4" name="Shape 92"/>
          <p:cNvSpPr/>
          <p:nvPr/>
        </p:nvSpPr>
        <p:spPr>
          <a:xfrm>
            <a:off x="48463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5" name="Shape 93"/>
          <p:cNvSpPr/>
          <p:nvPr/>
        </p:nvSpPr>
        <p:spPr>
          <a:xfrm>
            <a:off x="48463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6" name="Shape 94"/>
          <p:cNvSpPr/>
          <p:nvPr/>
        </p:nvSpPr>
        <p:spPr>
          <a:xfrm>
            <a:off x="48463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7" name="Shape 95"/>
          <p:cNvSpPr/>
          <p:nvPr/>
        </p:nvSpPr>
        <p:spPr>
          <a:xfrm>
            <a:off x="48463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8" name="Shape 96"/>
          <p:cNvSpPr/>
          <p:nvPr/>
        </p:nvSpPr>
        <p:spPr>
          <a:xfrm>
            <a:off x="48463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99" name="Shape 97"/>
          <p:cNvSpPr/>
          <p:nvPr/>
        </p:nvSpPr>
        <p:spPr>
          <a:xfrm>
            <a:off x="48463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463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463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492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492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492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492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492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492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492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492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492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492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521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521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521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521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521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521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521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521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521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521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550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550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550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550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550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550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550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550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550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550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5800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5800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5800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5800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5800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5800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5800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5800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5800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5800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6092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6092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6092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6092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6092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6092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6092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6092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6092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6092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6384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6384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6384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6384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6384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6384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6384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6384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6384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6384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6676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6676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6676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6676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6676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6676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6676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6676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6676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6676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69680" y="3200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69680" y="8229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69680" y="13258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69680" y="18288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69680" y="23317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69680" y="283464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69680" y="333756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69680" y="384048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69680" y="434340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69680" y="4846320"/>
            <a:ext cx="32004" cy="32004"/>
          </a:xfrm>
          <a:prstGeom prst="ellipse">
            <a:avLst/>
          </a:prstGeom>
          <a:solidFill>
            <a:srgbClr val="3B3580"/>
          </a:solidFill>
          <a:ln/>
        </p:spPr>
      </p:sp>
      <p:sp>
        <p:nvSpPr>
          <p:cNvPr id="182" name="Text 180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17</a:t>
            </a:r>
            <a:endParaRPr lang="en-US" sz="1400" dirty="0"/>
          </a:p>
        </p:txBody>
      </p:sp>
      <p:sp>
        <p:nvSpPr>
          <p:cNvPr id="183" name="Text 181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</a:t>
            </a:r>
            <a:endParaRPr lang="en-US" sz="3800" dirty="0"/>
          </a:p>
        </p:txBody>
      </p:sp>
      <p:sp>
        <p:nvSpPr>
          <p:cNvPr id="184" name="Text 182"/>
          <p:cNvSpPr/>
          <p:nvPr/>
        </p:nvSpPr>
        <p:spPr>
          <a:xfrm>
            <a:off x="640080" y="32918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filters were hand-designed. Tomorrow, the network LEARNS its own filters — and they end up looking like today's edge detectors. Building a CNN for MNIST, targeting &gt;99% accuracy.</a:t>
            </a:r>
            <a:endParaRPr lang="en-US" sz="1400" dirty="0"/>
          </a:p>
        </p:txBody>
      </p:sp>
      <p:sp>
        <p:nvSpPr>
          <p:cNvPr id="185" name="Text 183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9B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today's BGR/RGB habit — it matters again the moment real photos enter a CNN.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2026-07-29T18:13:59Z</dcterms:created>
  <dcterms:modified xsi:type="dcterms:W3CDTF">2026-07-29T18:13:59Z</dcterms:modified>
</cp:coreProperties>
</file>