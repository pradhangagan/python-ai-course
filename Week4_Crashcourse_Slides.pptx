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6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CRASH COURSE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Generative AI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RAG — In One Session</a:t>
            </a:r>
            <a:endParaRPr lang="en-US" sz="32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a working 'Chat with your Data' pipeline, condensed into one 2-hour class.</a:t>
            </a:r>
            <a:endParaRPr lang="en-US" sz="1450" dirty="0"/>
          </a:p>
        </p:txBody>
      </p:sp>
      <p:sp>
        <p:nvSpPr>
          <p:cNvPr id="186" name="Text 183"/>
          <p:cNvSpPr/>
          <p:nvPr/>
        </p:nvSpPr>
        <p:spPr>
          <a:xfrm>
            <a:off x="64008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Covers the essence of Days 23-30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Start: What This Session Is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note, worth saying out loud to the class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full 8-day Week 4 — a working mental model of the WHOLE arc, plus one real hands-on build.</a:t>
            </a:r>
            <a:endParaRPr lang="en-US" sz="1700" dirty="0"/>
          </a:p>
        </p:txBody>
      </p:sp>
      <p:sp>
        <p:nvSpPr>
          <p:cNvPr id="187" name="Shape 185"/>
          <p:cNvSpPr/>
          <p:nvPr/>
        </p:nvSpPr>
        <p:spPr>
          <a:xfrm>
            <a:off x="502920" y="292608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92608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today goes to BUILDING one real RAG pipeline. Everything else gets a clear conceptual pass — enough to know it exists and where to learn more.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 concept tour, 70 min hands-on build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18872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17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1EAFB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0:00-0:30</a:t>
            </a:r>
            <a:endParaRPr lang="en-US" sz="1000" dirty="0"/>
          </a:p>
        </p:txBody>
      </p:sp>
      <p:sp>
        <p:nvSpPr>
          <p:cNvPr id="188" name="Text 186"/>
          <p:cNvSpPr/>
          <p:nvPr/>
        </p:nvSpPr>
        <p:spPr>
          <a:xfrm>
            <a:off x="2331720" y="12435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tour, pt 1</a:t>
            </a:r>
            <a:endParaRPr lang="en-US" sz="1450" dirty="0"/>
          </a:p>
        </p:txBody>
      </p:sp>
      <p:sp>
        <p:nvSpPr>
          <p:cNvPr id="189" name="Text 187"/>
          <p:cNvSpPr/>
          <p:nvPr/>
        </p:nvSpPr>
        <p:spPr>
          <a:xfrm>
            <a:off x="2331720" y="1591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fundamentals, Transformers, prompt engineering</a:t>
            </a:r>
            <a:endParaRPr lang="en-US" sz="1050" dirty="0"/>
          </a:p>
        </p:txBody>
      </p:sp>
      <p:sp>
        <p:nvSpPr>
          <p:cNvPr id="190" name="Shape 188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3134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BEAF9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0:30-0:50</a:t>
            </a:r>
            <a:endParaRPr lang="en-US" sz="1000" dirty="0"/>
          </a:p>
        </p:txBody>
      </p:sp>
      <p:sp>
        <p:nvSpPr>
          <p:cNvPr id="193" name="Text 191"/>
          <p:cNvSpPr/>
          <p:nvPr/>
        </p:nvSpPr>
        <p:spPr>
          <a:xfrm>
            <a:off x="2331720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tour, pt 2</a:t>
            </a:r>
            <a:endParaRPr lang="en-US" sz="1450" dirty="0"/>
          </a:p>
        </p:txBody>
      </p:sp>
      <p:sp>
        <p:nvSpPr>
          <p:cNvPr id="194" name="Text 192"/>
          <p:cNvSpPr/>
          <p:nvPr/>
        </p:nvSpPr>
        <p:spPr>
          <a:xfrm>
            <a:off x="2331720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embeddings, RAG architecture, LangChain, Agents</a:t>
            </a:r>
            <a:endParaRPr lang="en-US" sz="1050" dirty="0"/>
          </a:p>
        </p:txBody>
      </p:sp>
      <p:sp>
        <p:nvSpPr>
          <p:cNvPr id="195" name="Shape 193"/>
          <p:cNvSpPr/>
          <p:nvPr/>
        </p:nvSpPr>
        <p:spPr>
          <a:xfrm>
            <a:off x="502920" y="298094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2095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209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0:50-1:55</a:t>
            </a:r>
            <a:endParaRPr lang="en-US" sz="1000" dirty="0"/>
          </a:p>
        </p:txBody>
      </p:sp>
      <p:sp>
        <p:nvSpPr>
          <p:cNvPr id="198" name="Text 196"/>
          <p:cNvSpPr/>
          <p:nvPr/>
        </p:nvSpPr>
        <p:spPr>
          <a:xfrm>
            <a:off x="2331720" y="303580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Chat with Your Data</a:t>
            </a:r>
            <a:endParaRPr lang="en-US" sz="1450" dirty="0"/>
          </a:p>
        </p:txBody>
      </p:sp>
      <p:sp>
        <p:nvSpPr>
          <p:cNvPr id="199" name="Text 197"/>
          <p:cNvSpPr/>
          <p:nvPr/>
        </p:nvSpPr>
        <p:spPr>
          <a:xfrm>
            <a:off x="2331720" y="3383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-&gt; retrieval -&gt; augmented prompt -&gt; LLM</a:t>
            </a:r>
            <a:endParaRPr lang="en-US" sz="1050" dirty="0"/>
          </a:p>
        </p:txBody>
      </p:sp>
      <p:sp>
        <p:nvSpPr>
          <p:cNvPr id="200" name="Shape 198"/>
          <p:cNvSpPr/>
          <p:nvPr/>
        </p:nvSpPr>
        <p:spPr>
          <a:xfrm>
            <a:off x="502920" y="387705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201" name="Shape 199"/>
          <p:cNvSpPr/>
          <p:nvPr/>
        </p:nvSpPr>
        <p:spPr>
          <a:xfrm>
            <a:off x="731520" y="4105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2E2"/>
          </a:solidFill>
          <a:ln/>
        </p:spPr>
      </p:sp>
      <p:sp>
        <p:nvSpPr>
          <p:cNvPr id="202" name="Text 200"/>
          <p:cNvSpPr/>
          <p:nvPr/>
        </p:nvSpPr>
        <p:spPr>
          <a:xfrm>
            <a:off x="7315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1:55-2:00</a:t>
            </a:r>
            <a:endParaRPr lang="en-US" sz="1000" dirty="0"/>
          </a:p>
        </p:txBody>
      </p:sp>
      <p:sp>
        <p:nvSpPr>
          <p:cNvPr id="203" name="Text 201"/>
          <p:cNvSpPr/>
          <p:nvPr/>
        </p:nvSpPr>
        <p:spPr>
          <a:xfrm>
            <a:off x="2331720" y="3931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50" dirty="0"/>
          </a:p>
        </p:txBody>
      </p:sp>
      <p:sp>
        <p:nvSpPr>
          <p:cNvPr id="204" name="Text 202"/>
          <p:cNvSpPr/>
          <p:nvPr/>
        </p:nvSpPr>
        <p:spPr>
          <a:xfrm>
            <a:off x="233172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full production RAG stack adds beyond today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Fundamentals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-&gt; tokens -&gt; numbers -&gt; model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can't read words, only numbers. Everything in NLP starts with converting text into numbers.</a:t>
            </a:r>
            <a:endParaRPr lang="en-US" sz="15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743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— the big idea</a:t>
            </a:r>
            <a:endParaRPr lang="en-US" sz="1350" dirty="0"/>
          </a:p>
        </p:txBody>
      </p:sp>
      <p:sp>
        <p:nvSpPr>
          <p:cNvPr id="189" name="Text 187"/>
          <p:cNvSpPr/>
          <p:nvPr/>
        </p:nvSpPr>
        <p:spPr>
          <a:xfrm>
            <a:off x="77724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 - man + woman ≈ queen</a:t>
            </a:r>
            <a:endParaRPr lang="en-US" sz="2000" dirty="0"/>
          </a:p>
        </p:txBody>
      </p:sp>
      <p:sp>
        <p:nvSpPr>
          <p:cNvPr id="190" name="Text 188"/>
          <p:cNvSpPr/>
          <p:nvPr/>
        </p:nvSpPr>
        <p:spPr>
          <a:xfrm>
            <a:off x="777240" y="3749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that capture real meaning, not just word identity.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only — the architecture behind every modern LLM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896112"/>
          </a:xfrm>
          <a:prstGeom prst="roundRect">
            <a:avLst>
              <a:gd name="adj" fmla="val 6122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99616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8" name="Text 186"/>
          <p:cNvSpPr/>
          <p:nvPr/>
        </p:nvSpPr>
        <p:spPr>
          <a:xfrm>
            <a:off x="1371600" y="135331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4114800" y="135331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'looks at' every other word to find what matters</a:t>
            </a:r>
            <a:endParaRPr lang="en-US" sz="1150" dirty="0"/>
          </a:p>
        </p:txBody>
      </p:sp>
      <p:sp>
        <p:nvSpPr>
          <p:cNvPr id="190" name="Shape 188"/>
          <p:cNvSpPr/>
          <p:nvPr/>
        </p:nvSpPr>
        <p:spPr>
          <a:xfrm>
            <a:off x="502920" y="2331720"/>
            <a:ext cx="8138160" cy="896112"/>
          </a:xfrm>
          <a:prstGeom prst="roundRect">
            <a:avLst>
              <a:gd name="adj" fmla="val 6122"/>
            </a:avLst>
          </a:prstGeom>
          <a:solidFill>
            <a:srgbClr val="FBEAF9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551176"/>
            <a:ext cx="457200" cy="457200"/>
          </a:xfrm>
          <a:prstGeom prst="ellipse">
            <a:avLst/>
          </a:prstGeom>
          <a:solidFill>
            <a:srgbClr val="A21CAF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3" name="Text 191"/>
          <p:cNvSpPr/>
          <p:nvPr/>
        </p:nvSpPr>
        <p:spPr>
          <a:xfrm>
            <a:off x="1371600" y="240487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</a:t>
            </a:r>
            <a:endParaRPr lang="en-US" sz="1300" dirty="0"/>
          </a:p>
        </p:txBody>
      </p:sp>
      <p:sp>
        <p:nvSpPr>
          <p:cNvPr id="194" name="Text 192"/>
          <p:cNvSpPr/>
          <p:nvPr/>
        </p:nvSpPr>
        <p:spPr>
          <a:xfrm>
            <a:off x="4114800" y="240487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sequence at once, not word-by-word — why LLMs scale</a:t>
            </a:r>
            <a:endParaRPr lang="en-US" sz="1150" dirty="0"/>
          </a:p>
        </p:txBody>
      </p:sp>
      <p:sp>
        <p:nvSpPr>
          <p:cNvPr id="195" name="Shape 193"/>
          <p:cNvSpPr/>
          <p:nvPr/>
        </p:nvSpPr>
        <p:spPr>
          <a:xfrm>
            <a:off x="502920" y="3383280"/>
            <a:ext cx="8138160" cy="896112"/>
          </a:xfrm>
          <a:prstGeom prst="roundRect">
            <a:avLst>
              <a:gd name="adj" fmla="val 612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6027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8" name="Text 196"/>
          <p:cNvSpPr/>
          <p:nvPr/>
        </p:nvSpPr>
        <p:spPr>
          <a:xfrm>
            <a:off x="1371600" y="345643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then fine-tune</a:t>
            </a:r>
            <a:endParaRPr lang="en-US" sz="1300" dirty="0"/>
          </a:p>
        </p:txBody>
      </p:sp>
      <p:sp>
        <p:nvSpPr>
          <p:cNvPr id="199" name="Text 197"/>
          <p:cNvSpPr/>
          <p:nvPr/>
        </p:nvSpPr>
        <p:spPr>
          <a:xfrm>
            <a:off x="4114800" y="345643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general patterns first, adapt for specific tasks after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This Pattern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19's transfer learning, applied to language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463040"/>
            <a:ext cx="8138160" cy="2377440"/>
          </a:xfrm>
          <a:prstGeom prst="roundRect">
            <a:avLst>
              <a:gd name="adj" fmla="val 2308"/>
            </a:avLst>
          </a:prstGeom>
          <a:solidFill>
            <a:srgbClr val="FBEAF9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4630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what's general, adapt what's task-specific.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built the same way as MobileNetV2.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reliable output by how you phrase the input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300" dirty="0"/>
          </a:p>
        </p:txBody>
      </p:sp>
      <p:sp>
        <p:nvSpPr>
          <p:cNvPr id="187" name="Text 185"/>
          <p:cNvSpPr/>
          <p:nvPr/>
        </p:nvSpPr>
        <p:spPr>
          <a:xfrm>
            <a:off x="3108960" y="12801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directly</a:t>
            </a:r>
            <a:endParaRPr lang="en-US" sz="1250" dirty="0"/>
          </a:p>
        </p:txBody>
      </p:sp>
      <p:sp>
        <p:nvSpPr>
          <p:cNvPr id="188" name="Shape 186"/>
          <p:cNvSpPr/>
          <p:nvPr/>
        </p:nvSpPr>
        <p:spPr>
          <a:xfrm>
            <a:off x="502920" y="2121408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FBEAF9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731520" y="2121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/>
          </a:p>
        </p:txBody>
      </p:sp>
      <p:sp>
        <p:nvSpPr>
          <p:cNvPr id="190" name="Text 188"/>
          <p:cNvSpPr/>
          <p:nvPr/>
        </p:nvSpPr>
        <p:spPr>
          <a:xfrm>
            <a:off x="3108960" y="212140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2-3 examples first</a:t>
            </a:r>
            <a:endParaRPr lang="en-US" sz="1250" dirty="0"/>
          </a:p>
        </p:txBody>
      </p:sp>
      <p:sp>
        <p:nvSpPr>
          <p:cNvPr id="191" name="Shape 189"/>
          <p:cNvSpPr/>
          <p:nvPr/>
        </p:nvSpPr>
        <p:spPr>
          <a:xfrm>
            <a:off x="502920" y="2962656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731520" y="296265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300" dirty="0"/>
          </a:p>
        </p:txBody>
      </p:sp>
      <p:sp>
        <p:nvSpPr>
          <p:cNvPr id="193" name="Text 191"/>
          <p:cNvSpPr/>
          <p:nvPr/>
        </p:nvSpPr>
        <p:spPr>
          <a:xfrm>
            <a:off x="3108960" y="2962656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step by step" — forces reasoning</a:t>
            </a:r>
            <a:endParaRPr lang="en-US" sz="1250" dirty="0"/>
          </a:p>
        </p:txBody>
      </p:sp>
      <p:sp>
        <p:nvSpPr>
          <p:cNvPr id="194" name="Shape 192"/>
          <p:cNvSpPr/>
          <p:nvPr/>
        </p:nvSpPr>
        <p:spPr>
          <a:xfrm>
            <a:off x="502920" y="3803904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731520" y="38039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196" name="Text 194"/>
          <p:cNvSpPr/>
          <p:nvPr/>
        </p:nvSpPr>
        <p:spPr>
          <a:xfrm>
            <a:off x="3108960" y="38039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"respond only in JSON with keys..."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&amp; Semantic Search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conceptual bridge into today's practical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-&gt; similar vectors. "How similar are these texts?" becomes a math question.</a:t>
            </a:r>
            <a:endParaRPr lang="en-US" sz="145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3931920" cy="1691640"/>
          </a:xfrm>
          <a:prstGeom prst="roundRect">
            <a:avLst>
              <a:gd name="adj" fmla="val 324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embeddings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731520" y="31089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neural network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semantic understanding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uses this</a:t>
            </a:r>
            <a:endParaRPr lang="en-US" sz="1150" dirty="0"/>
          </a:p>
        </p:txBody>
      </p:sp>
      <p:sp>
        <p:nvSpPr>
          <p:cNvPr id="190" name="Shape 188"/>
          <p:cNvSpPr/>
          <p:nvPr/>
        </p:nvSpPr>
        <p:spPr>
          <a:xfrm>
            <a:off x="4709160" y="2606040"/>
            <a:ext cx="3931920" cy="1691640"/>
          </a:xfrm>
          <a:prstGeom prst="roundRect">
            <a:avLst>
              <a:gd name="adj" fmla="val 3243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1" name="Text 189"/>
          <p:cNvSpPr/>
          <p:nvPr/>
        </p:nvSpPr>
        <p:spPr>
          <a:xfrm>
            <a:off x="493776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(today)</a:t>
            </a:r>
            <a:endParaRPr lang="en-US" sz="1300" dirty="0"/>
          </a:p>
        </p:txBody>
      </p:sp>
      <p:sp>
        <p:nvSpPr>
          <p:cNvPr id="192" name="Text 190"/>
          <p:cNvSpPr/>
          <p:nvPr/>
        </p:nvSpPr>
        <p:spPr>
          <a:xfrm>
            <a:off x="4937760" y="31089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frequency based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setup, no internet needed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catches keyword overlap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The Hallucination Fix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ask the model to recall — hand it the facts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sometimes generate confident, fluent, completely FALSE information.</a:t>
            </a:r>
            <a:endParaRPr lang="en-US" sz="1450" dirty="0"/>
          </a:p>
        </p:txBody>
      </p:sp>
      <p:sp>
        <p:nvSpPr>
          <p:cNvPr id="187" name="Shape 185"/>
          <p:cNvSpPr/>
          <p:nvPr/>
        </p:nvSpPr>
        <p:spPr>
          <a:xfrm>
            <a:off x="502920" y="246888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F1ECFA"/>
          </a:solidFill>
          <a:ln w="12700">
            <a:solidFill>
              <a:srgbClr val="DDD0E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12648" y="2542032"/>
            <a:ext cx="79187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 -&gt; Chunk -&gt; Embed -&gt; Store -&gt; Retrieve + Generate</a:t>
            </a:r>
            <a:endParaRPr lang="en-US" sz="1500" dirty="0"/>
          </a:p>
        </p:txBody>
      </p:sp>
      <p:sp>
        <p:nvSpPr>
          <p:cNvPr id="189" name="Shape 187"/>
          <p:cNvSpPr/>
          <p:nvPr/>
        </p:nvSpPr>
        <p:spPr>
          <a:xfrm>
            <a:off x="502920" y="356616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practical builds all five stages, end to end — just with a small in-memory knowledge base.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Agents, In One Sentence Each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so you know they exist — full depth is beyond today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37160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pre-built pieces (templates, retrievers, memory) so you don't hand-write RAG plumbing. Today's practical IS what it automates, built manually.</a:t>
            </a:r>
            <a:endParaRPr lang="en-US" sz="1300" dirty="0"/>
          </a:p>
        </p:txBody>
      </p:sp>
      <p:sp>
        <p:nvSpPr>
          <p:cNvPr id="188" name="Shape 185"/>
          <p:cNvSpPr/>
          <p:nvPr/>
        </p:nvSpPr>
        <p:spPr>
          <a:xfrm>
            <a:off x="502920" y="310896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FBEAF9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pic>
        <p:nvPicPr>
          <p:cNvPr id="18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548640" cy="548640"/>
          </a:xfrm>
          <a:prstGeom prst="rect">
            <a:avLst/>
          </a:prstGeom>
        </p:spPr>
      </p:pic>
      <p:sp>
        <p:nvSpPr>
          <p:cNvPr id="190" name="Text 186"/>
          <p:cNvSpPr/>
          <p:nvPr/>
        </p:nvSpPr>
        <p:spPr>
          <a:xfrm>
            <a:off x="1554480" y="310896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an LLM that chooses to call tools (search, calculator, database) and decides its next step. RAG's retrieval, generalized.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6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70 MINUTES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'Chat With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Data'</a:t>
            </a:r>
            <a:endParaRPr lang="en-US" sz="3600" dirty="0"/>
          </a:p>
        </p:txBody>
      </p:sp>
      <p:sp>
        <p:nvSpPr>
          <p:cNvPr id="185" name="Text 182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-&gt; TF-IDF retrieval -&gt; augmented prompt -&gt; LLM answer</a:t>
            </a:r>
            <a:endParaRPr lang="en-US" sz="1450" dirty="0"/>
          </a:p>
        </p:txBody>
      </p:sp>
      <p:sp>
        <p:nvSpPr>
          <p:cNvPr id="186" name="Text 183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6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ahead was validated by real code, run this session.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Build the Knowledge Base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NEPSE company profiles — ties into Week 2's own data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920240"/>
          </a:xfrm>
          <a:prstGeom prst="roundRect">
            <a:avLst>
              <a:gd name="adj" fmla="val 2381"/>
            </a:avLst>
          </a:prstGeom>
          <a:solidFill>
            <a:srgbClr val="F1ECFA"/>
          </a:solidFill>
          <a:ln w="12700">
            <a:solidFill>
              <a:srgbClr val="DDD0E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 = [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"NABIL Bank is one of the oldest banks on NEPSE, established 1984...",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"Nepal Telecom (NTC) is the largest telecom operator...",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"Himalayan Life Insurance (HLI) is a life insurance company...",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"Nepal Life Insurance Company (NLIC) is one of the largest...",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"NEPSE is the only stock exchange in Nepal...",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"OHLCV data stands for Open, High, Low, Close, Volume...",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187" name="Shape 185"/>
          <p:cNvSpPr/>
          <p:nvPr/>
        </p:nvSpPr>
        <p:spPr>
          <a:xfrm>
            <a:off x="502920" y="32918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918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"ingest + chunk" stage — in production, PyPDFLoader or WebBaseLoader would fill this list from real files.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Embed and Retrieve with TF-IDF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TF-IDF from Day 14's spam classifier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737360"/>
          </a:xfrm>
          <a:prstGeom prst="roundRect">
            <a:avLst>
              <a:gd name="adj" fmla="val 2632"/>
            </a:avLst>
          </a:prstGeom>
          <a:solidFill>
            <a:srgbClr val="F1ECFA"/>
          </a:solidFill>
          <a:ln w="12700">
            <a:solidFill>
              <a:srgbClr val="DDD0E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vectorizer = TfidfVectorizer(stop_words="english")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doc_vectors = vectorizer.fit_transform(documents)   # "embed" stage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retrieve(query, k=2):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query_vector = vectorizer.transform([query])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cosine_similarity(query_vector, doc_vectors)[0]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top_k = np.argsort(scores)[::-1][:k]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502920" y="31546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15468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TF-IDF matrix shape (6, 86) — 6 documents, 86 distinct vocabulary words.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4 of 5 Test Questions Correct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hide the miss — teach with it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established?</a:t>
            </a:r>
            <a:endParaRPr lang="en-US" sz="1200" dirty="0"/>
          </a:p>
        </p:txBody>
      </p:sp>
      <p:sp>
        <p:nvSpPr>
          <p:cNvPr id="187" name="Text 185"/>
          <p:cNvSpPr/>
          <p:nvPr/>
        </p:nvSpPr>
        <p:spPr>
          <a:xfrm>
            <a:off x="4297680" y="12344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(0.540)</a:t>
            </a:r>
            <a:endParaRPr lang="en-US" sz="1100" dirty="0"/>
          </a:p>
        </p:txBody>
      </p:sp>
      <p:sp>
        <p:nvSpPr>
          <p:cNvPr id="188" name="Text 186"/>
          <p:cNvSpPr/>
          <p:nvPr/>
        </p:nvSpPr>
        <p:spPr>
          <a:xfrm>
            <a:off x="7909560" y="123444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502920" y="1892808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89280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telecom?</a:t>
            </a:r>
            <a:endParaRPr lang="en-US" sz="1200" dirty="0"/>
          </a:p>
        </p:txBody>
      </p:sp>
      <p:sp>
        <p:nvSpPr>
          <p:cNvPr id="191" name="Text 189"/>
          <p:cNvSpPr/>
          <p:nvPr/>
        </p:nvSpPr>
        <p:spPr>
          <a:xfrm>
            <a:off x="4297680" y="18928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NTC (0.273)</a:t>
            </a:r>
            <a:endParaRPr lang="en-US" sz="1100" dirty="0"/>
          </a:p>
        </p:txBody>
      </p:sp>
      <p:sp>
        <p:nvSpPr>
          <p:cNvPr id="192" name="Text 190"/>
          <p:cNvSpPr/>
          <p:nvPr/>
        </p:nvSpPr>
        <p:spPr>
          <a:xfrm>
            <a:off x="7909560" y="18928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93" name="Shape 191"/>
          <p:cNvSpPr/>
          <p:nvPr/>
        </p:nvSpPr>
        <p:spPr>
          <a:xfrm>
            <a:off x="502920" y="2551176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55117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meaning?</a:t>
            </a:r>
            <a:endParaRPr lang="en-US" sz="1200" dirty="0"/>
          </a:p>
        </p:txBody>
      </p:sp>
      <p:sp>
        <p:nvSpPr>
          <p:cNvPr id="195" name="Text 193"/>
          <p:cNvSpPr/>
          <p:nvPr/>
        </p:nvSpPr>
        <p:spPr>
          <a:xfrm>
            <a:off x="4297680" y="255117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OHLCV (0.217)</a:t>
            </a:r>
            <a:endParaRPr lang="en-US" sz="1100" dirty="0"/>
          </a:p>
        </p:txBody>
      </p:sp>
      <p:sp>
        <p:nvSpPr>
          <p:cNvPr id="196" name="Text 194"/>
          <p:cNvSpPr/>
          <p:nvPr/>
        </p:nvSpPr>
        <p:spPr>
          <a:xfrm>
            <a:off x="7909560" y="25511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502920" y="3209544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20954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companies?</a:t>
            </a:r>
            <a:endParaRPr lang="en-US" sz="1200" dirty="0"/>
          </a:p>
        </p:txBody>
      </p:sp>
      <p:sp>
        <p:nvSpPr>
          <p:cNvPr id="199" name="Text 197"/>
          <p:cNvSpPr/>
          <p:nvPr/>
        </p:nvSpPr>
        <p:spPr>
          <a:xfrm>
            <a:off x="4297680" y="32095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HLI (0.523)</a:t>
            </a:r>
            <a:endParaRPr lang="en-US" sz="1100" dirty="0"/>
          </a:p>
        </p:txBody>
      </p:sp>
      <p:sp>
        <p:nvSpPr>
          <p:cNvPr id="200" name="Text 198"/>
          <p:cNvSpPr/>
          <p:nvPr/>
        </p:nvSpPr>
        <p:spPr>
          <a:xfrm>
            <a:off x="7909560" y="320954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502920" y="3867912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38679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NEPSE?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4297680" y="386791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31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NTC (0.199) -- expected NEPSE_general</a:t>
            </a:r>
            <a:endParaRPr lang="en-US" sz="1100" dirty="0"/>
          </a:p>
        </p:txBody>
      </p:sp>
      <p:sp>
        <p:nvSpPr>
          <p:cNvPr id="204" name="Text 202"/>
          <p:cNvSpPr/>
          <p:nvPr/>
        </p:nvSpPr>
        <p:spPr>
          <a:xfrm>
            <a:off x="7909560" y="386791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Miss Happened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exact, concrete limitation that motivates neural embeddings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2651760"/>
          </a:xfrm>
          <a:prstGeom prst="roundRect">
            <a:avLst>
              <a:gd name="adj" fmla="val 2069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548640" cy="54864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371600"/>
            <a:ext cx="6858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"NEPSE" appears in almost every document </a:t>
            </a:r>
            <a:pPr indent="0" marL="0">
              <a:buNone/>
            </a:pPr>
            <a:r>
              <a:rPr lang="en-US" sz="140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company is listed ON NEPSE. A neural embedding model understands "what is NEPSE" is about the exchange itself. TF-IDF has no way to know that — it only counts words.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Build the Augmented Prompt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literal deliverable of the RAG pattern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2103120"/>
          </a:xfrm>
          <a:prstGeom prst="roundRect">
            <a:avLst>
              <a:gd name="adj" fmla="val 2174"/>
            </a:avLst>
          </a:prstGeom>
          <a:solidFill>
            <a:srgbClr val="F1ECFA"/>
          </a:solidFill>
          <a:ln w="12700">
            <a:solidFill>
              <a:srgbClr val="DDD0E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build_augmented_prompt(query, k=2):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retrieve(query, k=k)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"\n\n".join(f"[{l}]: {d}" for l,d,s in results)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f"""Answer based only on the context below.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the answer isn't there, say "I don't know."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{context}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{query}"""</a:t>
            </a:r>
            <a:endParaRPr lang="en-US" sz="1050" dirty="0"/>
          </a:p>
        </p:txBody>
      </p:sp>
      <p:sp>
        <p:nvSpPr>
          <p:cNvPr id="187" name="Shape 185"/>
          <p:cNvSpPr/>
          <p:nvPr/>
        </p:nvSpPr>
        <p:spPr>
          <a:xfrm>
            <a:off x="502920" y="35204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520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produces a complete, well-formed 660-character prompt with real retrieved context injected.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Only on the Context" — Why It Matters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RAG doesn't actually change anything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463040"/>
            <a:ext cx="8138160" cy="2377440"/>
          </a:xfrm>
          <a:prstGeom prst="roundRect">
            <a:avLst>
              <a:gd name="adj" fmla="val 2308"/>
            </a:avLst>
          </a:prstGeom>
          <a:solidFill>
            <a:srgbClr val="FBEAF9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4630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instruction, the model may ignore retrieved context entirely and answer from its own training knowledge — defeating the whole purpose of RAG.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Connect to an LLM (or Use the Fallback)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 API key? One call away from complete. No key? Still see it work.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371600"/>
          </a:xfrm>
          <a:prstGeom prst="roundRect">
            <a:avLst>
              <a:gd name="adj" fmla="val 3333"/>
            </a:avLst>
          </a:prstGeom>
          <a:solidFill>
            <a:srgbClr val="F1ECFA"/>
          </a:solidFill>
          <a:ln w="12700">
            <a:solidFill>
              <a:srgbClr val="DDD0E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client.messages.create(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model="claude-3-5-haiku-latest", max_tokens=200,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 "user", "content": prompt}]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278892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7889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in class? Offline fallback: retrieve() alone proves retrieval works, even without generation — just be explicit it's retrieval, not synthesis.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E1D9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Full Production Stack Adds</a:t>
            </a:r>
            <a:endParaRPr lang="en-US" sz="25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upgrade is a drop-in replacement — the shape doesn't change</a:t>
            </a:r>
            <a:endParaRPr lang="en-US" sz="120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685800" y="1234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 loaders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3931920" y="1234440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4114800" y="12344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PDFs/websites, not hand-written strings</a:t>
            </a:r>
            <a:endParaRPr lang="en-US" sz="115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685800" y="19293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embeddings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3931920" y="1929384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4114800" y="19293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sentence-transformers, not TF-IDF</a:t>
            </a:r>
            <a:endParaRPr lang="en-US" sz="115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685800" y="26243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vector DB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>
            <a:off x="3931920" y="2624328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4114800" y="26243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FAISS/ChromaDB, not a NumPy array</a:t>
            </a:r>
            <a:endParaRPr lang="en-US" sz="115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685800" y="33192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LangChain/LlamaIndex</a:t>
            </a:r>
            <a:endParaRPr lang="en-US" sz="1200" dirty="0"/>
          </a:p>
        </p:txBody>
      </p:sp>
      <p:sp>
        <p:nvSpPr>
          <p:cNvPr id="199" name="Shape 197"/>
          <p:cNvSpPr/>
          <p:nvPr/>
        </p:nvSpPr>
        <p:spPr>
          <a:xfrm>
            <a:off x="3931920" y="3319272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4114800" y="33192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plumbing automatically</a:t>
            </a:r>
            <a:endParaRPr lang="en-US" sz="115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1EAFB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685800" y="40142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call</a:t>
            </a:r>
            <a:endParaRPr lang="en-US" sz="1200" dirty="0"/>
          </a:p>
        </p:txBody>
      </p:sp>
      <p:sp>
        <p:nvSpPr>
          <p:cNvPr id="203" name="Shape 201"/>
          <p:cNvSpPr/>
          <p:nvPr/>
        </p:nvSpPr>
        <p:spPr>
          <a:xfrm>
            <a:off x="3931920" y="4014216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41B3D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4114800" y="40142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time, not an offline fallback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4C2A8C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6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COMPLETE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Understand the Architecture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Production RAG System</a:t>
            </a:r>
            <a:endParaRPr lang="en-US" sz="2600" dirty="0"/>
          </a:p>
        </p:txBody>
      </p:sp>
      <p:sp>
        <p:nvSpPr>
          <p:cNvPr id="185" name="Text 182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understand today's build understand real RAG — just with better parts. Swap TF-IDF for embeddings, swap the list for a vector DB, swap the fallback for a real API call.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2026-08-05T18:38:13Z</dcterms:created>
  <dcterms:modified xsi:type="dcterms:W3CDTF">2026-08-05T18:38:13Z</dcterms:modified>
</cp:coreProperties>
</file>